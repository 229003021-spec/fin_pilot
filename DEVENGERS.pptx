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</p:sldIdLst>
  <p:sldSz cx="7556500" cy="10693400"/>
  <p:notesSz cx="7556500" cy="10693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>
    <p:restoredLeft sz="15620"/>
    <p:restoredTop sz="94660"/>
  </p:normalViewPr>
  <p:slideViewPr>
    <p:cSldViewPr>
      <p:cViewPr>
        <p:scale>
          <a:sx n="311" d="100"/>
          <a:sy n="311" d="100"/>
        </p:scale>
        <p:origin x="-3494" y="-6931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85305" y="122844"/>
            <a:ext cx="2091055" cy="2444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1" i="0">
                <a:solidFill>
                  <a:srgbClr val="F4F8FC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34427" y="5988304"/>
            <a:ext cx="5293995" cy="2673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rgbClr val="64728C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/>
              <a:t>FinPilot</a:t>
            </a:r>
            <a:r>
              <a:rPr spc="45" dirty="0"/>
              <a:t> </a:t>
            </a:r>
            <a:r>
              <a:rPr dirty="0"/>
              <a:t>—</a:t>
            </a:r>
            <a:r>
              <a:rPr spc="50" dirty="0"/>
              <a:t> </a:t>
            </a:r>
            <a:r>
              <a:rPr dirty="0"/>
              <a:t>AI</a:t>
            </a:r>
            <a:r>
              <a:rPr spc="55" dirty="0"/>
              <a:t> </a:t>
            </a:r>
            <a:r>
              <a:rPr spc="-20" dirty="0"/>
              <a:t>Personal</a:t>
            </a:r>
            <a:r>
              <a:rPr spc="50" dirty="0"/>
              <a:t> </a:t>
            </a:r>
            <a:r>
              <a:rPr spc="-20" dirty="0"/>
              <a:t>Finance</a:t>
            </a:r>
            <a:r>
              <a:rPr spc="55" dirty="0"/>
              <a:t> </a:t>
            </a:r>
            <a:r>
              <a:rPr spc="-10" dirty="0"/>
              <a:t>Decision</a:t>
            </a:r>
            <a:r>
              <a:rPr spc="50" dirty="0"/>
              <a:t> </a:t>
            </a:r>
            <a:r>
              <a:rPr dirty="0"/>
              <a:t>Support</a:t>
            </a:r>
            <a:r>
              <a:rPr spc="45" dirty="0"/>
              <a:t> </a:t>
            </a:r>
            <a:r>
              <a:rPr spc="-10" dirty="0"/>
              <a:t>Agent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rgbClr val="64728C"/>
                </a:solidFill>
                <a:latin typeface="Arial MT"/>
                <a:cs typeface="Arial MT"/>
              </a:defRPr>
            </a:lvl1pPr>
          </a:lstStyle>
          <a:p>
            <a:pPr marL="6604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rgbClr val="F4F8FC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rgbClr val="64728C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/>
              <a:t>FinPilot</a:t>
            </a:r>
            <a:r>
              <a:rPr spc="45" dirty="0"/>
              <a:t> </a:t>
            </a:r>
            <a:r>
              <a:rPr dirty="0"/>
              <a:t>—</a:t>
            </a:r>
            <a:r>
              <a:rPr spc="50" dirty="0"/>
              <a:t> </a:t>
            </a:r>
            <a:r>
              <a:rPr dirty="0"/>
              <a:t>AI</a:t>
            </a:r>
            <a:r>
              <a:rPr spc="55" dirty="0"/>
              <a:t> </a:t>
            </a:r>
            <a:r>
              <a:rPr spc="-20" dirty="0"/>
              <a:t>Personal</a:t>
            </a:r>
            <a:r>
              <a:rPr spc="50" dirty="0"/>
              <a:t> </a:t>
            </a:r>
            <a:r>
              <a:rPr spc="-20" dirty="0"/>
              <a:t>Finance</a:t>
            </a:r>
            <a:r>
              <a:rPr spc="55" dirty="0"/>
              <a:t> </a:t>
            </a:r>
            <a:r>
              <a:rPr spc="-10" dirty="0"/>
              <a:t>Decision</a:t>
            </a:r>
            <a:r>
              <a:rPr spc="50" dirty="0"/>
              <a:t> </a:t>
            </a:r>
            <a:r>
              <a:rPr dirty="0"/>
              <a:t>Support</a:t>
            </a:r>
            <a:r>
              <a:rPr spc="45" dirty="0"/>
              <a:t> </a:t>
            </a:r>
            <a:r>
              <a:rPr spc="-10" dirty="0"/>
              <a:t>Agent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rgbClr val="64728C"/>
                </a:solidFill>
                <a:latin typeface="Arial MT"/>
                <a:cs typeface="Arial MT"/>
              </a:defRPr>
            </a:lvl1pPr>
          </a:lstStyle>
          <a:p>
            <a:pPr marL="6604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rgbClr val="F4F8FC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378142" y="2459482"/>
            <a:ext cx="3289839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3894867" y="2459482"/>
            <a:ext cx="3289839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rgbClr val="64728C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/>
              <a:t>FinPilot</a:t>
            </a:r>
            <a:r>
              <a:rPr spc="45" dirty="0"/>
              <a:t> </a:t>
            </a:r>
            <a:r>
              <a:rPr dirty="0"/>
              <a:t>—</a:t>
            </a:r>
            <a:r>
              <a:rPr spc="50" dirty="0"/>
              <a:t> </a:t>
            </a:r>
            <a:r>
              <a:rPr dirty="0"/>
              <a:t>AI</a:t>
            </a:r>
            <a:r>
              <a:rPr spc="55" dirty="0"/>
              <a:t> </a:t>
            </a:r>
            <a:r>
              <a:rPr spc="-20" dirty="0"/>
              <a:t>Personal</a:t>
            </a:r>
            <a:r>
              <a:rPr spc="50" dirty="0"/>
              <a:t> </a:t>
            </a:r>
            <a:r>
              <a:rPr spc="-20" dirty="0"/>
              <a:t>Finance</a:t>
            </a:r>
            <a:r>
              <a:rPr spc="55" dirty="0"/>
              <a:t> </a:t>
            </a:r>
            <a:r>
              <a:rPr spc="-10" dirty="0"/>
              <a:t>Decision</a:t>
            </a:r>
            <a:r>
              <a:rPr spc="50" dirty="0"/>
              <a:t> </a:t>
            </a:r>
            <a:r>
              <a:rPr dirty="0"/>
              <a:t>Support</a:t>
            </a:r>
            <a:r>
              <a:rPr spc="45" dirty="0"/>
              <a:t> </a:t>
            </a:r>
            <a:r>
              <a:rPr spc="-10" dirty="0"/>
              <a:t>Agent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9/20/2026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rgbClr val="64728C"/>
                </a:solidFill>
                <a:latin typeface="Arial MT"/>
                <a:cs typeface="Arial MT"/>
              </a:defRPr>
            </a:lvl1pPr>
          </a:lstStyle>
          <a:p>
            <a:pPr marL="6604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rgbClr val="F4F8FC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rgbClr val="64728C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/>
              <a:t>FinPilot</a:t>
            </a:r>
            <a:r>
              <a:rPr spc="45" dirty="0"/>
              <a:t> </a:t>
            </a:r>
            <a:r>
              <a:rPr dirty="0"/>
              <a:t>—</a:t>
            </a:r>
            <a:r>
              <a:rPr spc="50" dirty="0"/>
              <a:t> </a:t>
            </a:r>
            <a:r>
              <a:rPr dirty="0"/>
              <a:t>AI</a:t>
            </a:r>
            <a:r>
              <a:rPr spc="55" dirty="0"/>
              <a:t> </a:t>
            </a:r>
            <a:r>
              <a:rPr spc="-20" dirty="0"/>
              <a:t>Personal</a:t>
            </a:r>
            <a:r>
              <a:rPr spc="50" dirty="0"/>
              <a:t> </a:t>
            </a:r>
            <a:r>
              <a:rPr spc="-20" dirty="0"/>
              <a:t>Finance</a:t>
            </a:r>
            <a:r>
              <a:rPr spc="55" dirty="0"/>
              <a:t> </a:t>
            </a:r>
            <a:r>
              <a:rPr spc="-10" dirty="0"/>
              <a:t>Decision</a:t>
            </a:r>
            <a:r>
              <a:rPr spc="50" dirty="0"/>
              <a:t> </a:t>
            </a:r>
            <a:r>
              <a:rPr dirty="0"/>
              <a:t>Support</a:t>
            </a:r>
            <a:r>
              <a:rPr spc="45" dirty="0"/>
              <a:t> </a:t>
            </a:r>
            <a:r>
              <a:rPr spc="-10" dirty="0"/>
              <a:t>Agent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9/20/2026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rgbClr val="64728C"/>
                </a:solidFill>
                <a:latin typeface="Arial MT"/>
                <a:cs typeface="Arial MT"/>
              </a:defRPr>
            </a:lvl1pPr>
          </a:lstStyle>
          <a:p>
            <a:pPr marL="6604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rgbClr val="64728C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/>
              <a:t>FinPilot</a:t>
            </a:r>
            <a:r>
              <a:rPr spc="45" dirty="0"/>
              <a:t> </a:t>
            </a:r>
            <a:r>
              <a:rPr dirty="0"/>
              <a:t>—</a:t>
            </a:r>
            <a:r>
              <a:rPr spc="50" dirty="0"/>
              <a:t> </a:t>
            </a:r>
            <a:r>
              <a:rPr dirty="0"/>
              <a:t>AI</a:t>
            </a:r>
            <a:r>
              <a:rPr spc="55" dirty="0"/>
              <a:t> </a:t>
            </a:r>
            <a:r>
              <a:rPr spc="-20" dirty="0"/>
              <a:t>Personal</a:t>
            </a:r>
            <a:r>
              <a:rPr spc="50" dirty="0"/>
              <a:t> </a:t>
            </a:r>
            <a:r>
              <a:rPr spc="-20" dirty="0"/>
              <a:t>Finance</a:t>
            </a:r>
            <a:r>
              <a:rPr spc="55" dirty="0"/>
              <a:t> </a:t>
            </a:r>
            <a:r>
              <a:rPr spc="-10" dirty="0"/>
              <a:t>Decision</a:t>
            </a:r>
            <a:r>
              <a:rPr spc="50" dirty="0"/>
              <a:t> </a:t>
            </a:r>
            <a:r>
              <a:rPr dirty="0"/>
              <a:t>Support</a:t>
            </a:r>
            <a:r>
              <a:rPr spc="45" dirty="0"/>
              <a:t> </a:t>
            </a:r>
            <a:r>
              <a:rPr spc="-10" dirty="0"/>
              <a:t>Agent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9/20/2026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rgbClr val="64728C"/>
                </a:solidFill>
                <a:latin typeface="Arial MT"/>
                <a:cs typeface="Arial MT"/>
              </a:defRPr>
            </a:lvl1pPr>
          </a:lstStyle>
          <a:p>
            <a:pPr marL="6604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5760085" cy="3240405"/>
          </a:xfrm>
          <a:custGeom>
            <a:avLst/>
            <a:gdLst/>
            <a:ahLst/>
            <a:cxnLst/>
            <a:rect l="l" t="t" r="r" b="b"/>
            <a:pathLst>
              <a:path w="5760085" h="3240405">
                <a:moveTo>
                  <a:pt x="5759996" y="0"/>
                </a:moveTo>
                <a:lnTo>
                  <a:pt x="0" y="0"/>
                </a:lnTo>
                <a:lnTo>
                  <a:pt x="0" y="3239998"/>
                </a:lnTo>
                <a:lnTo>
                  <a:pt x="5759996" y="3239998"/>
                </a:lnTo>
                <a:lnTo>
                  <a:pt x="5759996" y="0"/>
                </a:lnTo>
                <a:close/>
              </a:path>
            </a:pathLst>
          </a:custGeom>
          <a:solidFill>
            <a:srgbClr val="070E1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85305" y="122844"/>
            <a:ext cx="3405504" cy="2444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1" i="0">
                <a:solidFill>
                  <a:srgbClr val="F4F8FC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8142" y="2459482"/>
            <a:ext cx="6806565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197015" y="3091691"/>
            <a:ext cx="2562225" cy="15049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00" b="0" i="0">
                <a:solidFill>
                  <a:srgbClr val="64728C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/>
              <a:t>FinPilot</a:t>
            </a:r>
            <a:r>
              <a:rPr spc="45" dirty="0"/>
              <a:t> </a:t>
            </a:r>
            <a:r>
              <a:rPr dirty="0"/>
              <a:t>—</a:t>
            </a:r>
            <a:r>
              <a:rPr spc="50" dirty="0"/>
              <a:t> </a:t>
            </a:r>
            <a:r>
              <a:rPr dirty="0"/>
              <a:t>AI</a:t>
            </a:r>
            <a:r>
              <a:rPr spc="55" dirty="0"/>
              <a:t> </a:t>
            </a:r>
            <a:r>
              <a:rPr spc="-20" dirty="0"/>
              <a:t>Personal</a:t>
            </a:r>
            <a:r>
              <a:rPr spc="50" dirty="0"/>
              <a:t> </a:t>
            </a:r>
            <a:r>
              <a:rPr spc="-20" dirty="0"/>
              <a:t>Finance</a:t>
            </a:r>
            <a:r>
              <a:rPr spc="55" dirty="0"/>
              <a:t> </a:t>
            </a:r>
            <a:r>
              <a:rPr spc="-10" dirty="0"/>
              <a:t>Decision</a:t>
            </a:r>
            <a:r>
              <a:rPr spc="50" dirty="0"/>
              <a:t> </a:t>
            </a:r>
            <a:r>
              <a:rPr dirty="0"/>
              <a:t>Support</a:t>
            </a:r>
            <a:r>
              <a:rPr spc="45" dirty="0"/>
              <a:t> </a:t>
            </a:r>
            <a:r>
              <a:rPr spc="-10" dirty="0"/>
              <a:t>Agent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8142" y="9944862"/>
            <a:ext cx="1739455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518640" y="3091691"/>
            <a:ext cx="171450" cy="15049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00" b="0" i="0">
                <a:solidFill>
                  <a:srgbClr val="64728C"/>
                </a:solidFill>
                <a:latin typeface="Arial MT"/>
                <a:cs typeface="Arial MT"/>
              </a:defRPr>
            </a:lvl1pPr>
          </a:lstStyle>
          <a:p>
            <a:pPr marL="6604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-10" y="-2"/>
            <a:ext cx="5760085" cy="3240405"/>
          </a:xfrm>
          <a:custGeom>
            <a:avLst/>
            <a:gdLst/>
            <a:ahLst/>
            <a:cxnLst/>
            <a:rect l="l" t="t" r="r" b="b"/>
            <a:pathLst>
              <a:path w="5760085" h="3240405">
                <a:moveTo>
                  <a:pt x="0" y="3240041"/>
                </a:moveTo>
                <a:lnTo>
                  <a:pt x="0" y="0"/>
                </a:lnTo>
                <a:lnTo>
                  <a:pt x="5760073" y="0"/>
                </a:lnTo>
                <a:lnTo>
                  <a:pt x="5760073" y="3240041"/>
                </a:lnTo>
                <a:lnTo>
                  <a:pt x="0" y="3240041"/>
                </a:lnTo>
                <a:close/>
              </a:path>
            </a:pathLst>
          </a:custGeom>
          <a:solidFill>
            <a:srgbClr val="0C18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3960040" y="0"/>
            <a:ext cx="1800225" cy="1800225"/>
          </a:xfrm>
          <a:custGeom>
            <a:avLst/>
            <a:gdLst/>
            <a:ahLst/>
            <a:cxnLst/>
            <a:rect l="l" t="t" r="r" b="b"/>
            <a:pathLst>
              <a:path w="1800225" h="1800225">
                <a:moveTo>
                  <a:pt x="1799955" y="0"/>
                </a:moveTo>
                <a:lnTo>
                  <a:pt x="0" y="0"/>
                </a:lnTo>
                <a:lnTo>
                  <a:pt x="626" y="47951"/>
                </a:lnTo>
                <a:lnTo>
                  <a:pt x="2495" y="95595"/>
                </a:lnTo>
                <a:lnTo>
                  <a:pt x="5590" y="142915"/>
                </a:lnTo>
                <a:lnTo>
                  <a:pt x="9897" y="189894"/>
                </a:lnTo>
                <a:lnTo>
                  <a:pt x="15399" y="236517"/>
                </a:lnTo>
                <a:lnTo>
                  <a:pt x="22082" y="282768"/>
                </a:lnTo>
                <a:lnTo>
                  <a:pt x="29929" y="328633"/>
                </a:lnTo>
                <a:lnTo>
                  <a:pt x="38925" y="374094"/>
                </a:lnTo>
                <a:lnTo>
                  <a:pt x="49055" y="419138"/>
                </a:lnTo>
                <a:lnTo>
                  <a:pt x="60302" y="463748"/>
                </a:lnTo>
                <a:lnTo>
                  <a:pt x="72652" y="507908"/>
                </a:lnTo>
                <a:lnTo>
                  <a:pt x="86089" y="551603"/>
                </a:lnTo>
                <a:lnTo>
                  <a:pt x="100597" y="594818"/>
                </a:lnTo>
                <a:lnTo>
                  <a:pt x="116161" y="637537"/>
                </a:lnTo>
                <a:lnTo>
                  <a:pt x="132765" y="679745"/>
                </a:lnTo>
                <a:lnTo>
                  <a:pt x="150394" y="721425"/>
                </a:lnTo>
                <a:lnTo>
                  <a:pt x="169032" y="762563"/>
                </a:lnTo>
                <a:lnTo>
                  <a:pt x="188663" y="803143"/>
                </a:lnTo>
                <a:lnTo>
                  <a:pt x="209273" y="843149"/>
                </a:lnTo>
                <a:lnTo>
                  <a:pt x="230844" y="882566"/>
                </a:lnTo>
                <a:lnTo>
                  <a:pt x="253363" y="921377"/>
                </a:lnTo>
                <a:lnTo>
                  <a:pt x="276813" y="959569"/>
                </a:lnTo>
                <a:lnTo>
                  <a:pt x="301179" y="997124"/>
                </a:lnTo>
                <a:lnTo>
                  <a:pt x="326445" y="1034028"/>
                </a:lnTo>
                <a:lnTo>
                  <a:pt x="352596" y="1070265"/>
                </a:lnTo>
                <a:lnTo>
                  <a:pt x="379616" y="1105820"/>
                </a:lnTo>
                <a:lnTo>
                  <a:pt x="407490" y="1140676"/>
                </a:lnTo>
                <a:lnTo>
                  <a:pt x="436201" y="1174819"/>
                </a:lnTo>
                <a:lnTo>
                  <a:pt x="465736" y="1208233"/>
                </a:lnTo>
                <a:lnTo>
                  <a:pt x="496077" y="1240901"/>
                </a:lnTo>
                <a:lnTo>
                  <a:pt x="527209" y="1272810"/>
                </a:lnTo>
                <a:lnTo>
                  <a:pt x="559118" y="1303942"/>
                </a:lnTo>
                <a:lnTo>
                  <a:pt x="591786" y="1334283"/>
                </a:lnTo>
                <a:lnTo>
                  <a:pt x="625200" y="1363818"/>
                </a:lnTo>
                <a:lnTo>
                  <a:pt x="659343" y="1392529"/>
                </a:lnTo>
                <a:lnTo>
                  <a:pt x="694199" y="1420403"/>
                </a:lnTo>
                <a:lnTo>
                  <a:pt x="729754" y="1447423"/>
                </a:lnTo>
                <a:lnTo>
                  <a:pt x="765991" y="1473574"/>
                </a:lnTo>
                <a:lnTo>
                  <a:pt x="802895" y="1498840"/>
                </a:lnTo>
                <a:lnTo>
                  <a:pt x="840450" y="1523206"/>
                </a:lnTo>
                <a:lnTo>
                  <a:pt x="878642" y="1546656"/>
                </a:lnTo>
                <a:lnTo>
                  <a:pt x="917454" y="1569175"/>
                </a:lnTo>
                <a:lnTo>
                  <a:pt x="956870" y="1590746"/>
                </a:lnTo>
                <a:lnTo>
                  <a:pt x="996876" y="1611356"/>
                </a:lnTo>
                <a:lnTo>
                  <a:pt x="1037456" y="1630987"/>
                </a:lnTo>
                <a:lnTo>
                  <a:pt x="1078594" y="1649625"/>
                </a:lnTo>
                <a:lnTo>
                  <a:pt x="1120274" y="1667254"/>
                </a:lnTo>
                <a:lnTo>
                  <a:pt x="1162482" y="1683858"/>
                </a:lnTo>
                <a:lnTo>
                  <a:pt x="1205201" y="1699422"/>
                </a:lnTo>
                <a:lnTo>
                  <a:pt x="1248416" y="1713930"/>
                </a:lnTo>
                <a:lnTo>
                  <a:pt x="1292111" y="1727367"/>
                </a:lnTo>
                <a:lnTo>
                  <a:pt x="1336272" y="1739717"/>
                </a:lnTo>
                <a:lnTo>
                  <a:pt x="1380881" y="1750964"/>
                </a:lnTo>
                <a:lnTo>
                  <a:pt x="1425925" y="1761094"/>
                </a:lnTo>
                <a:lnTo>
                  <a:pt x="1471386" y="1770090"/>
                </a:lnTo>
                <a:lnTo>
                  <a:pt x="1517251" y="1777937"/>
                </a:lnTo>
                <a:lnTo>
                  <a:pt x="1563502" y="1784620"/>
                </a:lnTo>
                <a:lnTo>
                  <a:pt x="1610125" y="1790122"/>
                </a:lnTo>
                <a:lnTo>
                  <a:pt x="1657104" y="1794429"/>
                </a:lnTo>
                <a:lnTo>
                  <a:pt x="1704424" y="1797524"/>
                </a:lnTo>
                <a:lnTo>
                  <a:pt x="1752069" y="1799393"/>
                </a:lnTo>
                <a:lnTo>
                  <a:pt x="1799955" y="1800019"/>
                </a:lnTo>
                <a:lnTo>
                  <a:pt x="1799955" y="0"/>
                </a:lnTo>
                <a:close/>
              </a:path>
            </a:pathLst>
          </a:custGeom>
          <a:solidFill>
            <a:srgbClr val="308CFF">
              <a:alpha val="7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0" y="1800019"/>
            <a:ext cx="2995295" cy="1440180"/>
            <a:chOff x="0" y="1800019"/>
            <a:chExt cx="2995295" cy="1440180"/>
          </a:xfrm>
        </p:grpSpPr>
        <p:sp>
          <p:nvSpPr>
            <p:cNvPr id="5" name="object 5"/>
            <p:cNvSpPr/>
            <p:nvPr/>
          </p:nvSpPr>
          <p:spPr>
            <a:xfrm>
              <a:off x="0" y="1800019"/>
              <a:ext cx="1440180" cy="1440180"/>
            </a:xfrm>
            <a:custGeom>
              <a:avLst/>
              <a:gdLst/>
              <a:ahLst/>
              <a:cxnLst/>
              <a:rect l="l" t="t" r="r" b="b"/>
              <a:pathLst>
                <a:path w="1440180" h="1440180">
                  <a:moveTo>
                    <a:pt x="0" y="0"/>
                  </a:moveTo>
                  <a:lnTo>
                    <a:pt x="0" y="1439978"/>
                  </a:lnTo>
                  <a:lnTo>
                    <a:pt x="1440008" y="1439978"/>
                  </a:lnTo>
                  <a:lnTo>
                    <a:pt x="1439206" y="1391518"/>
                  </a:lnTo>
                  <a:lnTo>
                    <a:pt x="1436819" y="1343419"/>
                  </a:lnTo>
                  <a:lnTo>
                    <a:pt x="1432871" y="1295748"/>
                  </a:lnTo>
                  <a:lnTo>
                    <a:pt x="1427388" y="1248528"/>
                  </a:lnTo>
                  <a:lnTo>
                    <a:pt x="1420394" y="1201785"/>
                  </a:lnTo>
                  <a:lnTo>
                    <a:pt x="1411915" y="1155545"/>
                  </a:lnTo>
                  <a:lnTo>
                    <a:pt x="1401976" y="1109832"/>
                  </a:lnTo>
                  <a:lnTo>
                    <a:pt x="1390603" y="1064672"/>
                  </a:lnTo>
                  <a:lnTo>
                    <a:pt x="1377820" y="1020090"/>
                  </a:lnTo>
                  <a:lnTo>
                    <a:pt x="1363653" y="976111"/>
                  </a:lnTo>
                  <a:lnTo>
                    <a:pt x="1348126" y="932760"/>
                  </a:lnTo>
                  <a:lnTo>
                    <a:pt x="1331266" y="890063"/>
                  </a:lnTo>
                  <a:lnTo>
                    <a:pt x="1313097" y="848044"/>
                  </a:lnTo>
                  <a:lnTo>
                    <a:pt x="1293644" y="806730"/>
                  </a:lnTo>
                  <a:lnTo>
                    <a:pt x="1272933" y="766145"/>
                  </a:lnTo>
                  <a:lnTo>
                    <a:pt x="1250990" y="726314"/>
                  </a:lnTo>
                  <a:lnTo>
                    <a:pt x="1227838" y="687262"/>
                  </a:lnTo>
                  <a:lnTo>
                    <a:pt x="1203503" y="649015"/>
                  </a:lnTo>
                  <a:lnTo>
                    <a:pt x="1178011" y="611599"/>
                  </a:lnTo>
                  <a:lnTo>
                    <a:pt x="1151387" y="575037"/>
                  </a:lnTo>
                  <a:lnTo>
                    <a:pt x="1123655" y="539356"/>
                  </a:lnTo>
                  <a:lnTo>
                    <a:pt x="1094842" y="504580"/>
                  </a:lnTo>
                  <a:lnTo>
                    <a:pt x="1064971" y="470735"/>
                  </a:lnTo>
                  <a:lnTo>
                    <a:pt x="1034070" y="437846"/>
                  </a:lnTo>
                  <a:lnTo>
                    <a:pt x="1002162" y="405938"/>
                  </a:lnTo>
                  <a:lnTo>
                    <a:pt x="969272" y="375036"/>
                  </a:lnTo>
                  <a:lnTo>
                    <a:pt x="935427" y="345166"/>
                  </a:lnTo>
                  <a:lnTo>
                    <a:pt x="900652" y="316352"/>
                  </a:lnTo>
                  <a:lnTo>
                    <a:pt x="864970" y="288621"/>
                  </a:lnTo>
                  <a:lnTo>
                    <a:pt x="828409" y="261996"/>
                  </a:lnTo>
                  <a:lnTo>
                    <a:pt x="790992" y="236504"/>
                  </a:lnTo>
                  <a:lnTo>
                    <a:pt x="752745" y="212170"/>
                  </a:lnTo>
                  <a:lnTo>
                    <a:pt x="713694" y="189018"/>
                  </a:lnTo>
                  <a:lnTo>
                    <a:pt x="673863" y="167074"/>
                  </a:lnTo>
                  <a:lnTo>
                    <a:pt x="633277" y="146363"/>
                  </a:lnTo>
                  <a:lnTo>
                    <a:pt x="591963" y="126910"/>
                  </a:lnTo>
                  <a:lnTo>
                    <a:pt x="549944" y="108741"/>
                  </a:lnTo>
                  <a:lnTo>
                    <a:pt x="507247" y="91881"/>
                  </a:lnTo>
                  <a:lnTo>
                    <a:pt x="463897" y="76355"/>
                  </a:lnTo>
                  <a:lnTo>
                    <a:pt x="419918" y="62187"/>
                  </a:lnTo>
                  <a:lnTo>
                    <a:pt x="375336" y="49404"/>
                  </a:lnTo>
                  <a:lnTo>
                    <a:pt x="330175" y="38031"/>
                  </a:lnTo>
                  <a:lnTo>
                    <a:pt x="284463" y="28092"/>
                  </a:lnTo>
                  <a:lnTo>
                    <a:pt x="238222" y="19613"/>
                  </a:lnTo>
                  <a:lnTo>
                    <a:pt x="191480" y="12620"/>
                  </a:lnTo>
                  <a:lnTo>
                    <a:pt x="144260" y="7136"/>
                  </a:lnTo>
                  <a:lnTo>
                    <a:pt x="96588" y="3188"/>
                  </a:lnTo>
                  <a:lnTo>
                    <a:pt x="48489" y="80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7D2DC">
                <a:alpha val="4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51991" y="1980022"/>
              <a:ext cx="2736850" cy="828040"/>
            </a:xfrm>
            <a:custGeom>
              <a:avLst/>
              <a:gdLst/>
              <a:ahLst/>
              <a:cxnLst/>
              <a:rect l="l" t="t" r="r" b="b"/>
              <a:pathLst>
                <a:path w="2736850" h="828039">
                  <a:moveTo>
                    <a:pt x="0" y="828011"/>
                  </a:moveTo>
                  <a:lnTo>
                    <a:pt x="33934" y="808428"/>
                  </a:lnTo>
                  <a:lnTo>
                    <a:pt x="69224" y="789543"/>
                  </a:lnTo>
                  <a:lnTo>
                    <a:pt x="105795" y="771342"/>
                  </a:lnTo>
                  <a:lnTo>
                    <a:pt x="143571" y="753806"/>
                  </a:lnTo>
                  <a:lnTo>
                    <a:pt x="182476" y="736921"/>
                  </a:lnTo>
                  <a:lnTo>
                    <a:pt x="222435" y="720668"/>
                  </a:lnTo>
                  <a:lnTo>
                    <a:pt x="263373" y="705032"/>
                  </a:lnTo>
                  <a:lnTo>
                    <a:pt x="305214" y="689996"/>
                  </a:lnTo>
                  <a:lnTo>
                    <a:pt x="347882" y="675544"/>
                  </a:lnTo>
                  <a:lnTo>
                    <a:pt x="391302" y="661659"/>
                  </a:lnTo>
                  <a:lnTo>
                    <a:pt x="435398" y="648324"/>
                  </a:lnTo>
                  <a:lnTo>
                    <a:pt x="480095" y="635524"/>
                  </a:lnTo>
                  <a:lnTo>
                    <a:pt x="525318" y="623241"/>
                  </a:lnTo>
                  <a:lnTo>
                    <a:pt x="570991" y="611459"/>
                  </a:lnTo>
                  <a:lnTo>
                    <a:pt x="617038" y="600162"/>
                  </a:lnTo>
                  <a:lnTo>
                    <a:pt x="663384" y="589332"/>
                  </a:lnTo>
                  <a:lnTo>
                    <a:pt x="709953" y="578954"/>
                  </a:lnTo>
                  <a:lnTo>
                    <a:pt x="756670" y="569011"/>
                  </a:lnTo>
                  <a:lnTo>
                    <a:pt x="803460" y="559487"/>
                  </a:lnTo>
                  <a:lnTo>
                    <a:pt x="850246" y="550364"/>
                  </a:lnTo>
                  <a:lnTo>
                    <a:pt x="896954" y="541627"/>
                  </a:lnTo>
                  <a:lnTo>
                    <a:pt x="943508" y="533258"/>
                  </a:lnTo>
                  <a:lnTo>
                    <a:pt x="989831" y="525242"/>
                  </a:lnTo>
                  <a:lnTo>
                    <a:pt x="1035850" y="517562"/>
                  </a:lnTo>
                  <a:lnTo>
                    <a:pt x="1081488" y="510201"/>
                  </a:lnTo>
                  <a:lnTo>
                    <a:pt x="1126670" y="503143"/>
                  </a:lnTo>
                  <a:lnTo>
                    <a:pt x="1171320" y="496372"/>
                  </a:lnTo>
                  <a:lnTo>
                    <a:pt x="1215363" y="489870"/>
                  </a:lnTo>
                  <a:lnTo>
                    <a:pt x="1258723" y="483621"/>
                  </a:lnTo>
                  <a:lnTo>
                    <a:pt x="1301325" y="477609"/>
                  </a:lnTo>
                  <a:lnTo>
                    <a:pt x="1343094" y="471818"/>
                  </a:lnTo>
                  <a:lnTo>
                    <a:pt x="1383953" y="466230"/>
                  </a:lnTo>
                  <a:lnTo>
                    <a:pt x="1423827" y="460829"/>
                  </a:lnTo>
                  <a:lnTo>
                    <a:pt x="1462641" y="455599"/>
                  </a:lnTo>
                  <a:lnTo>
                    <a:pt x="1500320" y="450523"/>
                  </a:lnTo>
                  <a:lnTo>
                    <a:pt x="1536787" y="445585"/>
                  </a:lnTo>
                  <a:lnTo>
                    <a:pt x="1605785" y="436055"/>
                  </a:lnTo>
                  <a:lnTo>
                    <a:pt x="1669032" y="426878"/>
                  </a:lnTo>
                  <a:lnTo>
                    <a:pt x="1725924" y="417920"/>
                  </a:lnTo>
                  <a:lnTo>
                    <a:pt x="1775856" y="409051"/>
                  </a:lnTo>
                  <a:lnTo>
                    <a:pt x="1818225" y="400138"/>
                  </a:lnTo>
                  <a:lnTo>
                    <a:pt x="1866277" y="386397"/>
                  </a:lnTo>
                  <a:lnTo>
                    <a:pt x="1899988" y="361403"/>
                  </a:lnTo>
                  <a:lnTo>
                    <a:pt x="1899094" y="355942"/>
                  </a:lnTo>
                  <a:lnTo>
                    <a:pt x="1867551" y="332004"/>
                  </a:lnTo>
                  <a:lnTo>
                    <a:pt x="1812412" y="311392"/>
                  </a:lnTo>
                  <a:lnTo>
                    <a:pt x="1759528" y="296136"/>
                  </a:lnTo>
                  <a:lnTo>
                    <a:pt x="1728022" y="288004"/>
                  </a:lnTo>
                  <a:lnTo>
                    <a:pt x="1759396" y="276332"/>
                  </a:lnTo>
                  <a:lnTo>
                    <a:pt x="1829607" y="254838"/>
                  </a:lnTo>
                  <a:lnTo>
                    <a:pt x="1867925" y="244943"/>
                  </a:lnTo>
                  <a:lnTo>
                    <a:pt x="1908040" y="235566"/>
                  </a:lnTo>
                  <a:lnTo>
                    <a:pt x="1949692" y="226671"/>
                  </a:lnTo>
                  <a:lnTo>
                    <a:pt x="1992621" y="218220"/>
                  </a:lnTo>
                  <a:lnTo>
                    <a:pt x="2036570" y="210177"/>
                  </a:lnTo>
                  <a:lnTo>
                    <a:pt x="2081277" y="202504"/>
                  </a:lnTo>
                  <a:lnTo>
                    <a:pt x="2126484" y="195164"/>
                  </a:lnTo>
                  <a:lnTo>
                    <a:pt x="2171932" y="188121"/>
                  </a:lnTo>
                  <a:lnTo>
                    <a:pt x="2217362" y="181337"/>
                  </a:lnTo>
                  <a:lnTo>
                    <a:pt x="2262514" y="174775"/>
                  </a:lnTo>
                  <a:lnTo>
                    <a:pt x="2307128" y="168398"/>
                  </a:lnTo>
                  <a:lnTo>
                    <a:pt x="2350947" y="162169"/>
                  </a:lnTo>
                  <a:lnTo>
                    <a:pt x="2393710" y="156052"/>
                  </a:lnTo>
                  <a:lnTo>
                    <a:pt x="2435158" y="150008"/>
                  </a:lnTo>
                  <a:lnTo>
                    <a:pt x="2475032" y="144002"/>
                  </a:lnTo>
                  <a:lnTo>
                    <a:pt x="2513072" y="137995"/>
                  </a:lnTo>
                  <a:lnTo>
                    <a:pt x="2582616" y="125835"/>
                  </a:lnTo>
                  <a:lnTo>
                    <a:pt x="2641716" y="113229"/>
                  </a:lnTo>
                  <a:lnTo>
                    <a:pt x="2688297" y="99883"/>
                  </a:lnTo>
                  <a:lnTo>
                    <a:pt x="2730159" y="77827"/>
                  </a:lnTo>
                  <a:lnTo>
                    <a:pt x="2736369" y="61333"/>
                  </a:lnTo>
                  <a:lnTo>
                    <a:pt x="2732186" y="52438"/>
                  </a:lnTo>
                  <a:lnTo>
                    <a:pt x="2722801" y="43061"/>
                  </a:lnTo>
                  <a:lnTo>
                    <a:pt x="2707952" y="33166"/>
                  </a:lnTo>
                  <a:lnTo>
                    <a:pt x="2687381" y="22716"/>
                  </a:lnTo>
                  <a:lnTo>
                    <a:pt x="2660828" y="11672"/>
                  </a:lnTo>
                  <a:lnTo>
                    <a:pt x="2628034" y="0"/>
                  </a:lnTo>
                </a:path>
              </a:pathLst>
            </a:custGeom>
            <a:ln w="12652">
              <a:solidFill>
                <a:srgbClr val="27D2D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xfrm>
            <a:off x="347294" y="799400"/>
            <a:ext cx="1259840" cy="4032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450" spc="75" dirty="0"/>
              <a:t>FinPilot</a:t>
            </a:r>
            <a:endParaRPr sz="2450"/>
          </a:p>
        </p:txBody>
      </p:sp>
      <p:sp>
        <p:nvSpPr>
          <p:cNvPr id="8" name="object 8"/>
          <p:cNvSpPr/>
          <p:nvPr/>
        </p:nvSpPr>
        <p:spPr>
          <a:xfrm>
            <a:off x="372656" y="1358315"/>
            <a:ext cx="540385" cy="0"/>
          </a:xfrm>
          <a:custGeom>
            <a:avLst/>
            <a:gdLst/>
            <a:ahLst/>
            <a:cxnLst/>
            <a:rect l="l" t="t" r="r" b="b"/>
            <a:pathLst>
              <a:path w="540385">
                <a:moveTo>
                  <a:pt x="0" y="0"/>
                </a:moveTo>
                <a:lnTo>
                  <a:pt x="540006" y="0"/>
                </a:lnTo>
              </a:path>
            </a:pathLst>
          </a:custGeom>
          <a:ln w="25305">
            <a:solidFill>
              <a:srgbClr val="27D2D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347294" y="1529813"/>
            <a:ext cx="2135505" cy="416559"/>
          </a:xfrm>
          <a:prstGeom prst="rect">
            <a:avLst/>
          </a:prstGeom>
        </p:spPr>
        <p:txBody>
          <a:bodyPr vert="horz" wrap="square" lIns="0" tIns="56515" rIns="0" bIns="0" rtlCol="0">
            <a:spAutoFit/>
          </a:bodyPr>
          <a:lstStyle/>
          <a:p>
            <a:pPr marL="12700" marR="5080">
              <a:lnSpc>
                <a:spcPts val="1360"/>
              </a:lnSpc>
              <a:spcBef>
                <a:spcPts val="445"/>
              </a:spcBef>
            </a:pPr>
            <a:r>
              <a:rPr sz="1400" spc="-30" dirty="0">
                <a:solidFill>
                  <a:srgbClr val="27D2DC"/>
                </a:solidFill>
                <a:latin typeface="Arial MT"/>
                <a:cs typeface="Arial MT"/>
              </a:rPr>
              <a:t>AI-</a:t>
            </a:r>
            <a:r>
              <a:rPr sz="1400" spc="-105" dirty="0">
                <a:solidFill>
                  <a:srgbClr val="27D2DC"/>
                </a:solidFill>
                <a:latin typeface="Arial MT"/>
                <a:cs typeface="Arial MT"/>
              </a:rPr>
              <a:t>Powered</a:t>
            </a:r>
            <a:r>
              <a:rPr sz="1400" spc="45" dirty="0">
                <a:solidFill>
                  <a:srgbClr val="27D2DC"/>
                </a:solidFill>
                <a:latin typeface="Arial MT"/>
                <a:cs typeface="Arial MT"/>
              </a:rPr>
              <a:t> </a:t>
            </a:r>
            <a:r>
              <a:rPr sz="1400" spc="-90" dirty="0">
                <a:solidFill>
                  <a:srgbClr val="27D2DC"/>
                </a:solidFill>
                <a:latin typeface="Arial MT"/>
                <a:cs typeface="Arial MT"/>
              </a:rPr>
              <a:t>Personal</a:t>
            </a:r>
            <a:r>
              <a:rPr sz="1400" spc="45" dirty="0">
                <a:solidFill>
                  <a:srgbClr val="27D2DC"/>
                </a:solidFill>
                <a:latin typeface="Arial MT"/>
                <a:cs typeface="Arial MT"/>
              </a:rPr>
              <a:t> </a:t>
            </a:r>
            <a:r>
              <a:rPr sz="1400" spc="-80" dirty="0">
                <a:solidFill>
                  <a:srgbClr val="27D2DC"/>
                </a:solidFill>
                <a:latin typeface="Arial MT"/>
                <a:cs typeface="Arial MT"/>
              </a:rPr>
              <a:t>Finance </a:t>
            </a:r>
            <a:r>
              <a:rPr sz="1400" spc="-75" dirty="0">
                <a:solidFill>
                  <a:srgbClr val="27D2DC"/>
                </a:solidFill>
                <a:latin typeface="Arial MT"/>
                <a:cs typeface="Arial MT"/>
              </a:rPr>
              <a:t>Decision</a:t>
            </a:r>
            <a:r>
              <a:rPr sz="1400" spc="-25" dirty="0">
                <a:solidFill>
                  <a:srgbClr val="27D2DC"/>
                </a:solidFill>
                <a:latin typeface="Arial MT"/>
                <a:cs typeface="Arial MT"/>
              </a:rPr>
              <a:t> </a:t>
            </a:r>
            <a:r>
              <a:rPr sz="1400" spc="-45" dirty="0">
                <a:solidFill>
                  <a:srgbClr val="27D2DC"/>
                </a:solidFill>
                <a:latin typeface="Arial MT"/>
                <a:cs typeface="Arial MT"/>
              </a:rPr>
              <a:t>Support</a:t>
            </a:r>
            <a:r>
              <a:rPr sz="1400" spc="-20" dirty="0">
                <a:solidFill>
                  <a:srgbClr val="27D2DC"/>
                </a:solidFill>
                <a:latin typeface="Arial MT"/>
                <a:cs typeface="Arial MT"/>
              </a:rPr>
              <a:t> </a:t>
            </a:r>
            <a:r>
              <a:rPr sz="1400" spc="-10" dirty="0">
                <a:solidFill>
                  <a:srgbClr val="27D2DC"/>
                </a:solidFill>
                <a:latin typeface="Arial MT"/>
                <a:cs typeface="Arial MT"/>
              </a:rPr>
              <a:t>Agent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94513" y="2250495"/>
            <a:ext cx="2071370" cy="4813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95"/>
              </a:spcBef>
            </a:pPr>
            <a:r>
              <a:rPr sz="1000" spc="-20" dirty="0">
                <a:solidFill>
                  <a:srgbClr val="A5B2C5"/>
                </a:solidFill>
                <a:latin typeface="Arial MT"/>
                <a:cs typeface="Arial MT"/>
              </a:rPr>
              <a:t>Turning </a:t>
            </a:r>
            <a:r>
              <a:rPr sz="1000" spc="-35" dirty="0">
                <a:solidFill>
                  <a:srgbClr val="A5B2C5"/>
                </a:solidFill>
                <a:latin typeface="Arial MT"/>
                <a:cs typeface="Arial MT"/>
              </a:rPr>
              <a:t>fragmented</a:t>
            </a:r>
            <a:r>
              <a:rPr sz="1000" spc="-15" dirty="0">
                <a:solidFill>
                  <a:srgbClr val="A5B2C5"/>
                </a:solidFill>
                <a:latin typeface="Arial MT"/>
                <a:cs typeface="Arial MT"/>
              </a:rPr>
              <a:t> </a:t>
            </a:r>
            <a:r>
              <a:rPr sz="1000" spc="-25" dirty="0">
                <a:solidFill>
                  <a:srgbClr val="A5B2C5"/>
                </a:solidFill>
                <a:latin typeface="Arial MT"/>
                <a:cs typeface="Arial MT"/>
              </a:rPr>
              <a:t>financial</a:t>
            </a:r>
            <a:r>
              <a:rPr sz="1000" spc="-15" dirty="0">
                <a:solidFill>
                  <a:srgbClr val="A5B2C5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A5B2C5"/>
                </a:solidFill>
                <a:latin typeface="Arial MT"/>
                <a:cs typeface="Arial MT"/>
              </a:rPr>
              <a:t>data</a:t>
            </a:r>
            <a:r>
              <a:rPr sz="1000" spc="-15" dirty="0">
                <a:solidFill>
                  <a:srgbClr val="A5B2C5"/>
                </a:solidFill>
                <a:latin typeface="Arial MT"/>
                <a:cs typeface="Arial MT"/>
              </a:rPr>
              <a:t> </a:t>
            </a:r>
            <a:r>
              <a:rPr sz="1000" spc="-20" dirty="0">
                <a:solidFill>
                  <a:srgbClr val="A5B2C5"/>
                </a:solidFill>
                <a:latin typeface="Arial MT"/>
                <a:cs typeface="Arial MT"/>
              </a:rPr>
              <a:t>into </a:t>
            </a:r>
            <a:r>
              <a:rPr sz="1000" spc="-45" dirty="0">
                <a:solidFill>
                  <a:srgbClr val="A5B2C5"/>
                </a:solidFill>
                <a:latin typeface="Arial MT"/>
                <a:cs typeface="Arial MT"/>
              </a:rPr>
              <a:t>understandable</a:t>
            </a:r>
            <a:r>
              <a:rPr sz="1000" spc="25" dirty="0">
                <a:solidFill>
                  <a:srgbClr val="A5B2C5"/>
                </a:solidFill>
                <a:latin typeface="Arial MT"/>
                <a:cs typeface="Arial MT"/>
              </a:rPr>
              <a:t> </a:t>
            </a:r>
            <a:r>
              <a:rPr sz="1000" spc="-25" dirty="0">
                <a:solidFill>
                  <a:srgbClr val="A5B2C5"/>
                </a:solidFill>
                <a:latin typeface="Arial MT"/>
                <a:cs typeface="Arial MT"/>
              </a:rPr>
              <a:t>insights,</a:t>
            </a:r>
            <a:r>
              <a:rPr sz="1000" spc="20" dirty="0">
                <a:solidFill>
                  <a:srgbClr val="A5B2C5"/>
                </a:solidFill>
                <a:latin typeface="Arial MT"/>
                <a:cs typeface="Arial MT"/>
              </a:rPr>
              <a:t> </a:t>
            </a:r>
            <a:r>
              <a:rPr sz="1000" spc="-45" dirty="0">
                <a:solidFill>
                  <a:srgbClr val="A5B2C5"/>
                </a:solidFill>
                <a:latin typeface="Arial MT"/>
                <a:cs typeface="Arial MT"/>
              </a:rPr>
              <a:t>forecasts,</a:t>
            </a:r>
            <a:r>
              <a:rPr sz="1000" spc="20" dirty="0">
                <a:solidFill>
                  <a:srgbClr val="A5B2C5"/>
                </a:solidFill>
                <a:latin typeface="Arial MT"/>
                <a:cs typeface="Arial MT"/>
              </a:rPr>
              <a:t> </a:t>
            </a:r>
            <a:r>
              <a:rPr sz="1000" spc="-25" dirty="0">
                <a:solidFill>
                  <a:srgbClr val="A5B2C5"/>
                </a:solidFill>
                <a:latin typeface="Arial MT"/>
                <a:cs typeface="Arial MT"/>
              </a:rPr>
              <a:t>and </a:t>
            </a:r>
            <a:r>
              <a:rPr sz="1000" spc="-30" dirty="0">
                <a:solidFill>
                  <a:srgbClr val="A5B2C5"/>
                </a:solidFill>
                <a:latin typeface="Arial MT"/>
                <a:cs typeface="Arial MT"/>
              </a:rPr>
              <a:t>actionable</a:t>
            </a:r>
            <a:r>
              <a:rPr sz="1000" spc="-10" dirty="0">
                <a:solidFill>
                  <a:srgbClr val="A5B2C5"/>
                </a:solidFill>
                <a:latin typeface="Arial MT"/>
                <a:cs typeface="Arial MT"/>
              </a:rPr>
              <a:t> decisions.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465156" y="2182557"/>
            <a:ext cx="2001520" cy="58991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5080" indent="930910">
              <a:lnSpc>
                <a:spcPct val="102600"/>
              </a:lnSpc>
              <a:spcBef>
                <a:spcPts val="55"/>
              </a:spcBef>
            </a:pPr>
            <a:r>
              <a:rPr sz="1100" b="1" spc="-35" dirty="0">
                <a:solidFill>
                  <a:srgbClr val="F4F8FC"/>
                </a:solidFill>
                <a:latin typeface="Arial"/>
                <a:cs typeface="Arial"/>
              </a:rPr>
              <a:t>Sreekanth</a:t>
            </a:r>
            <a:r>
              <a:rPr sz="1100" b="1" spc="10" dirty="0">
                <a:solidFill>
                  <a:srgbClr val="F4F8FC"/>
                </a:solidFill>
                <a:latin typeface="Arial"/>
                <a:cs typeface="Arial"/>
              </a:rPr>
              <a:t> </a:t>
            </a:r>
            <a:r>
              <a:rPr sz="1100" b="1" spc="-45" dirty="0">
                <a:solidFill>
                  <a:srgbClr val="F4F8FC"/>
                </a:solidFill>
                <a:latin typeface="Arial"/>
                <a:cs typeface="Arial"/>
              </a:rPr>
              <a:t>Beere </a:t>
            </a:r>
            <a:r>
              <a:rPr sz="1100" b="1" spc="-35" dirty="0">
                <a:solidFill>
                  <a:srgbClr val="F4F8FC"/>
                </a:solidFill>
                <a:latin typeface="Arial"/>
                <a:cs typeface="Arial"/>
              </a:rPr>
              <a:t>Krishna</a:t>
            </a:r>
            <a:r>
              <a:rPr sz="1100" b="1" spc="10" dirty="0">
                <a:solidFill>
                  <a:srgbClr val="F4F8FC"/>
                </a:solidFill>
                <a:latin typeface="Arial"/>
                <a:cs typeface="Arial"/>
              </a:rPr>
              <a:t> </a:t>
            </a:r>
            <a:r>
              <a:rPr sz="1100" b="1" spc="-25" dirty="0">
                <a:solidFill>
                  <a:srgbClr val="F4F8FC"/>
                </a:solidFill>
                <a:latin typeface="Arial"/>
                <a:cs typeface="Arial"/>
              </a:rPr>
              <a:t>Harshith</a:t>
            </a:r>
            <a:r>
              <a:rPr sz="1100" b="1" spc="10" dirty="0">
                <a:solidFill>
                  <a:srgbClr val="F4F8FC"/>
                </a:solidFill>
                <a:latin typeface="Arial"/>
                <a:cs typeface="Arial"/>
              </a:rPr>
              <a:t> </a:t>
            </a:r>
            <a:r>
              <a:rPr sz="1100" b="1" spc="-35" dirty="0">
                <a:solidFill>
                  <a:srgbClr val="F4F8FC"/>
                </a:solidFill>
                <a:latin typeface="Arial"/>
                <a:cs typeface="Arial"/>
              </a:rPr>
              <a:t>Chinthagunta</a:t>
            </a:r>
            <a:endParaRPr sz="1100">
              <a:latin typeface="Arial"/>
              <a:cs typeface="Arial"/>
            </a:endParaRPr>
          </a:p>
          <a:p>
            <a:pPr marL="352425">
              <a:lnSpc>
                <a:spcPct val="100000"/>
              </a:lnSpc>
              <a:spcBef>
                <a:spcPts val="459"/>
              </a:spcBef>
            </a:pPr>
            <a:r>
              <a:rPr sz="1100" spc="-50" dirty="0">
                <a:solidFill>
                  <a:srgbClr val="A5B2C5"/>
                </a:solidFill>
                <a:latin typeface="Arial MT"/>
                <a:cs typeface="Arial MT"/>
              </a:rPr>
              <a:t>SASTRA</a:t>
            </a:r>
            <a:r>
              <a:rPr sz="1100" spc="-15" dirty="0">
                <a:solidFill>
                  <a:srgbClr val="A5B2C5"/>
                </a:solidFill>
                <a:latin typeface="Arial MT"/>
                <a:cs typeface="Arial MT"/>
              </a:rPr>
              <a:t> </a:t>
            </a:r>
            <a:r>
              <a:rPr sz="1100" spc="-90" dirty="0">
                <a:solidFill>
                  <a:srgbClr val="A5B2C5"/>
                </a:solidFill>
                <a:latin typeface="Arial MT"/>
                <a:cs typeface="Arial MT"/>
              </a:rPr>
              <a:t>Deemed</a:t>
            </a:r>
            <a:r>
              <a:rPr sz="1100" spc="15" dirty="0">
                <a:solidFill>
                  <a:srgbClr val="A5B2C5"/>
                </a:solidFill>
                <a:latin typeface="Arial MT"/>
                <a:cs typeface="Arial MT"/>
              </a:rPr>
              <a:t> </a:t>
            </a:r>
            <a:r>
              <a:rPr sz="1100" spc="-35" dirty="0">
                <a:solidFill>
                  <a:srgbClr val="A5B2C5"/>
                </a:solidFill>
                <a:latin typeface="Arial MT"/>
                <a:cs typeface="Arial MT"/>
              </a:rPr>
              <a:t>University</a:t>
            </a:r>
            <a:endParaRPr sz="1100">
              <a:latin typeface="Arial MT"/>
              <a:cs typeface="Arial MT"/>
            </a:endParaRPr>
          </a:p>
        </p:txBody>
      </p:sp>
    </p:spTree>
  </p:cSld>
  <p:clrMapOvr>
    <a:masterClrMapping/>
  </p:clrMapOvr>
  <p:transition>
    <p:cut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70" dirty="0"/>
              <a:t>The</a:t>
            </a:r>
            <a:r>
              <a:rPr spc="160" dirty="0"/>
              <a:t> </a:t>
            </a:r>
            <a:r>
              <a:rPr spc="-10" dirty="0"/>
              <a:t>Problem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28091" y="502383"/>
            <a:ext cx="1607185" cy="1776095"/>
          </a:xfrm>
          <a:prstGeom prst="rect">
            <a:avLst/>
          </a:prstGeom>
        </p:spPr>
        <p:txBody>
          <a:bodyPr vert="horz" wrap="square" lIns="0" tIns="56515" rIns="0" bIns="0" rtlCol="0">
            <a:spAutoFit/>
          </a:bodyPr>
          <a:lstStyle/>
          <a:p>
            <a:pPr marL="12700" marR="157480">
              <a:lnSpc>
                <a:spcPts val="1360"/>
              </a:lnSpc>
              <a:spcBef>
                <a:spcPts val="445"/>
              </a:spcBef>
            </a:pPr>
            <a:r>
              <a:rPr sz="1400" b="1" dirty="0">
                <a:solidFill>
                  <a:srgbClr val="27D2DC"/>
                </a:solidFill>
                <a:latin typeface="Arial"/>
                <a:cs typeface="Arial"/>
              </a:rPr>
              <a:t>Financial</a:t>
            </a:r>
            <a:r>
              <a:rPr sz="1400" b="1" spc="229" dirty="0">
                <a:solidFill>
                  <a:srgbClr val="27D2DC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27D2DC"/>
                </a:solidFill>
                <a:latin typeface="Arial"/>
                <a:cs typeface="Arial"/>
              </a:rPr>
              <a:t>data</a:t>
            </a:r>
            <a:r>
              <a:rPr sz="1400" b="1" spc="235" dirty="0">
                <a:solidFill>
                  <a:srgbClr val="27D2DC"/>
                </a:solidFill>
                <a:latin typeface="Arial"/>
                <a:cs typeface="Arial"/>
              </a:rPr>
              <a:t> </a:t>
            </a:r>
            <a:r>
              <a:rPr sz="1400" b="1" spc="-55" dirty="0">
                <a:solidFill>
                  <a:srgbClr val="27D2DC"/>
                </a:solidFill>
                <a:latin typeface="Arial"/>
                <a:cs typeface="Arial"/>
              </a:rPr>
              <a:t>is </a:t>
            </a:r>
            <a:r>
              <a:rPr sz="1400" b="1" spc="-10" dirty="0">
                <a:solidFill>
                  <a:srgbClr val="27D2DC"/>
                </a:solidFill>
                <a:latin typeface="Arial"/>
                <a:cs typeface="Arial"/>
              </a:rPr>
              <a:t>fragmented</a:t>
            </a:r>
            <a:endParaRPr sz="1400">
              <a:latin typeface="Arial"/>
              <a:cs typeface="Arial"/>
            </a:endParaRPr>
          </a:p>
          <a:p>
            <a:pPr marL="287020" indent="-207645">
              <a:lnSpc>
                <a:spcPct val="100000"/>
              </a:lnSpc>
              <a:spcBef>
                <a:spcPts val="1125"/>
              </a:spcBef>
              <a:buClr>
                <a:srgbClr val="27D2DC"/>
              </a:buClr>
              <a:buSzPct val="90909"/>
              <a:buFont typeface="Lucida Sans Unicode"/>
              <a:buChar char="►"/>
              <a:tabLst>
                <a:tab pos="287020" algn="l"/>
              </a:tabLst>
            </a:pPr>
            <a:r>
              <a:rPr sz="1100" spc="-25" dirty="0">
                <a:solidFill>
                  <a:srgbClr val="F4F8FC"/>
                </a:solidFill>
                <a:latin typeface="Arial MT"/>
                <a:cs typeface="Arial MT"/>
              </a:rPr>
              <a:t>Bank</a:t>
            </a:r>
            <a:r>
              <a:rPr sz="1100" spc="-50" dirty="0">
                <a:solidFill>
                  <a:srgbClr val="F4F8FC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F4F8FC"/>
                </a:solidFill>
                <a:latin typeface="Arial MT"/>
                <a:cs typeface="Arial MT"/>
              </a:rPr>
              <a:t>statements</a:t>
            </a:r>
            <a:endParaRPr sz="1100">
              <a:latin typeface="Arial MT"/>
              <a:cs typeface="Arial MT"/>
            </a:endParaRPr>
          </a:p>
          <a:p>
            <a:pPr marL="287020" indent="-207645">
              <a:lnSpc>
                <a:spcPct val="100000"/>
              </a:lnSpc>
              <a:spcBef>
                <a:spcPts val="335"/>
              </a:spcBef>
              <a:buClr>
                <a:srgbClr val="27D2DC"/>
              </a:buClr>
              <a:buSzPct val="90909"/>
              <a:buFont typeface="Lucida Sans Unicode"/>
              <a:buChar char="►"/>
              <a:tabLst>
                <a:tab pos="287020" algn="l"/>
              </a:tabLst>
            </a:pPr>
            <a:r>
              <a:rPr sz="1100" spc="-25" dirty="0">
                <a:solidFill>
                  <a:srgbClr val="F4F8FC"/>
                </a:solidFill>
                <a:latin typeface="Arial MT"/>
                <a:cs typeface="Arial MT"/>
              </a:rPr>
              <a:t>Credit</a:t>
            </a:r>
            <a:r>
              <a:rPr sz="1100" spc="-20" dirty="0">
                <a:solidFill>
                  <a:srgbClr val="F4F8FC"/>
                </a:solidFill>
                <a:latin typeface="Arial MT"/>
                <a:cs typeface="Arial MT"/>
              </a:rPr>
              <a:t> </a:t>
            </a:r>
            <a:r>
              <a:rPr sz="1100" spc="-50" dirty="0">
                <a:solidFill>
                  <a:srgbClr val="F4F8FC"/>
                </a:solidFill>
                <a:latin typeface="Arial MT"/>
                <a:cs typeface="Arial MT"/>
              </a:rPr>
              <a:t>card</a:t>
            </a:r>
            <a:r>
              <a:rPr sz="1100" spc="-15" dirty="0">
                <a:solidFill>
                  <a:srgbClr val="F4F8FC"/>
                </a:solidFill>
                <a:latin typeface="Arial MT"/>
                <a:cs typeface="Arial MT"/>
              </a:rPr>
              <a:t> </a:t>
            </a:r>
            <a:r>
              <a:rPr sz="1100" spc="-40" dirty="0">
                <a:solidFill>
                  <a:srgbClr val="F4F8FC"/>
                </a:solidFill>
                <a:latin typeface="Arial MT"/>
                <a:cs typeface="Arial MT"/>
              </a:rPr>
              <a:t>statements</a:t>
            </a:r>
            <a:endParaRPr sz="1100">
              <a:latin typeface="Arial MT"/>
              <a:cs typeface="Arial MT"/>
            </a:endParaRPr>
          </a:p>
          <a:p>
            <a:pPr marL="287020" indent="-207645">
              <a:lnSpc>
                <a:spcPct val="100000"/>
              </a:lnSpc>
              <a:spcBef>
                <a:spcPts val="335"/>
              </a:spcBef>
              <a:buClr>
                <a:srgbClr val="27D2DC"/>
              </a:buClr>
              <a:buSzPct val="90909"/>
              <a:buFont typeface="Lucida Sans Unicode"/>
              <a:buChar char="►"/>
              <a:tabLst>
                <a:tab pos="287020" algn="l"/>
              </a:tabLst>
            </a:pPr>
            <a:r>
              <a:rPr sz="1100" spc="-10" dirty="0">
                <a:solidFill>
                  <a:srgbClr val="F4F8FC"/>
                </a:solidFill>
                <a:latin typeface="Arial MT"/>
                <a:cs typeface="Arial MT"/>
              </a:rPr>
              <a:t>Bills</a:t>
            </a:r>
            <a:endParaRPr sz="1100">
              <a:latin typeface="Arial MT"/>
              <a:cs typeface="Arial MT"/>
            </a:endParaRPr>
          </a:p>
          <a:p>
            <a:pPr marL="287020" indent="-207645">
              <a:lnSpc>
                <a:spcPct val="100000"/>
              </a:lnSpc>
              <a:spcBef>
                <a:spcPts val="335"/>
              </a:spcBef>
              <a:buClr>
                <a:srgbClr val="27D2DC"/>
              </a:buClr>
              <a:buSzPct val="90909"/>
              <a:buFont typeface="Lucida Sans Unicode"/>
              <a:buChar char="►"/>
              <a:tabLst>
                <a:tab pos="287020" algn="l"/>
              </a:tabLst>
            </a:pPr>
            <a:r>
              <a:rPr sz="1100" spc="-95" dirty="0">
                <a:solidFill>
                  <a:srgbClr val="F4F8FC"/>
                </a:solidFill>
                <a:latin typeface="Arial MT"/>
                <a:cs typeface="Arial MT"/>
              </a:rPr>
              <a:t>Expense</a:t>
            </a:r>
            <a:r>
              <a:rPr sz="1100" spc="60" dirty="0">
                <a:solidFill>
                  <a:srgbClr val="F4F8FC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F4F8FC"/>
                </a:solidFill>
                <a:latin typeface="Arial MT"/>
                <a:cs typeface="Arial MT"/>
              </a:rPr>
              <a:t>records</a:t>
            </a:r>
            <a:endParaRPr sz="1100">
              <a:latin typeface="Arial MT"/>
              <a:cs typeface="Arial MT"/>
            </a:endParaRPr>
          </a:p>
          <a:p>
            <a:pPr marL="287020" indent="-207645">
              <a:lnSpc>
                <a:spcPct val="100000"/>
              </a:lnSpc>
              <a:spcBef>
                <a:spcPts val="334"/>
              </a:spcBef>
              <a:buClr>
                <a:srgbClr val="27D2DC"/>
              </a:buClr>
              <a:buSzPct val="90909"/>
              <a:buFont typeface="Lucida Sans Unicode"/>
              <a:buChar char="►"/>
              <a:tabLst>
                <a:tab pos="287020" algn="l"/>
              </a:tabLst>
            </a:pPr>
            <a:r>
              <a:rPr sz="1100" spc="-10" dirty="0">
                <a:solidFill>
                  <a:srgbClr val="F4F8FC"/>
                </a:solidFill>
                <a:latin typeface="Arial MT"/>
                <a:cs typeface="Arial MT"/>
              </a:rPr>
              <a:t>Subscriptions</a:t>
            </a:r>
            <a:endParaRPr sz="1100">
              <a:latin typeface="Arial MT"/>
              <a:cs typeface="Arial MT"/>
            </a:endParaRPr>
          </a:p>
          <a:p>
            <a:pPr marL="287020" indent="-207645">
              <a:lnSpc>
                <a:spcPct val="100000"/>
              </a:lnSpc>
              <a:spcBef>
                <a:spcPts val="330"/>
              </a:spcBef>
              <a:buClr>
                <a:srgbClr val="27D2DC"/>
              </a:buClr>
              <a:buSzPct val="90909"/>
              <a:buFont typeface="Lucida Sans Unicode"/>
              <a:buChar char="►"/>
              <a:tabLst>
                <a:tab pos="287020" algn="l"/>
              </a:tabLst>
            </a:pPr>
            <a:r>
              <a:rPr sz="1100" spc="-10" dirty="0">
                <a:solidFill>
                  <a:srgbClr val="F4F8FC"/>
                </a:solidFill>
                <a:latin typeface="Arial MT"/>
                <a:cs typeface="Arial MT"/>
              </a:rPr>
              <a:t>Spreadsheets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28091" y="2404349"/>
            <a:ext cx="2149475" cy="53594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5080">
              <a:lnSpc>
                <a:spcPct val="102600"/>
              </a:lnSpc>
              <a:spcBef>
                <a:spcPts val="55"/>
              </a:spcBef>
            </a:pPr>
            <a:r>
              <a:rPr sz="1100" spc="-90" dirty="0">
                <a:solidFill>
                  <a:srgbClr val="A5B2C5"/>
                </a:solidFill>
                <a:latin typeface="Arial MT"/>
                <a:cs typeface="Arial MT"/>
              </a:rPr>
              <a:t>Users</a:t>
            </a:r>
            <a:r>
              <a:rPr sz="1100" spc="15" dirty="0">
                <a:solidFill>
                  <a:srgbClr val="A5B2C5"/>
                </a:solidFill>
                <a:latin typeface="Arial MT"/>
                <a:cs typeface="Arial MT"/>
              </a:rPr>
              <a:t> </a:t>
            </a:r>
            <a:r>
              <a:rPr sz="1100" spc="-65" dirty="0">
                <a:solidFill>
                  <a:srgbClr val="A5B2C5"/>
                </a:solidFill>
                <a:latin typeface="Arial MT"/>
                <a:cs typeface="Arial MT"/>
              </a:rPr>
              <a:t>can</a:t>
            </a:r>
            <a:r>
              <a:rPr sz="1100" spc="20" dirty="0">
                <a:solidFill>
                  <a:srgbClr val="A5B2C5"/>
                </a:solidFill>
                <a:latin typeface="Arial MT"/>
                <a:cs typeface="Arial MT"/>
              </a:rPr>
              <a:t> </a:t>
            </a:r>
            <a:r>
              <a:rPr sz="1100" spc="-145" dirty="0">
                <a:solidFill>
                  <a:srgbClr val="A5B2C5"/>
                </a:solidFill>
                <a:latin typeface="Arial MT"/>
                <a:cs typeface="Arial MT"/>
              </a:rPr>
              <a:t>see</a:t>
            </a:r>
            <a:r>
              <a:rPr sz="1100" spc="55" dirty="0">
                <a:solidFill>
                  <a:srgbClr val="A5B2C5"/>
                </a:solidFill>
                <a:latin typeface="Arial MT"/>
                <a:cs typeface="Arial MT"/>
              </a:rPr>
              <a:t> </a:t>
            </a:r>
            <a:r>
              <a:rPr sz="1100" spc="-40" dirty="0">
                <a:solidFill>
                  <a:srgbClr val="A5B2C5"/>
                </a:solidFill>
                <a:latin typeface="Arial MT"/>
                <a:cs typeface="Arial MT"/>
              </a:rPr>
              <a:t>transactions,</a:t>
            </a:r>
            <a:r>
              <a:rPr sz="1100" spc="30" dirty="0">
                <a:solidFill>
                  <a:srgbClr val="A5B2C5"/>
                </a:solidFill>
                <a:latin typeface="Arial MT"/>
                <a:cs typeface="Arial MT"/>
              </a:rPr>
              <a:t> </a:t>
            </a:r>
            <a:r>
              <a:rPr sz="1100" spc="-25" dirty="0">
                <a:solidFill>
                  <a:srgbClr val="A5B2C5"/>
                </a:solidFill>
                <a:latin typeface="Arial MT"/>
                <a:cs typeface="Arial MT"/>
              </a:rPr>
              <a:t>but </a:t>
            </a:r>
            <a:r>
              <a:rPr sz="1100" spc="-45" dirty="0">
                <a:solidFill>
                  <a:srgbClr val="A5B2C5"/>
                </a:solidFill>
                <a:latin typeface="Arial MT"/>
                <a:cs typeface="Arial MT"/>
              </a:rPr>
              <a:t>transactions</a:t>
            </a:r>
            <a:r>
              <a:rPr sz="1100" spc="-15" dirty="0">
                <a:solidFill>
                  <a:srgbClr val="A5B2C5"/>
                </a:solidFill>
                <a:latin typeface="Arial MT"/>
                <a:cs typeface="Arial MT"/>
              </a:rPr>
              <a:t> </a:t>
            </a:r>
            <a:r>
              <a:rPr sz="1100" spc="-65" dirty="0">
                <a:solidFill>
                  <a:srgbClr val="A5B2C5"/>
                </a:solidFill>
                <a:latin typeface="Arial MT"/>
                <a:cs typeface="Arial MT"/>
              </a:rPr>
              <a:t>alone</a:t>
            </a:r>
            <a:r>
              <a:rPr sz="1100" spc="-10" dirty="0">
                <a:solidFill>
                  <a:srgbClr val="A5B2C5"/>
                </a:solidFill>
                <a:latin typeface="Arial MT"/>
                <a:cs typeface="Arial MT"/>
              </a:rPr>
              <a:t> do</a:t>
            </a:r>
            <a:r>
              <a:rPr sz="1100" spc="-15" dirty="0">
                <a:solidFill>
                  <a:srgbClr val="A5B2C5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A5B2C5"/>
                </a:solidFill>
                <a:latin typeface="Arial MT"/>
                <a:cs typeface="Arial MT"/>
              </a:rPr>
              <a:t>not</a:t>
            </a:r>
            <a:r>
              <a:rPr sz="1100" spc="-10" dirty="0">
                <a:solidFill>
                  <a:srgbClr val="A5B2C5"/>
                </a:solidFill>
                <a:latin typeface="Arial MT"/>
                <a:cs typeface="Arial MT"/>
              </a:rPr>
              <a:t> </a:t>
            </a:r>
            <a:r>
              <a:rPr sz="1100" spc="-50" dirty="0">
                <a:solidFill>
                  <a:srgbClr val="A5B2C5"/>
                </a:solidFill>
                <a:latin typeface="Arial MT"/>
                <a:cs typeface="Arial MT"/>
              </a:rPr>
              <a:t>explain</a:t>
            </a:r>
            <a:r>
              <a:rPr sz="1100" spc="-10" dirty="0">
                <a:solidFill>
                  <a:srgbClr val="A5B2C5"/>
                </a:solidFill>
                <a:latin typeface="Arial MT"/>
                <a:cs typeface="Arial MT"/>
              </a:rPr>
              <a:t> </a:t>
            </a:r>
            <a:r>
              <a:rPr sz="1100" spc="-25" dirty="0">
                <a:solidFill>
                  <a:srgbClr val="A5B2C5"/>
                </a:solidFill>
                <a:latin typeface="Arial MT"/>
                <a:cs typeface="Arial MT"/>
              </a:rPr>
              <a:t>the </a:t>
            </a:r>
            <a:r>
              <a:rPr sz="1100" spc="-35" dirty="0">
                <a:solidFill>
                  <a:srgbClr val="A5B2C5"/>
                </a:solidFill>
                <a:latin typeface="Arial MT"/>
                <a:cs typeface="Arial MT"/>
              </a:rPr>
              <a:t>financial</a:t>
            </a:r>
            <a:r>
              <a:rPr sz="1100" spc="5" dirty="0">
                <a:solidFill>
                  <a:srgbClr val="A5B2C5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A5B2C5"/>
                </a:solidFill>
                <a:latin typeface="Arial MT"/>
                <a:cs typeface="Arial MT"/>
              </a:rPr>
              <a:t>situation.</a:t>
            </a:r>
            <a:endParaRPr sz="1100">
              <a:latin typeface="Arial MT"/>
              <a:cs typeface="Arial MT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3050380" y="568148"/>
            <a:ext cx="2273300" cy="1923414"/>
            <a:chOff x="3050380" y="568148"/>
            <a:chExt cx="2273300" cy="1923414"/>
          </a:xfrm>
        </p:grpSpPr>
        <p:sp>
          <p:nvSpPr>
            <p:cNvPr id="6" name="object 6"/>
            <p:cNvSpPr/>
            <p:nvPr/>
          </p:nvSpPr>
          <p:spPr>
            <a:xfrm>
              <a:off x="3052911" y="570678"/>
              <a:ext cx="2268220" cy="1918335"/>
            </a:xfrm>
            <a:custGeom>
              <a:avLst/>
              <a:gdLst/>
              <a:ahLst/>
              <a:cxnLst/>
              <a:rect l="l" t="t" r="r" b="b"/>
              <a:pathLst>
                <a:path w="2268220" h="1918335">
                  <a:moveTo>
                    <a:pt x="2166802" y="0"/>
                  </a:moveTo>
                  <a:lnTo>
                    <a:pt x="101221" y="0"/>
                  </a:lnTo>
                  <a:lnTo>
                    <a:pt x="61821" y="7954"/>
                  </a:lnTo>
                  <a:lnTo>
                    <a:pt x="29646" y="29646"/>
                  </a:lnTo>
                  <a:lnTo>
                    <a:pt x="7954" y="61821"/>
                  </a:lnTo>
                  <a:lnTo>
                    <a:pt x="0" y="101221"/>
                  </a:lnTo>
                  <a:lnTo>
                    <a:pt x="0" y="1816926"/>
                  </a:lnTo>
                  <a:lnTo>
                    <a:pt x="7954" y="1856327"/>
                  </a:lnTo>
                  <a:lnTo>
                    <a:pt x="29646" y="1888501"/>
                  </a:lnTo>
                  <a:lnTo>
                    <a:pt x="61821" y="1910193"/>
                  </a:lnTo>
                  <a:lnTo>
                    <a:pt x="101221" y="1918148"/>
                  </a:lnTo>
                  <a:lnTo>
                    <a:pt x="2166802" y="1918148"/>
                  </a:lnTo>
                  <a:lnTo>
                    <a:pt x="2206203" y="1910193"/>
                  </a:lnTo>
                  <a:lnTo>
                    <a:pt x="2238377" y="1888501"/>
                  </a:lnTo>
                  <a:lnTo>
                    <a:pt x="2260070" y="1856327"/>
                  </a:lnTo>
                  <a:lnTo>
                    <a:pt x="2268024" y="1816926"/>
                  </a:lnTo>
                  <a:lnTo>
                    <a:pt x="2268024" y="101221"/>
                  </a:lnTo>
                  <a:lnTo>
                    <a:pt x="2260070" y="61821"/>
                  </a:lnTo>
                  <a:lnTo>
                    <a:pt x="2238377" y="29646"/>
                  </a:lnTo>
                  <a:lnTo>
                    <a:pt x="2206203" y="7954"/>
                  </a:lnTo>
                  <a:lnTo>
                    <a:pt x="2166802" y="0"/>
                  </a:lnTo>
                  <a:close/>
                </a:path>
              </a:pathLst>
            </a:custGeom>
            <a:solidFill>
              <a:srgbClr val="0C18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052911" y="570678"/>
              <a:ext cx="2268220" cy="1918335"/>
            </a:xfrm>
            <a:custGeom>
              <a:avLst/>
              <a:gdLst/>
              <a:ahLst/>
              <a:cxnLst/>
              <a:rect l="l" t="t" r="r" b="b"/>
              <a:pathLst>
                <a:path w="2268220" h="1918335">
                  <a:moveTo>
                    <a:pt x="2166802" y="0"/>
                  </a:moveTo>
                  <a:lnTo>
                    <a:pt x="101221" y="0"/>
                  </a:lnTo>
                  <a:lnTo>
                    <a:pt x="61821" y="7954"/>
                  </a:lnTo>
                  <a:lnTo>
                    <a:pt x="29646" y="29646"/>
                  </a:lnTo>
                  <a:lnTo>
                    <a:pt x="7954" y="61821"/>
                  </a:lnTo>
                  <a:lnTo>
                    <a:pt x="0" y="101221"/>
                  </a:lnTo>
                  <a:lnTo>
                    <a:pt x="0" y="1816926"/>
                  </a:lnTo>
                  <a:lnTo>
                    <a:pt x="7954" y="1856327"/>
                  </a:lnTo>
                  <a:lnTo>
                    <a:pt x="29646" y="1888501"/>
                  </a:lnTo>
                  <a:lnTo>
                    <a:pt x="61821" y="1910193"/>
                  </a:lnTo>
                  <a:lnTo>
                    <a:pt x="101221" y="1918148"/>
                  </a:lnTo>
                  <a:lnTo>
                    <a:pt x="2166802" y="1918148"/>
                  </a:lnTo>
                  <a:lnTo>
                    <a:pt x="2206203" y="1910193"/>
                  </a:lnTo>
                  <a:lnTo>
                    <a:pt x="2238377" y="1888501"/>
                  </a:lnTo>
                  <a:lnTo>
                    <a:pt x="2260070" y="1856327"/>
                  </a:lnTo>
                  <a:lnTo>
                    <a:pt x="2268024" y="1816926"/>
                  </a:lnTo>
                  <a:lnTo>
                    <a:pt x="2268024" y="101221"/>
                  </a:lnTo>
                  <a:lnTo>
                    <a:pt x="2260070" y="61821"/>
                  </a:lnTo>
                  <a:lnTo>
                    <a:pt x="2238377" y="29646"/>
                  </a:lnTo>
                  <a:lnTo>
                    <a:pt x="2206203" y="7954"/>
                  </a:lnTo>
                  <a:lnTo>
                    <a:pt x="2166802" y="0"/>
                  </a:lnTo>
                  <a:close/>
                </a:path>
              </a:pathLst>
            </a:custGeom>
            <a:ln w="5060">
              <a:solidFill>
                <a:srgbClr val="F050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3184220" y="578478"/>
            <a:ext cx="1972310" cy="1779905"/>
          </a:xfrm>
          <a:prstGeom prst="rect">
            <a:avLst/>
          </a:prstGeom>
        </p:spPr>
        <p:txBody>
          <a:bodyPr vert="horz" wrap="square" lIns="0" tIns="946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45"/>
              </a:spcBef>
            </a:pPr>
            <a:r>
              <a:rPr sz="1200" b="1" dirty="0">
                <a:solidFill>
                  <a:srgbClr val="F4F8FC"/>
                </a:solidFill>
                <a:latin typeface="Arial"/>
                <a:cs typeface="Arial"/>
              </a:rPr>
              <a:t>The</a:t>
            </a:r>
            <a:r>
              <a:rPr sz="1200" b="1" spc="-5" dirty="0">
                <a:solidFill>
                  <a:srgbClr val="F4F8FC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F4F8FC"/>
                </a:solidFill>
                <a:latin typeface="Arial"/>
                <a:cs typeface="Arial"/>
              </a:rPr>
              <a:t>real </a:t>
            </a:r>
            <a:r>
              <a:rPr sz="1200" b="1" spc="-10" dirty="0">
                <a:solidFill>
                  <a:srgbClr val="F4F8FC"/>
                </a:solidFill>
                <a:latin typeface="Arial"/>
                <a:cs typeface="Arial"/>
              </a:rPr>
              <a:t>challenge</a:t>
            </a:r>
            <a:endParaRPr sz="1200">
              <a:latin typeface="Arial"/>
              <a:cs typeface="Arial"/>
            </a:endParaRPr>
          </a:p>
          <a:p>
            <a:pPr marL="12700" marR="201930">
              <a:lnSpc>
                <a:spcPct val="134900"/>
              </a:lnSpc>
              <a:spcBef>
                <a:spcPts val="120"/>
              </a:spcBef>
            </a:pPr>
            <a:r>
              <a:rPr sz="1100" spc="-70" dirty="0">
                <a:solidFill>
                  <a:srgbClr val="A5B2C5"/>
                </a:solidFill>
                <a:latin typeface="Arial MT"/>
                <a:cs typeface="Arial MT"/>
              </a:rPr>
              <a:t>Where</a:t>
            </a:r>
            <a:r>
              <a:rPr sz="1100" spc="-5" dirty="0">
                <a:solidFill>
                  <a:srgbClr val="A5B2C5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A5B2C5"/>
                </a:solidFill>
                <a:latin typeface="Arial MT"/>
                <a:cs typeface="Arial MT"/>
              </a:rPr>
              <a:t>is</a:t>
            </a:r>
            <a:r>
              <a:rPr sz="1100" spc="-55" dirty="0">
                <a:solidFill>
                  <a:srgbClr val="A5B2C5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A5B2C5"/>
                </a:solidFill>
                <a:latin typeface="Arial MT"/>
                <a:cs typeface="Arial MT"/>
              </a:rPr>
              <a:t>the</a:t>
            </a:r>
            <a:r>
              <a:rPr sz="1100" spc="-20" dirty="0">
                <a:solidFill>
                  <a:srgbClr val="A5B2C5"/>
                </a:solidFill>
                <a:latin typeface="Arial MT"/>
                <a:cs typeface="Arial MT"/>
              </a:rPr>
              <a:t> </a:t>
            </a:r>
            <a:r>
              <a:rPr sz="1100" spc="-70" dirty="0">
                <a:solidFill>
                  <a:srgbClr val="A5B2C5"/>
                </a:solidFill>
                <a:latin typeface="Arial MT"/>
                <a:cs typeface="Arial MT"/>
              </a:rPr>
              <a:t>money</a:t>
            </a:r>
            <a:r>
              <a:rPr sz="1100" spc="-5" dirty="0">
                <a:solidFill>
                  <a:srgbClr val="A5B2C5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A5B2C5"/>
                </a:solidFill>
                <a:latin typeface="Arial MT"/>
                <a:cs typeface="Arial MT"/>
              </a:rPr>
              <a:t>going? </a:t>
            </a:r>
            <a:r>
              <a:rPr sz="1100" dirty="0">
                <a:solidFill>
                  <a:srgbClr val="A5B2C5"/>
                </a:solidFill>
                <a:latin typeface="Arial MT"/>
                <a:cs typeface="Arial MT"/>
              </a:rPr>
              <a:t>What</a:t>
            </a:r>
            <a:r>
              <a:rPr sz="1100" spc="-10" dirty="0">
                <a:solidFill>
                  <a:srgbClr val="A5B2C5"/>
                </a:solidFill>
                <a:latin typeface="Arial MT"/>
                <a:cs typeface="Arial MT"/>
              </a:rPr>
              <a:t> </a:t>
            </a:r>
            <a:r>
              <a:rPr sz="1100" spc="-65" dirty="0">
                <a:solidFill>
                  <a:srgbClr val="A5B2C5"/>
                </a:solidFill>
                <a:latin typeface="Arial MT"/>
                <a:cs typeface="Arial MT"/>
              </a:rPr>
              <a:t>payments</a:t>
            </a:r>
            <a:r>
              <a:rPr sz="1100" spc="-5" dirty="0">
                <a:solidFill>
                  <a:srgbClr val="A5B2C5"/>
                </a:solidFill>
                <a:latin typeface="Arial MT"/>
                <a:cs typeface="Arial MT"/>
              </a:rPr>
              <a:t> </a:t>
            </a:r>
            <a:r>
              <a:rPr sz="1100" spc="-75" dirty="0">
                <a:solidFill>
                  <a:srgbClr val="A5B2C5"/>
                </a:solidFill>
                <a:latin typeface="Arial MT"/>
                <a:cs typeface="Arial MT"/>
              </a:rPr>
              <a:t>are</a:t>
            </a:r>
            <a:r>
              <a:rPr sz="1100" dirty="0">
                <a:solidFill>
                  <a:srgbClr val="A5B2C5"/>
                </a:solidFill>
                <a:latin typeface="Arial MT"/>
                <a:cs typeface="Arial MT"/>
              </a:rPr>
              <a:t> </a:t>
            </a:r>
            <a:r>
              <a:rPr sz="1100" spc="-35" dirty="0">
                <a:solidFill>
                  <a:srgbClr val="A5B2C5"/>
                </a:solidFill>
                <a:latin typeface="Arial MT"/>
                <a:cs typeface="Arial MT"/>
              </a:rPr>
              <a:t>recurring? </a:t>
            </a:r>
            <a:r>
              <a:rPr sz="1100" dirty="0">
                <a:solidFill>
                  <a:srgbClr val="A5B2C5"/>
                </a:solidFill>
                <a:latin typeface="Arial MT"/>
                <a:cs typeface="Arial MT"/>
              </a:rPr>
              <a:t>What</a:t>
            </a:r>
            <a:r>
              <a:rPr sz="1100" spc="-10" dirty="0">
                <a:solidFill>
                  <a:srgbClr val="A5B2C5"/>
                </a:solidFill>
                <a:latin typeface="Arial MT"/>
                <a:cs typeface="Arial MT"/>
              </a:rPr>
              <a:t> </a:t>
            </a:r>
            <a:r>
              <a:rPr sz="1100" spc="-105" dirty="0">
                <a:solidFill>
                  <a:srgbClr val="A5B2C5"/>
                </a:solidFill>
                <a:latin typeface="Arial MT"/>
                <a:cs typeface="Arial MT"/>
              </a:rPr>
              <a:t>expenses</a:t>
            </a:r>
            <a:r>
              <a:rPr sz="1100" spc="30" dirty="0">
                <a:solidFill>
                  <a:srgbClr val="A5B2C5"/>
                </a:solidFill>
                <a:latin typeface="Arial MT"/>
                <a:cs typeface="Arial MT"/>
              </a:rPr>
              <a:t> </a:t>
            </a:r>
            <a:r>
              <a:rPr sz="1100" spc="-75" dirty="0">
                <a:solidFill>
                  <a:srgbClr val="A5B2C5"/>
                </a:solidFill>
                <a:latin typeface="Arial MT"/>
                <a:cs typeface="Arial MT"/>
              </a:rPr>
              <a:t>are</a:t>
            </a:r>
            <a:r>
              <a:rPr sz="1100" spc="15" dirty="0">
                <a:solidFill>
                  <a:srgbClr val="A5B2C5"/>
                </a:solidFill>
                <a:latin typeface="Arial MT"/>
                <a:cs typeface="Arial MT"/>
              </a:rPr>
              <a:t> </a:t>
            </a:r>
            <a:r>
              <a:rPr sz="1100" spc="-65" dirty="0">
                <a:solidFill>
                  <a:srgbClr val="A5B2C5"/>
                </a:solidFill>
                <a:latin typeface="Arial MT"/>
                <a:cs typeface="Arial MT"/>
              </a:rPr>
              <a:t>increasing?</a:t>
            </a:r>
            <a:endParaRPr sz="1100">
              <a:latin typeface="Arial MT"/>
              <a:cs typeface="Arial MT"/>
            </a:endParaRPr>
          </a:p>
          <a:p>
            <a:pPr marL="12700" marR="5080">
              <a:lnSpc>
                <a:spcPct val="102600"/>
              </a:lnSpc>
              <a:spcBef>
                <a:spcPts val="425"/>
              </a:spcBef>
            </a:pPr>
            <a:r>
              <a:rPr sz="1100" spc="-50" dirty="0">
                <a:solidFill>
                  <a:srgbClr val="A5B2C5"/>
                </a:solidFill>
                <a:latin typeface="Arial MT"/>
                <a:cs typeface="Arial MT"/>
              </a:rPr>
              <a:t>How</a:t>
            </a:r>
            <a:r>
              <a:rPr sz="1100" spc="-25" dirty="0">
                <a:solidFill>
                  <a:srgbClr val="A5B2C5"/>
                </a:solidFill>
                <a:latin typeface="Arial MT"/>
                <a:cs typeface="Arial MT"/>
              </a:rPr>
              <a:t> </a:t>
            </a:r>
            <a:r>
              <a:rPr sz="1100" spc="-50" dirty="0">
                <a:solidFill>
                  <a:srgbClr val="A5B2C5"/>
                </a:solidFill>
                <a:latin typeface="Arial MT"/>
                <a:cs typeface="Arial MT"/>
              </a:rPr>
              <a:t>much</a:t>
            </a:r>
            <a:r>
              <a:rPr sz="1100" spc="-25" dirty="0">
                <a:solidFill>
                  <a:srgbClr val="A5B2C5"/>
                </a:solidFill>
                <a:latin typeface="Arial MT"/>
                <a:cs typeface="Arial MT"/>
              </a:rPr>
              <a:t> </a:t>
            </a:r>
            <a:r>
              <a:rPr sz="1100" spc="-70" dirty="0">
                <a:solidFill>
                  <a:srgbClr val="A5B2C5"/>
                </a:solidFill>
                <a:latin typeface="Arial MT"/>
                <a:cs typeface="Arial MT"/>
              </a:rPr>
              <a:t>money</a:t>
            </a:r>
            <a:r>
              <a:rPr sz="1100" spc="-5" dirty="0">
                <a:solidFill>
                  <a:srgbClr val="A5B2C5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A5B2C5"/>
                </a:solidFill>
                <a:latin typeface="Arial MT"/>
                <a:cs typeface="Arial MT"/>
              </a:rPr>
              <a:t>is</a:t>
            </a:r>
            <a:r>
              <a:rPr sz="1100" spc="-65" dirty="0">
                <a:solidFill>
                  <a:srgbClr val="A5B2C5"/>
                </a:solidFill>
                <a:latin typeface="Arial MT"/>
                <a:cs typeface="Arial MT"/>
              </a:rPr>
              <a:t> </a:t>
            </a:r>
            <a:r>
              <a:rPr sz="1100" spc="-60" dirty="0">
                <a:solidFill>
                  <a:srgbClr val="A5B2C5"/>
                </a:solidFill>
                <a:latin typeface="Arial MT"/>
                <a:cs typeface="Arial MT"/>
              </a:rPr>
              <a:t>already</a:t>
            </a:r>
            <a:r>
              <a:rPr sz="1100" spc="-15" dirty="0">
                <a:solidFill>
                  <a:srgbClr val="A5B2C5"/>
                </a:solidFill>
                <a:latin typeface="Arial MT"/>
                <a:cs typeface="Arial MT"/>
              </a:rPr>
              <a:t> </a:t>
            </a:r>
            <a:r>
              <a:rPr sz="1100" spc="-30" dirty="0">
                <a:solidFill>
                  <a:srgbClr val="A5B2C5"/>
                </a:solidFill>
                <a:latin typeface="Arial MT"/>
                <a:cs typeface="Arial MT"/>
              </a:rPr>
              <a:t>com-</a:t>
            </a:r>
            <a:r>
              <a:rPr sz="1100" spc="-10" dirty="0">
                <a:solidFill>
                  <a:srgbClr val="A5B2C5"/>
                </a:solidFill>
                <a:latin typeface="Arial MT"/>
                <a:cs typeface="Arial MT"/>
              </a:rPr>
              <a:t>mitted?</a:t>
            </a:r>
            <a:endParaRPr sz="1100">
              <a:latin typeface="Arial MT"/>
              <a:cs typeface="Arial MT"/>
            </a:endParaRPr>
          </a:p>
          <a:p>
            <a:pPr marL="12700" marR="45085">
              <a:lnSpc>
                <a:spcPct val="102600"/>
              </a:lnSpc>
              <a:spcBef>
                <a:spcPts val="425"/>
              </a:spcBef>
            </a:pPr>
            <a:r>
              <a:rPr sz="1100" spc="-80" dirty="0">
                <a:solidFill>
                  <a:srgbClr val="A5B2C5"/>
                </a:solidFill>
                <a:latin typeface="Arial MT"/>
                <a:cs typeface="Arial MT"/>
              </a:rPr>
              <a:t>Can</a:t>
            </a:r>
            <a:r>
              <a:rPr sz="1100" spc="10" dirty="0">
                <a:solidFill>
                  <a:srgbClr val="A5B2C5"/>
                </a:solidFill>
                <a:latin typeface="Arial MT"/>
                <a:cs typeface="Arial MT"/>
              </a:rPr>
              <a:t> </a:t>
            </a:r>
            <a:r>
              <a:rPr sz="1100" spc="-25" dirty="0">
                <a:solidFill>
                  <a:srgbClr val="A5B2C5"/>
                </a:solidFill>
                <a:latin typeface="Arial MT"/>
                <a:cs typeface="Arial MT"/>
              </a:rPr>
              <a:t>current</a:t>
            </a:r>
            <a:r>
              <a:rPr sz="1100" spc="10" dirty="0">
                <a:solidFill>
                  <a:srgbClr val="A5B2C5"/>
                </a:solidFill>
                <a:latin typeface="Arial MT"/>
                <a:cs typeface="Arial MT"/>
              </a:rPr>
              <a:t> </a:t>
            </a:r>
            <a:r>
              <a:rPr sz="1100" spc="-70" dirty="0">
                <a:solidFill>
                  <a:srgbClr val="A5B2C5"/>
                </a:solidFill>
                <a:latin typeface="Arial MT"/>
                <a:cs typeface="Arial MT"/>
              </a:rPr>
              <a:t>spending</a:t>
            </a:r>
            <a:r>
              <a:rPr sz="1100" spc="10" dirty="0">
                <a:solidFill>
                  <a:srgbClr val="A5B2C5"/>
                </a:solidFill>
                <a:latin typeface="Arial MT"/>
                <a:cs typeface="Arial MT"/>
              </a:rPr>
              <a:t> </a:t>
            </a:r>
            <a:r>
              <a:rPr sz="1100" spc="-35" dirty="0">
                <a:solidFill>
                  <a:srgbClr val="A5B2C5"/>
                </a:solidFill>
                <a:latin typeface="Arial MT"/>
                <a:cs typeface="Arial MT"/>
              </a:rPr>
              <a:t>support</a:t>
            </a:r>
            <a:r>
              <a:rPr sz="1100" spc="10" dirty="0">
                <a:solidFill>
                  <a:srgbClr val="A5B2C5"/>
                </a:solidFill>
                <a:latin typeface="Arial MT"/>
                <a:cs typeface="Arial MT"/>
              </a:rPr>
              <a:t> </a:t>
            </a:r>
            <a:r>
              <a:rPr sz="1100" spc="-25" dirty="0">
                <a:solidFill>
                  <a:srgbClr val="A5B2C5"/>
                </a:solidFill>
                <a:latin typeface="Arial MT"/>
                <a:cs typeface="Arial MT"/>
              </a:rPr>
              <a:t>fu-</a:t>
            </a:r>
            <a:r>
              <a:rPr sz="1100" dirty="0">
                <a:solidFill>
                  <a:srgbClr val="A5B2C5"/>
                </a:solidFill>
                <a:latin typeface="Arial MT"/>
                <a:cs typeface="Arial MT"/>
              </a:rPr>
              <a:t>ture</a:t>
            </a:r>
            <a:r>
              <a:rPr sz="1100" spc="-55" dirty="0">
                <a:solidFill>
                  <a:srgbClr val="A5B2C5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A5B2C5"/>
                </a:solidFill>
                <a:latin typeface="Arial MT"/>
                <a:cs typeface="Arial MT"/>
              </a:rPr>
              <a:t>goals?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/>
              <a:t>FinPilot</a:t>
            </a:r>
            <a:r>
              <a:rPr spc="45" dirty="0"/>
              <a:t> </a:t>
            </a:r>
            <a:r>
              <a:rPr dirty="0"/>
              <a:t>—</a:t>
            </a:r>
            <a:r>
              <a:rPr spc="50" dirty="0"/>
              <a:t> </a:t>
            </a:r>
            <a:r>
              <a:rPr dirty="0"/>
              <a:t>AI</a:t>
            </a:r>
            <a:r>
              <a:rPr spc="55" dirty="0"/>
              <a:t> </a:t>
            </a:r>
            <a:r>
              <a:rPr spc="-20" dirty="0"/>
              <a:t>Personal</a:t>
            </a:r>
            <a:r>
              <a:rPr spc="50" dirty="0"/>
              <a:t> </a:t>
            </a:r>
            <a:r>
              <a:rPr spc="-20" dirty="0"/>
              <a:t>Finance</a:t>
            </a:r>
            <a:r>
              <a:rPr spc="55" dirty="0"/>
              <a:t> </a:t>
            </a:r>
            <a:r>
              <a:rPr spc="-10" dirty="0"/>
              <a:t>Decision</a:t>
            </a:r>
            <a:r>
              <a:rPr spc="50" dirty="0"/>
              <a:t> </a:t>
            </a:r>
            <a:r>
              <a:rPr dirty="0"/>
              <a:t>Support</a:t>
            </a:r>
            <a:r>
              <a:rPr spc="45" dirty="0"/>
              <a:t> </a:t>
            </a:r>
            <a:r>
              <a:rPr spc="-10" dirty="0"/>
              <a:t>Agent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66040">
              <a:lnSpc>
                <a:spcPct val="100000"/>
              </a:lnSpc>
              <a:spcBef>
                <a:spcPts val="25"/>
              </a:spcBef>
            </a:pPr>
            <a:r>
              <a:rPr spc="-50" dirty="0"/>
              <a:t>2</a:t>
            </a:r>
          </a:p>
        </p:txBody>
      </p:sp>
    </p:spTree>
  </p:cSld>
  <p:clrMapOvr>
    <a:masterClrMapping/>
  </p:clrMapOvr>
  <p:transition>
    <p:cut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85305" y="122844"/>
            <a:ext cx="277685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From</a:t>
            </a:r>
            <a:r>
              <a:rPr spc="145" dirty="0"/>
              <a:t> </a:t>
            </a:r>
            <a:r>
              <a:rPr dirty="0"/>
              <a:t>Transactions</a:t>
            </a:r>
            <a:r>
              <a:rPr spc="145" dirty="0"/>
              <a:t> </a:t>
            </a:r>
            <a:r>
              <a:rPr spc="50" dirty="0"/>
              <a:t>to</a:t>
            </a:r>
            <a:r>
              <a:rPr spc="145" dirty="0"/>
              <a:t> </a:t>
            </a:r>
            <a:r>
              <a:rPr spc="-10" dirty="0"/>
              <a:t>Decisions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745863" y="1009746"/>
            <a:ext cx="851535" cy="365125"/>
            <a:chOff x="745863" y="1009746"/>
            <a:chExt cx="851535" cy="365125"/>
          </a:xfrm>
        </p:grpSpPr>
        <p:sp>
          <p:nvSpPr>
            <p:cNvPr id="4" name="object 4"/>
            <p:cNvSpPr/>
            <p:nvPr/>
          </p:nvSpPr>
          <p:spPr>
            <a:xfrm>
              <a:off x="748403" y="1012286"/>
              <a:ext cx="846455" cy="360045"/>
            </a:xfrm>
            <a:custGeom>
              <a:avLst/>
              <a:gdLst/>
              <a:ahLst/>
              <a:cxnLst/>
              <a:rect l="l" t="t" r="r" b="b"/>
              <a:pathLst>
                <a:path w="846455" h="360044">
                  <a:moveTo>
                    <a:pt x="782749" y="0"/>
                  </a:moveTo>
                  <a:lnTo>
                    <a:pt x="63263" y="0"/>
                  </a:lnTo>
                  <a:lnTo>
                    <a:pt x="38638" y="4971"/>
                  </a:lnTo>
                  <a:lnTo>
                    <a:pt x="18529" y="18529"/>
                  </a:lnTo>
                  <a:lnTo>
                    <a:pt x="4971" y="38638"/>
                  </a:lnTo>
                  <a:lnTo>
                    <a:pt x="0" y="63263"/>
                  </a:lnTo>
                  <a:lnTo>
                    <a:pt x="0" y="296740"/>
                  </a:lnTo>
                  <a:lnTo>
                    <a:pt x="4971" y="321365"/>
                  </a:lnTo>
                  <a:lnTo>
                    <a:pt x="18529" y="341474"/>
                  </a:lnTo>
                  <a:lnTo>
                    <a:pt x="38638" y="355032"/>
                  </a:lnTo>
                  <a:lnTo>
                    <a:pt x="63263" y="360004"/>
                  </a:lnTo>
                  <a:lnTo>
                    <a:pt x="782749" y="360004"/>
                  </a:lnTo>
                  <a:lnTo>
                    <a:pt x="807374" y="355032"/>
                  </a:lnTo>
                  <a:lnTo>
                    <a:pt x="827483" y="341474"/>
                  </a:lnTo>
                  <a:lnTo>
                    <a:pt x="841041" y="321365"/>
                  </a:lnTo>
                  <a:lnTo>
                    <a:pt x="846012" y="296740"/>
                  </a:lnTo>
                  <a:lnTo>
                    <a:pt x="846012" y="63263"/>
                  </a:lnTo>
                  <a:lnTo>
                    <a:pt x="841041" y="38638"/>
                  </a:lnTo>
                  <a:lnTo>
                    <a:pt x="827483" y="18529"/>
                  </a:lnTo>
                  <a:lnTo>
                    <a:pt x="807374" y="4971"/>
                  </a:lnTo>
                  <a:lnTo>
                    <a:pt x="782749" y="0"/>
                  </a:lnTo>
                  <a:close/>
                </a:path>
              </a:pathLst>
            </a:custGeom>
            <a:solidFill>
              <a:srgbClr val="0C18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748403" y="1012286"/>
              <a:ext cx="846455" cy="360045"/>
            </a:xfrm>
            <a:custGeom>
              <a:avLst/>
              <a:gdLst/>
              <a:ahLst/>
              <a:cxnLst/>
              <a:rect l="l" t="t" r="r" b="b"/>
              <a:pathLst>
                <a:path w="846455" h="360044">
                  <a:moveTo>
                    <a:pt x="782749" y="0"/>
                  </a:moveTo>
                  <a:lnTo>
                    <a:pt x="63263" y="0"/>
                  </a:lnTo>
                  <a:lnTo>
                    <a:pt x="38638" y="4971"/>
                  </a:lnTo>
                  <a:lnTo>
                    <a:pt x="18529" y="18529"/>
                  </a:lnTo>
                  <a:lnTo>
                    <a:pt x="4971" y="38638"/>
                  </a:lnTo>
                  <a:lnTo>
                    <a:pt x="0" y="63263"/>
                  </a:lnTo>
                  <a:lnTo>
                    <a:pt x="0" y="296740"/>
                  </a:lnTo>
                  <a:lnTo>
                    <a:pt x="4971" y="321365"/>
                  </a:lnTo>
                  <a:lnTo>
                    <a:pt x="18529" y="341474"/>
                  </a:lnTo>
                  <a:lnTo>
                    <a:pt x="38638" y="355032"/>
                  </a:lnTo>
                  <a:lnTo>
                    <a:pt x="63263" y="360004"/>
                  </a:lnTo>
                  <a:lnTo>
                    <a:pt x="782749" y="360004"/>
                  </a:lnTo>
                  <a:lnTo>
                    <a:pt x="807374" y="355032"/>
                  </a:lnTo>
                  <a:lnTo>
                    <a:pt x="827483" y="341474"/>
                  </a:lnTo>
                  <a:lnTo>
                    <a:pt x="841041" y="321365"/>
                  </a:lnTo>
                  <a:lnTo>
                    <a:pt x="846012" y="296740"/>
                  </a:lnTo>
                  <a:lnTo>
                    <a:pt x="846012" y="63263"/>
                  </a:lnTo>
                  <a:lnTo>
                    <a:pt x="841041" y="38638"/>
                  </a:lnTo>
                  <a:lnTo>
                    <a:pt x="827483" y="18529"/>
                  </a:lnTo>
                  <a:lnTo>
                    <a:pt x="807374" y="4971"/>
                  </a:lnTo>
                  <a:lnTo>
                    <a:pt x="782749" y="0"/>
                  </a:lnTo>
                  <a:close/>
                </a:path>
              </a:pathLst>
            </a:custGeom>
            <a:ln w="5060">
              <a:solidFill>
                <a:srgbClr val="308C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923112" y="1022824"/>
            <a:ext cx="496570" cy="3295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18745" marR="5080" indent="-106680">
              <a:lnSpc>
                <a:spcPct val="100000"/>
              </a:lnSpc>
              <a:spcBef>
                <a:spcPts val="95"/>
              </a:spcBef>
            </a:pPr>
            <a:r>
              <a:rPr sz="1000" spc="-40" dirty="0">
                <a:solidFill>
                  <a:srgbClr val="F4F8FC"/>
                </a:solidFill>
                <a:latin typeface="Arial MT"/>
                <a:cs typeface="Arial MT"/>
              </a:rPr>
              <a:t>Financial </a:t>
            </a:r>
            <a:r>
              <a:rPr sz="1000" spc="-20" dirty="0">
                <a:solidFill>
                  <a:srgbClr val="F4F8FC"/>
                </a:solidFill>
                <a:latin typeface="Arial MT"/>
                <a:cs typeface="Arial MT"/>
              </a:rPr>
              <a:t>Data</a:t>
            </a:r>
            <a:endParaRPr sz="1000">
              <a:latin typeface="Arial MT"/>
              <a:cs typeface="Arial MT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1884941" y="1009746"/>
            <a:ext cx="851535" cy="365125"/>
            <a:chOff x="1884941" y="1009746"/>
            <a:chExt cx="851535" cy="365125"/>
          </a:xfrm>
        </p:grpSpPr>
        <p:sp>
          <p:nvSpPr>
            <p:cNvPr id="8" name="object 8"/>
            <p:cNvSpPr/>
            <p:nvPr/>
          </p:nvSpPr>
          <p:spPr>
            <a:xfrm>
              <a:off x="1887481" y="1012286"/>
              <a:ext cx="846455" cy="360045"/>
            </a:xfrm>
            <a:custGeom>
              <a:avLst/>
              <a:gdLst/>
              <a:ahLst/>
              <a:cxnLst/>
              <a:rect l="l" t="t" r="r" b="b"/>
              <a:pathLst>
                <a:path w="846455" h="360044">
                  <a:moveTo>
                    <a:pt x="782749" y="0"/>
                  </a:moveTo>
                  <a:lnTo>
                    <a:pt x="63263" y="0"/>
                  </a:lnTo>
                  <a:lnTo>
                    <a:pt x="38638" y="4971"/>
                  </a:lnTo>
                  <a:lnTo>
                    <a:pt x="18529" y="18529"/>
                  </a:lnTo>
                  <a:lnTo>
                    <a:pt x="4971" y="38638"/>
                  </a:lnTo>
                  <a:lnTo>
                    <a:pt x="0" y="63263"/>
                  </a:lnTo>
                  <a:lnTo>
                    <a:pt x="0" y="296740"/>
                  </a:lnTo>
                  <a:lnTo>
                    <a:pt x="4971" y="321365"/>
                  </a:lnTo>
                  <a:lnTo>
                    <a:pt x="18529" y="341474"/>
                  </a:lnTo>
                  <a:lnTo>
                    <a:pt x="38638" y="355032"/>
                  </a:lnTo>
                  <a:lnTo>
                    <a:pt x="63263" y="360004"/>
                  </a:lnTo>
                  <a:lnTo>
                    <a:pt x="782749" y="360004"/>
                  </a:lnTo>
                  <a:lnTo>
                    <a:pt x="807374" y="355032"/>
                  </a:lnTo>
                  <a:lnTo>
                    <a:pt x="827483" y="341474"/>
                  </a:lnTo>
                  <a:lnTo>
                    <a:pt x="841041" y="321365"/>
                  </a:lnTo>
                  <a:lnTo>
                    <a:pt x="846013" y="296740"/>
                  </a:lnTo>
                  <a:lnTo>
                    <a:pt x="846013" y="63263"/>
                  </a:lnTo>
                  <a:lnTo>
                    <a:pt x="841041" y="38638"/>
                  </a:lnTo>
                  <a:lnTo>
                    <a:pt x="827483" y="18529"/>
                  </a:lnTo>
                  <a:lnTo>
                    <a:pt x="807374" y="4971"/>
                  </a:lnTo>
                  <a:lnTo>
                    <a:pt x="782749" y="0"/>
                  </a:lnTo>
                  <a:close/>
                </a:path>
              </a:pathLst>
            </a:custGeom>
            <a:solidFill>
              <a:srgbClr val="0C18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887481" y="1012286"/>
              <a:ext cx="846455" cy="360045"/>
            </a:xfrm>
            <a:custGeom>
              <a:avLst/>
              <a:gdLst/>
              <a:ahLst/>
              <a:cxnLst/>
              <a:rect l="l" t="t" r="r" b="b"/>
              <a:pathLst>
                <a:path w="846455" h="360044">
                  <a:moveTo>
                    <a:pt x="782749" y="0"/>
                  </a:moveTo>
                  <a:lnTo>
                    <a:pt x="63263" y="0"/>
                  </a:lnTo>
                  <a:lnTo>
                    <a:pt x="38638" y="4971"/>
                  </a:lnTo>
                  <a:lnTo>
                    <a:pt x="18529" y="18529"/>
                  </a:lnTo>
                  <a:lnTo>
                    <a:pt x="4971" y="38638"/>
                  </a:lnTo>
                  <a:lnTo>
                    <a:pt x="0" y="63263"/>
                  </a:lnTo>
                  <a:lnTo>
                    <a:pt x="0" y="296740"/>
                  </a:lnTo>
                  <a:lnTo>
                    <a:pt x="4971" y="321365"/>
                  </a:lnTo>
                  <a:lnTo>
                    <a:pt x="18529" y="341474"/>
                  </a:lnTo>
                  <a:lnTo>
                    <a:pt x="38638" y="355032"/>
                  </a:lnTo>
                  <a:lnTo>
                    <a:pt x="63263" y="360004"/>
                  </a:lnTo>
                  <a:lnTo>
                    <a:pt x="782749" y="360004"/>
                  </a:lnTo>
                  <a:lnTo>
                    <a:pt x="807374" y="355032"/>
                  </a:lnTo>
                  <a:lnTo>
                    <a:pt x="827483" y="341474"/>
                  </a:lnTo>
                  <a:lnTo>
                    <a:pt x="841041" y="321365"/>
                  </a:lnTo>
                  <a:lnTo>
                    <a:pt x="846013" y="296740"/>
                  </a:lnTo>
                  <a:lnTo>
                    <a:pt x="846013" y="63263"/>
                  </a:lnTo>
                  <a:lnTo>
                    <a:pt x="841041" y="38638"/>
                  </a:lnTo>
                  <a:lnTo>
                    <a:pt x="827483" y="18529"/>
                  </a:lnTo>
                  <a:lnTo>
                    <a:pt x="807374" y="4971"/>
                  </a:lnTo>
                  <a:lnTo>
                    <a:pt x="782749" y="0"/>
                  </a:lnTo>
                  <a:close/>
                </a:path>
              </a:pathLst>
            </a:custGeom>
            <a:ln w="5060">
              <a:solidFill>
                <a:srgbClr val="308C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2046541" y="1008765"/>
            <a:ext cx="570230" cy="3295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29845">
              <a:lnSpc>
                <a:spcPct val="100000"/>
              </a:lnSpc>
              <a:spcBef>
                <a:spcPts val="95"/>
              </a:spcBef>
            </a:pPr>
            <a:r>
              <a:rPr sz="1000" spc="-10" dirty="0">
                <a:solidFill>
                  <a:srgbClr val="F4F8FC"/>
                </a:solidFill>
                <a:latin typeface="Arial MT"/>
                <a:cs typeface="Arial MT"/>
              </a:rPr>
              <a:t>Patterns </a:t>
            </a:r>
            <a:r>
              <a:rPr sz="1000" spc="-65" dirty="0">
                <a:solidFill>
                  <a:srgbClr val="F4F8FC"/>
                </a:solidFill>
                <a:latin typeface="Arial MT"/>
                <a:cs typeface="Arial MT"/>
              </a:rPr>
              <a:t>Categories</a:t>
            </a:r>
            <a:endParaRPr sz="1000">
              <a:latin typeface="Arial MT"/>
              <a:cs typeface="Arial MT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3024020" y="1009746"/>
            <a:ext cx="851535" cy="365125"/>
            <a:chOff x="3024020" y="1009746"/>
            <a:chExt cx="851535" cy="365125"/>
          </a:xfrm>
        </p:grpSpPr>
        <p:sp>
          <p:nvSpPr>
            <p:cNvPr id="12" name="object 12"/>
            <p:cNvSpPr/>
            <p:nvPr/>
          </p:nvSpPr>
          <p:spPr>
            <a:xfrm>
              <a:off x="3026560" y="1012286"/>
              <a:ext cx="846455" cy="360045"/>
            </a:xfrm>
            <a:custGeom>
              <a:avLst/>
              <a:gdLst/>
              <a:ahLst/>
              <a:cxnLst/>
              <a:rect l="l" t="t" r="r" b="b"/>
              <a:pathLst>
                <a:path w="846454" h="360044">
                  <a:moveTo>
                    <a:pt x="782749" y="0"/>
                  </a:moveTo>
                  <a:lnTo>
                    <a:pt x="63263" y="0"/>
                  </a:lnTo>
                  <a:lnTo>
                    <a:pt x="38638" y="4971"/>
                  </a:lnTo>
                  <a:lnTo>
                    <a:pt x="18529" y="18529"/>
                  </a:lnTo>
                  <a:lnTo>
                    <a:pt x="4971" y="38638"/>
                  </a:lnTo>
                  <a:lnTo>
                    <a:pt x="0" y="63263"/>
                  </a:lnTo>
                  <a:lnTo>
                    <a:pt x="0" y="296740"/>
                  </a:lnTo>
                  <a:lnTo>
                    <a:pt x="4971" y="321365"/>
                  </a:lnTo>
                  <a:lnTo>
                    <a:pt x="18529" y="341474"/>
                  </a:lnTo>
                  <a:lnTo>
                    <a:pt x="38638" y="355032"/>
                  </a:lnTo>
                  <a:lnTo>
                    <a:pt x="63263" y="360004"/>
                  </a:lnTo>
                  <a:lnTo>
                    <a:pt x="782749" y="360004"/>
                  </a:lnTo>
                  <a:lnTo>
                    <a:pt x="807374" y="355032"/>
                  </a:lnTo>
                  <a:lnTo>
                    <a:pt x="827483" y="341474"/>
                  </a:lnTo>
                  <a:lnTo>
                    <a:pt x="841041" y="321365"/>
                  </a:lnTo>
                  <a:lnTo>
                    <a:pt x="846012" y="296740"/>
                  </a:lnTo>
                  <a:lnTo>
                    <a:pt x="846012" y="63263"/>
                  </a:lnTo>
                  <a:lnTo>
                    <a:pt x="841041" y="38638"/>
                  </a:lnTo>
                  <a:lnTo>
                    <a:pt x="827483" y="18529"/>
                  </a:lnTo>
                  <a:lnTo>
                    <a:pt x="807374" y="4971"/>
                  </a:lnTo>
                  <a:lnTo>
                    <a:pt x="782749" y="0"/>
                  </a:lnTo>
                  <a:close/>
                </a:path>
              </a:pathLst>
            </a:custGeom>
            <a:solidFill>
              <a:srgbClr val="0C18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026560" y="1012286"/>
              <a:ext cx="846455" cy="360045"/>
            </a:xfrm>
            <a:custGeom>
              <a:avLst/>
              <a:gdLst/>
              <a:ahLst/>
              <a:cxnLst/>
              <a:rect l="l" t="t" r="r" b="b"/>
              <a:pathLst>
                <a:path w="846454" h="360044">
                  <a:moveTo>
                    <a:pt x="782749" y="0"/>
                  </a:moveTo>
                  <a:lnTo>
                    <a:pt x="63263" y="0"/>
                  </a:lnTo>
                  <a:lnTo>
                    <a:pt x="38638" y="4971"/>
                  </a:lnTo>
                  <a:lnTo>
                    <a:pt x="18529" y="18529"/>
                  </a:lnTo>
                  <a:lnTo>
                    <a:pt x="4971" y="38638"/>
                  </a:lnTo>
                  <a:lnTo>
                    <a:pt x="0" y="63263"/>
                  </a:lnTo>
                  <a:lnTo>
                    <a:pt x="0" y="296740"/>
                  </a:lnTo>
                  <a:lnTo>
                    <a:pt x="4971" y="321365"/>
                  </a:lnTo>
                  <a:lnTo>
                    <a:pt x="18529" y="341474"/>
                  </a:lnTo>
                  <a:lnTo>
                    <a:pt x="38638" y="355032"/>
                  </a:lnTo>
                  <a:lnTo>
                    <a:pt x="63263" y="360004"/>
                  </a:lnTo>
                  <a:lnTo>
                    <a:pt x="782749" y="360004"/>
                  </a:lnTo>
                  <a:lnTo>
                    <a:pt x="807374" y="355032"/>
                  </a:lnTo>
                  <a:lnTo>
                    <a:pt x="827483" y="341474"/>
                  </a:lnTo>
                  <a:lnTo>
                    <a:pt x="841041" y="321365"/>
                  </a:lnTo>
                  <a:lnTo>
                    <a:pt x="846012" y="296740"/>
                  </a:lnTo>
                  <a:lnTo>
                    <a:pt x="846012" y="63263"/>
                  </a:lnTo>
                  <a:lnTo>
                    <a:pt x="841041" y="38638"/>
                  </a:lnTo>
                  <a:lnTo>
                    <a:pt x="827483" y="18529"/>
                  </a:lnTo>
                  <a:lnTo>
                    <a:pt x="807374" y="4971"/>
                  </a:lnTo>
                  <a:lnTo>
                    <a:pt x="782749" y="0"/>
                  </a:lnTo>
                  <a:close/>
                </a:path>
              </a:pathLst>
            </a:custGeom>
            <a:ln w="5060">
              <a:solidFill>
                <a:srgbClr val="308C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3141675" y="1010531"/>
            <a:ext cx="616585" cy="3295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21590">
              <a:lnSpc>
                <a:spcPct val="100000"/>
              </a:lnSpc>
              <a:spcBef>
                <a:spcPts val="95"/>
              </a:spcBef>
            </a:pPr>
            <a:r>
              <a:rPr sz="1000" spc="-65" dirty="0">
                <a:solidFill>
                  <a:srgbClr val="F4F8FC"/>
                </a:solidFill>
                <a:latin typeface="Arial MT"/>
                <a:cs typeface="Arial MT"/>
              </a:rPr>
              <a:t>Cash-</a:t>
            </a:r>
            <a:r>
              <a:rPr sz="1000" spc="-20" dirty="0">
                <a:solidFill>
                  <a:srgbClr val="F4F8FC"/>
                </a:solidFill>
                <a:latin typeface="Arial MT"/>
                <a:cs typeface="Arial MT"/>
              </a:rPr>
              <a:t>Flow </a:t>
            </a:r>
            <a:r>
              <a:rPr sz="1000" spc="-40" dirty="0">
                <a:solidFill>
                  <a:srgbClr val="F4F8FC"/>
                </a:solidFill>
                <a:latin typeface="Arial MT"/>
                <a:cs typeface="Arial MT"/>
              </a:rPr>
              <a:t>Intelligence</a:t>
            </a:r>
            <a:endParaRPr sz="1000">
              <a:latin typeface="Arial MT"/>
              <a:cs typeface="Arial MT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4163099" y="1009746"/>
            <a:ext cx="851535" cy="365125"/>
            <a:chOff x="4163099" y="1009746"/>
            <a:chExt cx="851535" cy="365125"/>
          </a:xfrm>
        </p:grpSpPr>
        <p:sp>
          <p:nvSpPr>
            <p:cNvPr id="16" name="object 16"/>
            <p:cNvSpPr/>
            <p:nvPr/>
          </p:nvSpPr>
          <p:spPr>
            <a:xfrm>
              <a:off x="4165639" y="1012286"/>
              <a:ext cx="846455" cy="360045"/>
            </a:xfrm>
            <a:custGeom>
              <a:avLst/>
              <a:gdLst/>
              <a:ahLst/>
              <a:cxnLst/>
              <a:rect l="l" t="t" r="r" b="b"/>
              <a:pathLst>
                <a:path w="846454" h="360044">
                  <a:moveTo>
                    <a:pt x="782749" y="0"/>
                  </a:moveTo>
                  <a:lnTo>
                    <a:pt x="63263" y="0"/>
                  </a:lnTo>
                  <a:lnTo>
                    <a:pt x="38638" y="4971"/>
                  </a:lnTo>
                  <a:lnTo>
                    <a:pt x="18529" y="18529"/>
                  </a:lnTo>
                  <a:lnTo>
                    <a:pt x="4971" y="38638"/>
                  </a:lnTo>
                  <a:lnTo>
                    <a:pt x="0" y="63263"/>
                  </a:lnTo>
                  <a:lnTo>
                    <a:pt x="0" y="296740"/>
                  </a:lnTo>
                  <a:lnTo>
                    <a:pt x="4971" y="321365"/>
                  </a:lnTo>
                  <a:lnTo>
                    <a:pt x="18529" y="341474"/>
                  </a:lnTo>
                  <a:lnTo>
                    <a:pt x="38638" y="355032"/>
                  </a:lnTo>
                  <a:lnTo>
                    <a:pt x="63263" y="360004"/>
                  </a:lnTo>
                  <a:lnTo>
                    <a:pt x="782749" y="360004"/>
                  </a:lnTo>
                  <a:lnTo>
                    <a:pt x="807374" y="355032"/>
                  </a:lnTo>
                  <a:lnTo>
                    <a:pt x="827483" y="341474"/>
                  </a:lnTo>
                  <a:lnTo>
                    <a:pt x="841041" y="321365"/>
                  </a:lnTo>
                  <a:lnTo>
                    <a:pt x="846012" y="296740"/>
                  </a:lnTo>
                  <a:lnTo>
                    <a:pt x="846012" y="63263"/>
                  </a:lnTo>
                  <a:lnTo>
                    <a:pt x="841041" y="38638"/>
                  </a:lnTo>
                  <a:lnTo>
                    <a:pt x="827483" y="18529"/>
                  </a:lnTo>
                  <a:lnTo>
                    <a:pt x="807374" y="4971"/>
                  </a:lnTo>
                  <a:lnTo>
                    <a:pt x="782749" y="0"/>
                  </a:lnTo>
                  <a:close/>
                </a:path>
              </a:pathLst>
            </a:custGeom>
            <a:solidFill>
              <a:srgbClr val="0C18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4165639" y="1012286"/>
              <a:ext cx="846455" cy="360045"/>
            </a:xfrm>
            <a:custGeom>
              <a:avLst/>
              <a:gdLst/>
              <a:ahLst/>
              <a:cxnLst/>
              <a:rect l="l" t="t" r="r" b="b"/>
              <a:pathLst>
                <a:path w="846454" h="360044">
                  <a:moveTo>
                    <a:pt x="782749" y="0"/>
                  </a:moveTo>
                  <a:lnTo>
                    <a:pt x="63263" y="0"/>
                  </a:lnTo>
                  <a:lnTo>
                    <a:pt x="38638" y="4971"/>
                  </a:lnTo>
                  <a:lnTo>
                    <a:pt x="18529" y="18529"/>
                  </a:lnTo>
                  <a:lnTo>
                    <a:pt x="4971" y="38638"/>
                  </a:lnTo>
                  <a:lnTo>
                    <a:pt x="0" y="63263"/>
                  </a:lnTo>
                  <a:lnTo>
                    <a:pt x="0" y="296740"/>
                  </a:lnTo>
                  <a:lnTo>
                    <a:pt x="4971" y="321365"/>
                  </a:lnTo>
                  <a:lnTo>
                    <a:pt x="18529" y="341474"/>
                  </a:lnTo>
                  <a:lnTo>
                    <a:pt x="38638" y="355032"/>
                  </a:lnTo>
                  <a:lnTo>
                    <a:pt x="63263" y="360004"/>
                  </a:lnTo>
                  <a:lnTo>
                    <a:pt x="782749" y="360004"/>
                  </a:lnTo>
                  <a:lnTo>
                    <a:pt x="807374" y="355032"/>
                  </a:lnTo>
                  <a:lnTo>
                    <a:pt x="827483" y="341474"/>
                  </a:lnTo>
                  <a:lnTo>
                    <a:pt x="841041" y="321365"/>
                  </a:lnTo>
                  <a:lnTo>
                    <a:pt x="846012" y="296740"/>
                  </a:lnTo>
                  <a:lnTo>
                    <a:pt x="846012" y="63263"/>
                  </a:lnTo>
                  <a:lnTo>
                    <a:pt x="841041" y="38638"/>
                  </a:lnTo>
                  <a:lnTo>
                    <a:pt x="827483" y="18529"/>
                  </a:lnTo>
                  <a:lnTo>
                    <a:pt x="807374" y="4971"/>
                  </a:lnTo>
                  <a:lnTo>
                    <a:pt x="782749" y="0"/>
                  </a:lnTo>
                  <a:close/>
                </a:path>
              </a:pathLst>
            </a:custGeom>
            <a:ln w="5060">
              <a:solidFill>
                <a:srgbClr val="308C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4355236" y="1008765"/>
            <a:ext cx="466725" cy="3295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3495" marR="5080" indent="-11430">
              <a:lnSpc>
                <a:spcPct val="100000"/>
              </a:lnSpc>
              <a:spcBef>
                <a:spcPts val="95"/>
              </a:spcBef>
            </a:pPr>
            <a:r>
              <a:rPr sz="1000" spc="-55" dirty="0">
                <a:solidFill>
                  <a:srgbClr val="F4F8FC"/>
                </a:solidFill>
                <a:latin typeface="Arial MT"/>
                <a:cs typeface="Arial MT"/>
              </a:rPr>
              <a:t>Decision </a:t>
            </a:r>
            <a:r>
              <a:rPr sz="1000" spc="-25" dirty="0">
                <a:solidFill>
                  <a:srgbClr val="F4F8FC"/>
                </a:solidFill>
                <a:latin typeface="Arial MT"/>
                <a:cs typeface="Arial MT"/>
              </a:rPr>
              <a:t>Support</a:t>
            </a:r>
            <a:endParaRPr sz="1000">
              <a:latin typeface="Arial MT"/>
              <a:cs typeface="Arial MT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1596946" y="1158058"/>
            <a:ext cx="2542540" cy="68580"/>
            <a:chOff x="1596946" y="1158058"/>
            <a:chExt cx="2542540" cy="68580"/>
          </a:xfrm>
        </p:grpSpPr>
        <p:pic>
          <p:nvPicPr>
            <p:cNvPr id="20" name="object 2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96946" y="1158058"/>
              <a:ext cx="264295" cy="68460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736025" y="1158058"/>
              <a:ext cx="264295" cy="68460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875104" y="1158058"/>
              <a:ext cx="264295" cy="68460"/>
            </a:xfrm>
            <a:prstGeom prst="rect">
              <a:avLst/>
            </a:prstGeom>
          </p:spPr>
        </p:pic>
      </p:grpSp>
      <p:sp>
        <p:nvSpPr>
          <p:cNvPr id="23" name="object 23"/>
          <p:cNvSpPr txBox="1"/>
          <p:nvPr/>
        </p:nvSpPr>
        <p:spPr>
          <a:xfrm>
            <a:off x="508850" y="1622880"/>
            <a:ext cx="1106805" cy="53594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0"/>
              </a:spcBef>
            </a:pPr>
            <a:r>
              <a:rPr sz="1100" spc="-90" dirty="0">
                <a:solidFill>
                  <a:srgbClr val="A5B2C5"/>
                </a:solidFill>
                <a:latin typeface="Arial MT"/>
                <a:cs typeface="Arial MT"/>
              </a:rPr>
              <a:t>Raw</a:t>
            </a:r>
            <a:r>
              <a:rPr sz="1100" spc="25" dirty="0">
                <a:solidFill>
                  <a:srgbClr val="A5B2C5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A5B2C5"/>
                </a:solidFill>
                <a:latin typeface="Arial MT"/>
                <a:cs typeface="Arial MT"/>
              </a:rPr>
              <a:t>transactions</a:t>
            </a:r>
            <a:endParaRPr sz="1100">
              <a:latin typeface="Arial MT"/>
              <a:cs typeface="Arial MT"/>
            </a:endParaRPr>
          </a:p>
          <a:p>
            <a:pPr algn="ctr">
              <a:lnSpc>
                <a:spcPct val="100000"/>
              </a:lnSpc>
              <a:spcBef>
                <a:spcPts val="35"/>
              </a:spcBef>
            </a:pPr>
            <a:r>
              <a:rPr sz="1100" spc="-50" dirty="0">
                <a:solidFill>
                  <a:srgbClr val="A5B2C5"/>
                </a:solidFill>
                <a:latin typeface="Lucida Sans Unicode"/>
                <a:cs typeface="Lucida Sans Unicode"/>
              </a:rPr>
              <a:t>↓</a:t>
            </a:r>
            <a:endParaRPr sz="1100">
              <a:latin typeface="Lucida Sans Unicode"/>
              <a:cs typeface="Lucida Sans Unicode"/>
            </a:endParaRPr>
          </a:p>
          <a:p>
            <a:pPr algn="ctr">
              <a:lnSpc>
                <a:spcPct val="100000"/>
              </a:lnSpc>
              <a:spcBef>
                <a:spcPts val="35"/>
              </a:spcBef>
            </a:pPr>
            <a:r>
              <a:rPr sz="1100" b="1" dirty="0">
                <a:solidFill>
                  <a:srgbClr val="F4F8FC"/>
                </a:solidFill>
                <a:latin typeface="Arial"/>
                <a:cs typeface="Arial"/>
              </a:rPr>
              <a:t>What</a:t>
            </a:r>
            <a:r>
              <a:rPr sz="1100" b="1" spc="125" dirty="0">
                <a:solidFill>
                  <a:srgbClr val="F4F8FC"/>
                </a:solidFill>
                <a:latin typeface="Arial"/>
                <a:cs typeface="Arial"/>
              </a:rPr>
              <a:t> </a:t>
            </a:r>
            <a:r>
              <a:rPr sz="1100" b="1" spc="-45" dirty="0">
                <a:solidFill>
                  <a:srgbClr val="F4F8FC"/>
                </a:solidFill>
                <a:latin typeface="Arial"/>
                <a:cs typeface="Arial"/>
              </a:rPr>
              <a:t>happened?</a:t>
            </a:r>
            <a:endParaRPr sz="1100">
              <a:latin typeface="Arial"/>
              <a:cs typeface="Arial"/>
            </a:endParaRPr>
          </a:p>
        </p:txBody>
      </p:sp>
      <p:sp>
        <p:nvSpPr>
          <p:cNvPr id="26" name="object 2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/>
              <a:t>FinPilot</a:t>
            </a:r>
            <a:r>
              <a:rPr spc="45" dirty="0"/>
              <a:t> </a:t>
            </a:r>
            <a:r>
              <a:rPr dirty="0"/>
              <a:t>—</a:t>
            </a:r>
            <a:r>
              <a:rPr spc="50" dirty="0"/>
              <a:t> </a:t>
            </a:r>
            <a:r>
              <a:rPr dirty="0"/>
              <a:t>AI</a:t>
            </a:r>
            <a:r>
              <a:rPr spc="55" dirty="0"/>
              <a:t> </a:t>
            </a:r>
            <a:r>
              <a:rPr spc="-20" dirty="0"/>
              <a:t>Personal</a:t>
            </a:r>
            <a:r>
              <a:rPr spc="50" dirty="0"/>
              <a:t> </a:t>
            </a:r>
            <a:r>
              <a:rPr spc="-20" dirty="0"/>
              <a:t>Finance</a:t>
            </a:r>
            <a:r>
              <a:rPr spc="55" dirty="0"/>
              <a:t> </a:t>
            </a:r>
            <a:r>
              <a:rPr spc="-10" dirty="0"/>
              <a:t>Decision</a:t>
            </a:r>
            <a:r>
              <a:rPr spc="50" dirty="0"/>
              <a:t> </a:t>
            </a:r>
            <a:r>
              <a:rPr dirty="0"/>
              <a:t>Support</a:t>
            </a:r>
            <a:r>
              <a:rPr spc="45" dirty="0"/>
              <a:t> </a:t>
            </a:r>
            <a:r>
              <a:rPr spc="-10" dirty="0"/>
              <a:t>Agent</a:t>
            </a:r>
          </a:p>
        </p:txBody>
      </p:sp>
      <p:sp>
        <p:nvSpPr>
          <p:cNvPr id="27" name="object 2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66040">
              <a:lnSpc>
                <a:spcPct val="100000"/>
              </a:lnSpc>
              <a:spcBef>
                <a:spcPts val="25"/>
              </a:spcBef>
            </a:pPr>
            <a:r>
              <a:rPr spc="-50" dirty="0"/>
              <a:t>3</a:t>
            </a:r>
          </a:p>
        </p:txBody>
      </p:sp>
      <p:sp>
        <p:nvSpPr>
          <p:cNvPr id="24" name="object 24"/>
          <p:cNvSpPr txBox="1"/>
          <p:nvPr/>
        </p:nvSpPr>
        <p:spPr>
          <a:xfrm>
            <a:off x="2207450" y="1625331"/>
            <a:ext cx="1345565" cy="53594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0"/>
              </a:spcBef>
            </a:pPr>
            <a:r>
              <a:rPr sz="1100" spc="-10" dirty="0">
                <a:solidFill>
                  <a:srgbClr val="A5B2C5"/>
                </a:solidFill>
                <a:latin typeface="Arial MT"/>
                <a:cs typeface="Arial MT"/>
              </a:rPr>
              <a:t>Analytics</a:t>
            </a:r>
            <a:endParaRPr sz="1100">
              <a:latin typeface="Arial MT"/>
              <a:cs typeface="Arial MT"/>
            </a:endParaRPr>
          </a:p>
          <a:p>
            <a:pPr algn="ctr">
              <a:lnSpc>
                <a:spcPct val="100000"/>
              </a:lnSpc>
              <a:spcBef>
                <a:spcPts val="35"/>
              </a:spcBef>
            </a:pPr>
            <a:r>
              <a:rPr sz="1100" spc="-50" dirty="0">
                <a:solidFill>
                  <a:srgbClr val="A5B2C5"/>
                </a:solidFill>
                <a:latin typeface="Lucida Sans Unicode"/>
                <a:cs typeface="Lucida Sans Unicode"/>
              </a:rPr>
              <a:t>↓</a:t>
            </a:r>
            <a:endParaRPr sz="1100">
              <a:latin typeface="Lucida Sans Unicode"/>
              <a:cs typeface="Lucida Sans Unicode"/>
            </a:endParaRPr>
          </a:p>
          <a:p>
            <a:pPr algn="ctr">
              <a:lnSpc>
                <a:spcPct val="100000"/>
              </a:lnSpc>
              <a:spcBef>
                <a:spcPts val="35"/>
              </a:spcBef>
            </a:pPr>
            <a:r>
              <a:rPr sz="1100" b="1" dirty="0">
                <a:solidFill>
                  <a:srgbClr val="F4F8FC"/>
                </a:solidFill>
                <a:latin typeface="Arial"/>
                <a:cs typeface="Arial"/>
              </a:rPr>
              <a:t>Why</a:t>
            </a:r>
            <a:r>
              <a:rPr sz="1100" b="1" spc="50" dirty="0">
                <a:solidFill>
                  <a:srgbClr val="F4F8FC"/>
                </a:solidFill>
                <a:latin typeface="Arial"/>
                <a:cs typeface="Arial"/>
              </a:rPr>
              <a:t> </a:t>
            </a:r>
            <a:r>
              <a:rPr sz="1100" b="1" spc="-55" dirty="0">
                <a:solidFill>
                  <a:srgbClr val="F4F8FC"/>
                </a:solidFill>
                <a:latin typeface="Arial"/>
                <a:cs typeface="Arial"/>
              </a:rPr>
              <a:t>does</a:t>
            </a:r>
            <a:r>
              <a:rPr sz="1100" b="1" spc="55" dirty="0">
                <a:solidFill>
                  <a:srgbClr val="F4F8FC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F4F8FC"/>
                </a:solidFill>
                <a:latin typeface="Arial"/>
                <a:cs typeface="Arial"/>
              </a:rPr>
              <a:t>it</a:t>
            </a:r>
            <a:r>
              <a:rPr sz="1100" b="1" spc="50" dirty="0">
                <a:solidFill>
                  <a:srgbClr val="F4F8FC"/>
                </a:solidFill>
                <a:latin typeface="Arial"/>
                <a:cs typeface="Arial"/>
              </a:rPr>
              <a:t> </a:t>
            </a:r>
            <a:r>
              <a:rPr sz="1100" b="1" spc="-10" dirty="0">
                <a:solidFill>
                  <a:srgbClr val="F4F8FC"/>
                </a:solidFill>
                <a:latin typeface="Arial"/>
                <a:cs typeface="Arial"/>
              </a:rPr>
              <a:t>matter?</a:t>
            </a:r>
            <a:endParaRPr sz="110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4189907" y="1636266"/>
            <a:ext cx="1016000" cy="53594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solidFill>
                  <a:srgbClr val="A5B2C5"/>
                </a:solidFill>
                <a:latin typeface="Arial MT"/>
                <a:cs typeface="Arial MT"/>
              </a:rPr>
              <a:t>AI</a:t>
            </a:r>
            <a:r>
              <a:rPr sz="1100" spc="20" dirty="0">
                <a:solidFill>
                  <a:srgbClr val="A5B2C5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A5B2C5"/>
                </a:solidFill>
                <a:latin typeface="Arial MT"/>
                <a:cs typeface="Arial MT"/>
              </a:rPr>
              <a:t>interaction</a:t>
            </a:r>
            <a:endParaRPr sz="1100">
              <a:latin typeface="Arial MT"/>
              <a:cs typeface="Arial MT"/>
            </a:endParaRPr>
          </a:p>
          <a:p>
            <a:pPr algn="ctr">
              <a:lnSpc>
                <a:spcPct val="100000"/>
              </a:lnSpc>
              <a:spcBef>
                <a:spcPts val="35"/>
              </a:spcBef>
            </a:pPr>
            <a:r>
              <a:rPr sz="1100" spc="-50" dirty="0">
                <a:solidFill>
                  <a:srgbClr val="A5B2C5"/>
                </a:solidFill>
                <a:latin typeface="Lucida Sans Unicode"/>
                <a:cs typeface="Lucida Sans Unicode"/>
              </a:rPr>
              <a:t>↓</a:t>
            </a:r>
            <a:endParaRPr sz="1100">
              <a:latin typeface="Lucida Sans Unicode"/>
              <a:cs typeface="Lucida Sans Unicode"/>
            </a:endParaRPr>
          </a:p>
          <a:p>
            <a:pPr algn="ctr">
              <a:lnSpc>
                <a:spcPct val="100000"/>
              </a:lnSpc>
              <a:spcBef>
                <a:spcPts val="35"/>
              </a:spcBef>
            </a:pPr>
            <a:r>
              <a:rPr sz="1100" b="1" dirty="0">
                <a:solidFill>
                  <a:srgbClr val="F4F8FC"/>
                </a:solidFill>
                <a:latin typeface="Arial"/>
                <a:cs typeface="Arial"/>
              </a:rPr>
              <a:t>What</a:t>
            </a:r>
            <a:r>
              <a:rPr sz="1100" b="1" spc="75" dirty="0">
                <a:solidFill>
                  <a:srgbClr val="F4F8FC"/>
                </a:solidFill>
                <a:latin typeface="Arial"/>
                <a:cs typeface="Arial"/>
              </a:rPr>
              <a:t> </a:t>
            </a:r>
            <a:r>
              <a:rPr sz="1100" b="1" spc="-25" dirty="0">
                <a:solidFill>
                  <a:srgbClr val="F4F8FC"/>
                </a:solidFill>
                <a:latin typeface="Arial"/>
                <a:cs typeface="Arial"/>
              </a:rPr>
              <a:t>can</a:t>
            </a:r>
            <a:r>
              <a:rPr sz="1100" b="1" spc="75" dirty="0">
                <a:solidFill>
                  <a:srgbClr val="F4F8FC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F4F8FC"/>
                </a:solidFill>
                <a:latin typeface="Arial"/>
                <a:cs typeface="Arial"/>
              </a:rPr>
              <a:t>I</a:t>
            </a:r>
            <a:r>
              <a:rPr sz="1100" b="1" spc="80" dirty="0">
                <a:solidFill>
                  <a:srgbClr val="F4F8FC"/>
                </a:solidFill>
                <a:latin typeface="Arial"/>
                <a:cs typeface="Arial"/>
              </a:rPr>
              <a:t> </a:t>
            </a:r>
            <a:r>
              <a:rPr sz="1100" b="1" spc="-25" dirty="0">
                <a:solidFill>
                  <a:srgbClr val="F4F8FC"/>
                </a:solidFill>
                <a:latin typeface="Arial"/>
                <a:cs typeface="Arial"/>
              </a:rPr>
              <a:t>do?</a:t>
            </a:r>
            <a:endParaRPr sz="1100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85305" y="49431"/>
            <a:ext cx="1143000" cy="60960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38430" marR="5080" indent="-126364">
              <a:lnSpc>
                <a:spcPct val="136900"/>
              </a:lnSpc>
              <a:spcBef>
                <a:spcPts val="90"/>
              </a:spcBef>
            </a:pPr>
            <a:r>
              <a:rPr dirty="0"/>
              <a:t>Our</a:t>
            </a:r>
            <a:r>
              <a:rPr spc="280" dirty="0"/>
              <a:t> </a:t>
            </a:r>
            <a:r>
              <a:rPr spc="-10" dirty="0"/>
              <a:t>Solution </a:t>
            </a:r>
            <a:r>
              <a:rPr spc="-10" dirty="0">
                <a:solidFill>
                  <a:srgbClr val="27D2DC"/>
                </a:solidFill>
              </a:rPr>
              <a:t>FinPilot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11302" y="702613"/>
            <a:ext cx="2780665" cy="53594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solidFill>
                  <a:srgbClr val="F4F8FC"/>
                </a:solidFill>
                <a:latin typeface="Arial MT"/>
                <a:cs typeface="Arial MT"/>
              </a:rPr>
              <a:t>An</a:t>
            </a:r>
            <a:r>
              <a:rPr sz="1100" spc="10" dirty="0">
                <a:solidFill>
                  <a:srgbClr val="F4F8FC"/>
                </a:solidFill>
                <a:latin typeface="Arial MT"/>
                <a:cs typeface="Arial MT"/>
              </a:rPr>
              <a:t> </a:t>
            </a:r>
            <a:r>
              <a:rPr sz="1100" spc="-30" dirty="0">
                <a:solidFill>
                  <a:srgbClr val="F4F8FC"/>
                </a:solidFill>
                <a:latin typeface="Arial MT"/>
                <a:cs typeface="Arial MT"/>
              </a:rPr>
              <a:t>AI-</a:t>
            </a:r>
            <a:r>
              <a:rPr sz="1100" spc="-75" dirty="0">
                <a:solidFill>
                  <a:srgbClr val="F4F8FC"/>
                </a:solidFill>
                <a:latin typeface="Arial MT"/>
                <a:cs typeface="Arial MT"/>
              </a:rPr>
              <a:t>powered</a:t>
            </a:r>
            <a:r>
              <a:rPr sz="1100" spc="10" dirty="0">
                <a:solidFill>
                  <a:srgbClr val="F4F8FC"/>
                </a:solidFill>
                <a:latin typeface="Arial MT"/>
                <a:cs typeface="Arial MT"/>
              </a:rPr>
              <a:t> </a:t>
            </a:r>
            <a:r>
              <a:rPr sz="1100" spc="-65" dirty="0">
                <a:solidFill>
                  <a:srgbClr val="F4F8FC"/>
                </a:solidFill>
                <a:latin typeface="Arial MT"/>
                <a:cs typeface="Arial MT"/>
              </a:rPr>
              <a:t>personal</a:t>
            </a:r>
            <a:r>
              <a:rPr sz="1100" spc="15" dirty="0">
                <a:solidFill>
                  <a:srgbClr val="F4F8FC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F4F8FC"/>
                </a:solidFill>
                <a:latin typeface="Arial MT"/>
                <a:cs typeface="Arial MT"/>
              </a:rPr>
              <a:t>finance</a:t>
            </a:r>
            <a:endParaRPr sz="1100">
              <a:latin typeface="Arial MT"/>
              <a:cs typeface="Arial MT"/>
            </a:endParaRPr>
          </a:p>
          <a:p>
            <a:pPr marL="12700" marR="5080">
              <a:lnSpc>
                <a:spcPct val="102699"/>
              </a:lnSpc>
            </a:pPr>
            <a:r>
              <a:rPr sz="1100" spc="-70" dirty="0">
                <a:solidFill>
                  <a:srgbClr val="F4F8FC"/>
                </a:solidFill>
                <a:latin typeface="Arial MT"/>
                <a:cs typeface="Arial MT"/>
              </a:rPr>
              <a:t>decision-</a:t>
            </a:r>
            <a:r>
              <a:rPr sz="1100" spc="-30" dirty="0">
                <a:solidFill>
                  <a:srgbClr val="F4F8FC"/>
                </a:solidFill>
                <a:latin typeface="Arial MT"/>
                <a:cs typeface="Arial MT"/>
              </a:rPr>
              <a:t>support</a:t>
            </a:r>
            <a:r>
              <a:rPr sz="1100" spc="25" dirty="0">
                <a:solidFill>
                  <a:srgbClr val="F4F8FC"/>
                </a:solidFill>
                <a:latin typeface="Arial MT"/>
                <a:cs typeface="Arial MT"/>
              </a:rPr>
              <a:t> </a:t>
            </a:r>
            <a:r>
              <a:rPr sz="1100" spc="-50" dirty="0">
                <a:solidFill>
                  <a:srgbClr val="F4F8FC"/>
                </a:solidFill>
                <a:latin typeface="Arial MT"/>
                <a:cs typeface="Arial MT"/>
              </a:rPr>
              <a:t>agent</a:t>
            </a:r>
            <a:r>
              <a:rPr sz="1100" spc="25" dirty="0">
                <a:solidFill>
                  <a:srgbClr val="F4F8FC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F4F8FC"/>
                </a:solidFill>
                <a:latin typeface="Arial MT"/>
                <a:cs typeface="Arial MT"/>
              </a:rPr>
              <a:t>that</a:t>
            </a:r>
            <a:r>
              <a:rPr sz="1100" spc="30" dirty="0">
                <a:solidFill>
                  <a:srgbClr val="F4F8FC"/>
                </a:solidFill>
                <a:latin typeface="Arial MT"/>
                <a:cs typeface="Arial MT"/>
              </a:rPr>
              <a:t> </a:t>
            </a:r>
            <a:r>
              <a:rPr sz="1100" spc="-45" dirty="0">
                <a:solidFill>
                  <a:srgbClr val="F4F8FC"/>
                </a:solidFill>
                <a:latin typeface="Arial MT"/>
                <a:cs typeface="Arial MT"/>
              </a:rPr>
              <a:t>transforms</a:t>
            </a:r>
            <a:r>
              <a:rPr sz="1100" spc="25" dirty="0">
                <a:solidFill>
                  <a:srgbClr val="F4F8FC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F4F8FC"/>
                </a:solidFill>
                <a:latin typeface="Arial MT"/>
                <a:cs typeface="Arial MT"/>
              </a:rPr>
              <a:t>financial </a:t>
            </a:r>
            <a:r>
              <a:rPr sz="1100" spc="-75" dirty="0">
                <a:solidFill>
                  <a:srgbClr val="F4F8FC"/>
                </a:solidFill>
                <a:latin typeface="Arial MT"/>
                <a:cs typeface="Arial MT"/>
              </a:rPr>
              <a:t>records</a:t>
            </a:r>
            <a:r>
              <a:rPr sz="1100" spc="5" dirty="0">
                <a:solidFill>
                  <a:srgbClr val="F4F8FC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F4F8FC"/>
                </a:solidFill>
                <a:latin typeface="Arial MT"/>
                <a:cs typeface="Arial MT"/>
              </a:rPr>
              <a:t>into</a:t>
            </a:r>
            <a:r>
              <a:rPr sz="1100" spc="5" dirty="0">
                <a:solidFill>
                  <a:srgbClr val="F4F8FC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F4F8FC"/>
                </a:solidFill>
                <a:latin typeface="Arial MT"/>
                <a:cs typeface="Arial MT"/>
              </a:rPr>
              <a:t>a</a:t>
            </a:r>
            <a:r>
              <a:rPr sz="1100" spc="5" dirty="0">
                <a:solidFill>
                  <a:srgbClr val="F4F8FC"/>
                </a:solidFill>
                <a:latin typeface="Arial MT"/>
                <a:cs typeface="Arial MT"/>
              </a:rPr>
              <a:t> </a:t>
            </a:r>
            <a:r>
              <a:rPr sz="1100" spc="-30" dirty="0">
                <a:solidFill>
                  <a:srgbClr val="F4F8FC"/>
                </a:solidFill>
                <a:latin typeface="Arial MT"/>
                <a:cs typeface="Arial MT"/>
              </a:rPr>
              <a:t>unified</a:t>
            </a:r>
            <a:r>
              <a:rPr sz="1100" spc="5" dirty="0">
                <a:solidFill>
                  <a:srgbClr val="F4F8FC"/>
                </a:solidFill>
                <a:latin typeface="Arial MT"/>
                <a:cs typeface="Arial MT"/>
              </a:rPr>
              <a:t> </a:t>
            </a:r>
            <a:r>
              <a:rPr sz="1100" spc="-35" dirty="0">
                <a:solidFill>
                  <a:srgbClr val="F4F8FC"/>
                </a:solidFill>
                <a:latin typeface="Arial MT"/>
                <a:cs typeface="Arial MT"/>
              </a:rPr>
              <a:t>financial</a:t>
            </a:r>
            <a:r>
              <a:rPr sz="1100" spc="5" dirty="0">
                <a:solidFill>
                  <a:srgbClr val="F4F8FC"/>
                </a:solidFill>
                <a:latin typeface="Arial MT"/>
                <a:cs typeface="Arial MT"/>
              </a:rPr>
              <a:t> </a:t>
            </a:r>
            <a:r>
              <a:rPr sz="1100" spc="-50" dirty="0">
                <a:solidFill>
                  <a:srgbClr val="F4F8FC"/>
                </a:solidFill>
                <a:latin typeface="Arial MT"/>
                <a:cs typeface="Arial MT"/>
              </a:rPr>
              <a:t>intelligence</a:t>
            </a:r>
            <a:r>
              <a:rPr sz="1100" spc="5" dirty="0">
                <a:solidFill>
                  <a:srgbClr val="F4F8FC"/>
                </a:solidFill>
                <a:latin typeface="Arial MT"/>
                <a:cs typeface="Arial MT"/>
              </a:rPr>
              <a:t> </a:t>
            </a:r>
            <a:r>
              <a:rPr sz="1100" spc="-25" dirty="0">
                <a:solidFill>
                  <a:srgbClr val="F4F8FC"/>
                </a:solidFill>
                <a:latin typeface="Arial MT"/>
                <a:cs typeface="Arial MT"/>
              </a:rPr>
              <a:t>layer.</a:t>
            </a:r>
            <a:endParaRPr sz="1100">
              <a:latin typeface="Arial MT"/>
              <a:cs typeface="Arial MT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3420017" y="480653"/>
            <a:ext cx="1805305" cy="1805305"/>
            <a:chOff x="3420017" y="480653"/>
            <a:chExt cx="1805305" cy="1805305"/>
          </a:xfrm>
        </p:grpSpPr>
        <p:sp>
          <p:nvSpPr>
            <p:cNvPr id="5" name="object 5"/>
            <p:cNvSpPr/>
            <p:nvPr/>
          </p:nvSpPr>
          <p:spPr>
            <a:xfrm>
              <a:off x="3422548" y="483183"/>
              <a:ext cx="1800225" cy="1800225"/>
            </a:xfrm>
            <a:custGeom>
              <a:avLst/>
              <a:gdLst/>
              <a:ahLst/>
              <a:cxnLst/>
              <a:rect l="l" t="t" r="r" b="b"/>
              <a:pathLst>
                <a:path w="1800225" h="1800225">
                  <a:moveTo>
                    <a:pt x="1673495" y="0"/>
                  </a:moveTo>
                  <a:lnTo>
                    <a:pt x="126527" y="0"/>
                  </a:lnTo>
                  <a:lnTo>
                    <a:pt x="77276" y="9942"/>
                  </a:lnTo>
                  <a:lnTo>
                    <a:pt x="37058" y="37058"/>
                  </a:lnTo>
                  <a:lnTo>
                    <a:pt x="9942" y="77276"/>
                  </a:lnTo>
                  <a:lnTo>
                    <a:pt x="0" y="126527"/>
                  </a:lnTo>
                  <a:lnTo>
                    <a:pt x="0" y="1673495"/>
                  </a:lnTo>
                  <a:lnTo>
                    <a:pt x="9942" y="1722745"/>
                  </a:lnTo>
                  <a:lnTo>
                    <a:pt x="37058" y="1762964"/>
                  </a:lnTo>
                  <a:lnTo>
                    <a:pt x="77276" y="1790079"/>
                  </a:lnTo>
                  <a:lnTo>
                    <a:pt x="126527" y="1800022"/>
                  </a:lnTo>
                  <a:lnTo>
                    <a:pt x="1673495" y="1800022"/>
                  </a:lnTo>
                  <a:lnTo>
                    <a:pt x="1722745" y="1790079"/>
                  </a:lnTo>
                  <a:lnTo>
                    <a:pt x="1762964" y="1762964"/>
                  </a:lnTo>
                  <a:lnTo>
                    <a:pt x="1790079" y="1722745"/>
                  </a:lnTo>
                  <a:lnTo>
                    <a:pt x="1800022" y="1673495"/>
                  </a:lnTo>
                  <a:lnTo>
                    <a:pt x="1800022" y="126527"/>
                  </a:lnTo>
                  <a:lnTo>
                    <a:pt x="1790079" y="77276"/>
                  </a:lnTo>
                  <a:lnTo>
                    <a:pt x="1762964" y="37058"/>
                  </a:lnTo>
                  <a:lnTo>
                    <a:pt x="1722745" y="9942"/>
                  </a:lnTo>
                  <a:lnTo>
                    <a:pt x="1673495" y="0"/>
                  </a:lnTo>
                  <a:close/>
                </a:path>
              </a:pathLst>
            </a:custGeom>
            <a:solidFill>
              <a:srgbClr val="0C18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422548" y="483183"/>
              <a:ext cx="1800225" cy="1800225"/>
            </a:xfrm>
            <a:custGeom>
              <a:avLst/>
              <a:gdLst/>
              <a:ahLst/>
              <a:cxnLst/>
              <a:rect l="l" t="t" r="r" b="b"/>
              <a:pathLst>
                <a:path w="1800225" h="1800225">
                  <a:moveTo>
                    <a:pt x="1673495" y="0"/>
                  </a:moveTo>
                  <a:lnTo>
                    <a:pt x="126527" y="0"/>
                  </a:lnTo>
                  <a:lnTo>
                    <a:pt x="77276" y="9942"/>
                  </a:lnTo>
                  <a:lnTo>
                    <a:pt x="37058" y="37058"/>
                  </a:lnTo>
                  <a:lnTo>
                    <a:pt x="9942" y="77276"/>
                  </a:lnTo>
                  <a:lnTo>
                    <a:pt x="0" y="126527"/>
                  </a:lnTo>
                  <a:lnTo>
                    <a:pt x="0" y="1673495"/>
                  </a:lnTo>
                  <a:lnTo>
                    <a:pt x="9942" y="1722745"/>
                  </a:lnTo>
                  <a:lnTo>
                    <a:pt x="37058" y="1762964"/>
                  </a:lnTo>
                  <a:lnTo>
                    <a:pt x="77276" y="1790079"/>
                  </a:lnTo>
                  <a:lnTo>
                    <a:pt x="126527" y="1800022"/>
                  </a:lnTo>
                  <a:lnTo>
                    <a:pt x="1673495" y="1800022"/>
                  </a:lnTo>
                  <a:lnTo>
                    <a:pt x="1722745" y="1790079"/>
                  </a:lnTo>
                  <a:lnTo>
                    <a:pt x="1762964" y="1762964"/>
                  </a:lnTo>
                  <a:lnTo>
                    <a:pt x="1790079" y="1722745"/>
                  </a:lnTo>
                  <a:lnTo>
                    <a:pt x="1800022" y="1673495"/>
                  </a:lnTo>
                  <a:lnTo>
                    <a:pt x="1800022" y="126527"/>
                  </a:lnTo>
                  <a:lnTo>
                    <a:pt x="1790079" y="77276"/>
                  </a:lnTo>
                  <a:lnTo>
                    <a:pt x="1762964" y="37058"/>
                  </a:lnTo>
                  <a:lnTo>
                    <a:pt x="1722745" y="9942"/>
                  </a:lnTo>
                  <a:lnTo>
                    <a:pt x="1673495" y="0"/>
                  </a:lnTo>
                  <a:close/>
                </a:path>
              </a:pathLst>
            </a:custGeom>
            <a:ln w="5060">
              <a:solidFill>
                <a:srgbClr val="27D2D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125810" y="711111"/>
              <a:ext cx="393700" cy="317500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3847058" y="981645"/>
            <a:ext cx="950594" cy="1086485"/>
          </a:xfrm>
          <a:prstGeom prst="rect">
            <a:avLst/>
          </a:prstGeom>
        </p:spPr>
        <p:txBody>
          <a:bodyPr vert="horz" wrap="square" lIns="0" tIns="10795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850"/>
              </a:spcBef>
            </a:pPr>
            <a:r>
              <a:rPr sz="1400" b="1" spc="95" dirty="0">
                <a:solidFill>
                  <a:srgbClr val="F4F8FC"/>
                </a:solidFill>
                <a:latin typeface="Arial"/>
                <a:cs typeface="Arial"/>
              </a:rPr>
              <a:t>FINPILOT</a:t>
            </a:r>
            <a:endParaRPr sz="1400">
              <a:latin typeface="Arial"/>
              <a:cs typeface="Arial"/>
            </a:endParaRPr>
          </a:p>
          <a:p>
            <a:pPr marL="148590" marR="140970" algn="ctr">
              <a:lnSpc>
                <a:spcPct val="102600"/>
              </a:lnSpc>
              <a:spcBef>
                <a:spcPts val="505"/>
              </a:spcBef>
            </a:pPr>
            <a:r>
              <a:rPr sz="1100" spc="-65" dirty="0">
                <a:solidFill>
                  <a:srgbClr val="A5B2C5"/>
                </a:solidFill>
                <a:latin typeface="Arial MT"/>
                <a:cs typeface="Arial MT"/>
              </a:rPr>
              <a:t>Understand </a:t>
            </a:r>
            <a:r>
              <a:rPr sz="1100" spc="-10" dirty="0">
                <a:solidFill>
                  <a:srgbClr val="A5B2C5"/>
                </a:solidFill>
                <a:latin typeface="Arial MT"/>
                <a:cs typeface="Arial MT"/>
              </a:rPr>
              <a:t>Analyze Simulate Explain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71615" y="1339022"/>
            <a:ext cx="2613025" cy="1898650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426720" indent="-207645">
              <a:lnSpc>
                <a:spcPct val="100000"/>
              </a:lnSpc>
              <a:spcBef>
                <a:spcPts val="434"/>
              </a:spcBef>
              <a:buClr>
                <a:srgbClr val="27D2DC"/>
              </a:buClr>
              <a:buSzPct val="90909"/>
              <a:buFont typeface="Lucida Sans Unicode"/>
              <a:buChar char="►"/>
              <a:tabLst>
                <a:tab pos="426720" algn="l"/>
              </a:tabLst>
            </a:pPr>
            <a:r>
              <a:rPr sz="1100" spc="-45" dirty="0">
                <a:solidFill>
                  <a:srgbClr val="F4F8FC"/>
                </a:solidFill>
                <a:latin typeface="Arial MT"/>
                <a:cs typeface="Arial MT"/>
              </a:rPr>
              <a:t>Ingest</a:t>
            </a:r>
            <a:r>
              <a:rPr sz="1100" spc="-25" dirty="0">
                <a:solidFill>
                  <a:srgbClr val="F4F8FC"/>
                </a:solidFill>
                <a:latin typeface="Arial MT"/>
                <a:cs typeface="Arial MT"/>
              </a:rPr>
              <a:t> </a:t>
            </a:r>
            <a:r>
              <a:rPr sz="1100" spc="-35" dirty="0">
                <a:solidFill>
                  <a:srgbClr val="F4F8FC"/>
                </a:solidFill>
                <a:latin typeface="Arial MT"/>
                <a:cs typeface="Arial MT"/>
              </a:rPr>
              <a:t>financial</a:t>
            </a:r>
            <a:r>
              <a:rPr sz="1100" spc="-25" dirty="0">
                <a:solidFill>
                  <a:srgbClr val="F4F8FC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F4F8FC"/>
                </a:solidFill>
                <a:latin typeface="Arial MT"/>
                <a:cs typeface="Arial MT"/>
              </a:rPr>
              <a:t>documents</a:t>
            </a:r>
            <a:endParaRPr sz="1100">
              <a:latin typeface="Arial MT"/>
              <a:cs typeface="Arial MT"/>
            </a:endParaRPr>
          </a:p>
          <a:p>
            <a:pPr marL="426720" indent="-207645">
              <a:lnSpc>
                <a:spcPct val="100000"/>
              </a:lnSpc>
              <a:spcBef>
                <a:spcPts val="334"/>
              </a:spcBef>
              <a:buClr>
                <a:srgbClr val="27D2DC"/>
              </a:buClr>
              <a:buSzPct val="90909"/>
              <a:buFont typeface="Lucida Sans Unicode"/>
              <a:buChar char="►"/>
              <a:tabLst>
                <a:tab pos="426720" algn="l"/>
              </a:tabLst>
            </a:pPr>
            <a:r>
              <a:rPr sz="1100" spc="-55" dirty="0">
                <a:solidFill>
                  <a:srgbClr val="F4F8FC"/>
                </a:solidFill>
                <a:latin typeface="Arial MT"/>
                <a:cs typeface="Arial MT"/>
              </a:rPr>
              <a:t>Normalize</a:t>
            </a:r>
            <a:r>
              <a:rPr sz="1100" spc="10" dirty="0">
                <a:solidFill>
                  <a:srgbClr val="F4F8FC"/>
                </a:solidFill>
                <a:latin typeface="Arial MT"/>
                <a:cs typeface="Arial MT"/>
              </a:rPr>
              <a:t> </a:t>
            </a:r>
            <a:r>
              <a:rPr sz="1100" spc="-35" dirty="0">
                <a:solidFill>
                  <a:srgbClr val="F4F8FC"/>
                </a:solidFill>
                <a:latin typeface="Arial MT"/>
                <a:cs typeface="Arial MT"/>
              </a:rPr>
              <a:t>financial</a:t>
            </a:r>
            <a:r>
              <a:rPr sz="1100" spc="10" dirty="0">
                <a:solidFill>
                  <a:srgbClr val="F4F8FC"/>
                </a:solidFill>
                <a:latin typeface="Arial MT"/>
                <a:cs typeface="Arial MT"/>
              </a:rPr>
              <a:t> </a:t>
            </a:r>
            <a:r>
              <a:rPr sz="1100" spc="-20" dirty="0">
                <a:solidFill>
                  <a:srgbClr val="F4F8FC"/>
                </a:solidFill>
                <a:latin typeface="Arial MT"/>
                <a:cs typeface="Arial MT"/>
              </a:rPr>
              <a:t>data</a:t>
            </a:r>
            <a:endParaRPr sz="1100">
              <a:latin typeface="Arial MT"/>
              <a:cs typeface="Arial MT"/>
            </a:endParaRPr>
          </a:p>
          <a:p>
            <a:pPr marL="426720" indent="-207645">
              <a:lnSpc>
                <a:spcPct val="100000"/>
              </a:lnSpc>
              <a:spcBef>
                <a:spcPts val="330"/>
              </a:spcBef>
              <a:buClr>
                <a:srgbClr val="27D2DC"/>
              </a:buClr>
              <a:buSzPct val="90909"/>
              <a:buFont typeface="Lucida Sans Unicode"/>
              <a:buChar char="►"/>
              <a:tabLst>
                <a:tab pos="426720" algn="l"/>
              </a:tabLst>
            </a:pPr>
            <a:r>
              <a:rPr sz="1100" spc="-70" dirty="0">
                <a:solidFill>
                  <a:srgbClr val="F4F8FC"/>
                </a:solidFill>
                <a:latin typeface="Arial MT"/>
                <a:cs typeface="Arial MT"/>
              </a:rPr>
              <a:t>Categorize</a:t>
            </a:r>
            <a:r>
              <a:rPr sz="1100" spc="80" dirty="0">
                <a:solidFill>
                  <a:srgbClr val="F4F8FC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F4F8FC"/>
                </a:solidFill>
                <a:latin typeface="Arial MT"/>
                <a:cs typeface="Arial MT"/>
              </a:rPr>
              <a:t>transactions</a:t>
            </a:r>
            <a:endParaRPr sz="1100">
              <a:latin typeface="Arial MT"/>
              <a:cs typeface="Arial MT"/>
            </a:endParaRPr>
          </a:p>
          <a:p>
            <a:pPr marL="426720" indent="-207645">
              <a:lnSpc>
                <a:spcPct val="100000"/>
              </a:lnSpc>
              <a:spcBef>
                <a:spcPts val="335"/>
              </a:spcBef>
              <a:buClr>
                <a:srgbClr val="27D2DC"/>
              </a:buClr>
              <a:buSzPct val="90909"/>
              <a:buFont typeface="Lucida Sans Unicode"/>
              <a:buChar char="►"/>
              <a:tabLst>
                <a:tab pos="426720" algn="l"/>
              </a:tabLst>
            </a:pPr>
            <a:r>
              <a:rPr sz="1100" spc="-25" dirty="0">
                <a:solidFill>
                  <a:srgbClr val="F4F8FC"/>
                </a:solidFill>
                <a:latin typeface="Arial MT"/>
                <a:cs typeface="Arial MT"/>
              </a:rPr>
              <a:t>Detect</a:t>
            </a:r>
            <a:r>
              <a:rPr sz="1100" spc="-15" dirty="0">
                <a:solidFill>
                  <a:srgbClr val="F4F8FC"/>
                </a:solidFill>
                <a:latin typeface="Arial MT"/>
                <a:cs typeface="Arial MT"/>
              </a:rPr>
              <a:t> </a:t>
            </a:r>
            <a:r>
              <a:rPr sz="1100" spc="-40" dirty="0">
                <a:solidFill>
                  <a:srgbClr val="F4F8FC"/>
                </a:solidFill>
                <a:latin typeface="Arial MT"/>
                <a:cs typeface="Arial MT"/>
              </a:rPr>
              <a:t>recurring</a:t>
            </a:r>
            <a:r>
              <a:rPr sz="1100" spc="-15" dirty="0">
                <a:solidFill>
                  <a:srgbClr val="F4F8FC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F4F8FC"/>
                </a:solidFill>
                <a:latin typeface="Arial MT"/>
                <a:cs typeface="Arial MT"/>
              </a:rPr>
              <a:t>payments</a:t>
            </a:r>
            <a:endParaRPr sz="1100">
              <a:latin typeface="Arial MT"/>
              <a:cs typeface="Arial MT"/>
            </a:endParaRPr>
          </a:p>
          <a:p>
            <a:pPr marL="426720" indent="-207645">
              <a:lnSpc>
                <a:spcPct val="100000"/>
              </a:lnSpc>
              <a:spcBef>
                <a:spcPts val="335"/>
              </a:spcBef>
              <a:buClr>
                <a:srgbClr val="27D2DC"/>
              </a:buClr>
              <a:buSzPct val="90909"/>
              <a:buFont typeface="Lucida Sans Unicode"/>
              <a:buChar char="►"/>
              <a:tabLst>
                <a:tab pos="426720" algn="l"/>
              </a:tabLst>
            </a:pPr>
            <a:r>
              <a:rPr sz="1100" spc="-10" dirty="0">
                <a:solidFill>
                  <a:srgbClr val="F4F8FC"/>
                </a:solidFill>
                <a:latin typeface="Arial MT"/>
                <a:cs typeface="Arial MT"/>
              </a:rPr>
              <a:t>Identify</a:t>
            </a:r>
            <a:r>
              <a:rPr sz="1100" spc="-45" dirty="0">
                <a:solidFill>
                  <a:srgbClr val="F4F8FC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F4F8FC"/>
                </a:solidFill>
                <a:latin typeface="Arial MT"/>
                <a:cs typeface="Arial MT"/>
              </a:rPr>
              <a:t>anomalies</a:t>
            </a:r>
            <a:endParaRPr sz="1100">
              <a:latin typeface="Arial MT"/>
              <a:cs typeface="Arial MT"/>
            </a:endParaRPr>
          </a:p>
          <a:p>
            <a:pPr marL="426720" indent="-207645">
              <a:lnSpc>
                <a:spcPct val="100000"/>
              </a:lnSpc>
              <a:spcBef>
                <a:spcPts val="334"/>
              </a:spcBef>
              <a:buClr>
                <a:srgbClr val="27D2DC"/>
              </a:buClr>
              <a:buSzPct val="90909"/>
              <a:buFont typeface="Lucida Sans Unicode"/>
              <a:buChar char="►"/>
              <a:tabLst>
                <a:tab pos="426720" algn="l"/>
              </a:tabLst>
            </a:pPr>
            <a:r>
              <a:rPr sz="1100" spc="-25" dirty="0">
                <a:solidFill>
                  <a:srgbClr val="F4F8FC"/>
                </a:solidFill>
                <a:latin typeface="Arial MT"/>
                <a:cs typeface="Arial MT"/>
              </a:rPr>
              <a:t>Track</a:t>
            </a:r>
            <a:r>
              <a:rPr sz="1100" spc="-40" dirty="0">
                <a:solidFill>
                  <a:srgbClr val="F4F8FC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F4F8FC"/>
                </a:solidFill>
                <a:latin typeface="Arial MT"/>
                <a:cs typeface="Arial MT"/>
              </a:rPr>
              <a:t>budgets</a:t>
            </a:r>
            <a:endParaRPr sz="1100">
              <a:latin typeface="Arial MT"/>
              <a:cs typeface="Arial MT"/>
            </a:endParaRPr>
          </a:p>
          <a:p>
            <a:pPr marL="426720" indent="-207645">
              <a:lnSpc>
                <a:spcPct val="100000"/>
              </a:lnSpc>
              <a:spcBef>
                <a:spcPts val="330"/>
              </a:spcBef>
              <a:buClr>
                <a:srgbClr val="27D2DC"/>
              </a:buClr>
              <a:buSzPct val="90909"/>
              <a:buFont typeface="Lucida Sans Unicode"/>
              <a:buChar char="►"/>
              <a:tabLst>
                <a:tab pos="426720" algn="l"/>
              </a:tabLst>
            </a:pPr>
            <a:r>
              <a:rPr sz="1100" spc="-45" dirty="0">
                <a:solidFill>
                  <a:srgbClr val="F4F8FC"/>
                </a:solidFill>
                <a:latin typeface="Arial MT"/>
                <a:cs typeface="Arial MT"/>
              </a:rPr>
              <a:t>Simulate</a:t>
            </a:r>
            <a:r>
              <a:rPr sz="1100" dirty="0">
                <a:solidFill>
                  <a:srgbClr val="F4F8FC"/>
                </a:solidFill>
                <a:latin typeface="Arial MT"/>
                <a:cs typeface="Arial MT"/>
              </a:rPr>
              <a:t> </a:t>
            </a:r>
            <a:r>
              <a:rPr sz="1100" spc="-35" dirty="0">
                <a:solidFill>
                  <a:srgbClr val="F4F8FC"/>
                </a:solidFill>
                <a:latin typeface="Arial MT"/>
                <a:cs typeface="Arial MT"/>
              </a:rPr>
              <a:t>financial</a:t>
            </a:r>
            <a:r>
              <a:rPr sz="1100" dirty="0">
                <a:solidFill>
                  <a:srgbClr val="F4F8FC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F4F8FC"/>
                </a:solidFill>
                <a:latin typeface="Arial MT"/>
                <a:cs typeface="Arial MT"/>
              </a:rPr>
              <a:t>goals</a:t>
            </a:r>
            <a:endParaRPr sz="1100">
              <a:latin typeface="Arial MT"/>
              <a:cs typeface="Arial MT"/>
            </a:endParaRPr>
          </a:p>
          <a:p>
            <a:pPr marL="426720" indent="-207645">
              <a:lnSpc>
                <a:spcPct val="100000"/>
              </a:lnSpc>
              <a:spcBef>
                <a:spcPts val="335"/>
              </a:spcBef>
              <a:buClr>
                <a:srgbClr val="27D2DC"/>
              </a:buClr>
              <a:buSzPct val="90909"/>
              <a:buFont typeface="Lucida Sans Unicode"/>
              <a:buChar char="►"/>
              <a:tabLst>
                <a:tab pos="426720" algn="l"/>
              </a:tabLst>
            </a:pPr>
            <a:r>
              <a:rPr sz="1100" spc="-70" dirty="0">
                <a:solidFill>
                  <a:srgbClr val="F4F8FC"/>
                </a:solidFill>
                <a:latin typeface="Arial MT"/>
                <a:cs typeface="Arial MT"/>
              </a:rPr>
              <a:t>Answer</a:t>
            </a:r>
            <a:r>
              <a:rPr sz="1100" spc="45" dirty="0">
                <a:solidFill>
                  <a:srgbClr val="F4F8FC"/>
                </a:solidFill>
                <a:latin typeface="Arial MT"/>
                <a:cs typeface="Arial MT"/>
              </a:rPr>
              <a:t> </a:t>
            </a:r>
            <a:r>
              <a:rPr sz="1100" spc="-60" dirty="0">
                <a:solidFill>
                  <a:srgbClr val="F4F8FC"/>
                </a:solidFill>
                <a:latin typeface="Arial MT"/>
                <a:cs typeface="Arial MT"/>
              </a:rPr>
              <a:t>natural-</a:t>
            </a:r>
            <a:r>
              <a:rPr sz="1100" spc="-55" dirty="0">
                <a:solidFill>
                  <a:srgbClr val="F4F8FC"/>
                </a:solidFill>
                <a:latin typeface="Arial MT"/>
                <a:cs typeface="Arial MT"/>
              </a:rPr>
              <a:t>language</a:t>
            </a:r>
            <a:r>
              <a:rPr sz="1100" spc="50" dirty="0">
                <a:solidFill>
                  <a:srgbClr val="F4F8FC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F4F8FC"/>
                </a:solidFill>
                <a:latin typeface="Arial MT"/>
                <a:cs typeface="Arial MT"/>
              </a:rPr>
              <a:t>questions</a:t>
            </a:r>
            <a:endParaRPr sz="1100">
              <a:latin typeface="Arial MT"/>
              <a:cs typeface="Arial MT"/>
            </a:endParaRPr>
          </a:p>
          <a:p>
            <a:pPr marL="38100">
              <a:lnSpc>
                <a:spcPct val="100000"/>
              </a:lnSpc>
              <a:spcBef>
                <a:spcPts val="195"/>
              </a:spcBef>
            </a:pPr>
            <a:r>
              <a:rPr sz="800" spc="10" dirty="0">
                <a:solidFill>
                  <a:srgbClr val="64728C"/>
                </a:solidFill>
                <a:latin typeface="Arial MT"/>
                <a:cs typeface="Arial MT"/>
              </a:rPr>
              <a:t>Fin</a:t>
            </a:r>
            <a:r>
              <a:rPr sz="800" spc="-220" dirty="0">
                <a:solidFill>
                  <a:srgbClr val="64728C"/>
                </a:solidFill>
                <a:latin typeface="Arial MT"/>
                <a:cs typeface="Arial MT"/>
              </a:rPr>
              <a:t>P</a:t>
            </a:r>
            <a:r>
              <a:rPr sz="1500" spc="-832" baseline="-8333" dirty="0">
                <a:solidFill>
                  <a:srgbClr val="27D2DC"/>
                </a:solidFill>
                <a:latin typeface="Lucida Sans Unicode"/>
                <a:cs typeface="Lucida Sans Unicode"/>
              </a:rPr>
              <a:t>▶</a:t>
            </a:r>
            <a:r>
              <a:rPr sz="800" spc="10" dirty="0">
                <a:solidFill>
                  <a:srgbClr val="64728C"/>
                </a:solidFill>
                <a:latin typeface="Arial MT"/>
                <a:cs typeface="Arial MT"/>
              </a:rPr>
              <a:t>il</a:t>
            </a:r>
            <a:r>
              <a:rPr sz="800" spc="5" dirty="0">
                <a:solidFill>
                  <a:srgbClr val="64728C"/>
                </a:solidFill>
                <a:latin typeface="Arial MT"/>
                <a:cs typeface="Arial MT"/>
              </a:rPr>
              <a:t>o</a:t>
            </a:r>
            <a:r>
              <a:rPr sz="800" spc="15" dirty="0">
                <a:solidFill>
                  <a:srgbClr val="64728C"/>
                </a:solidFill>
                <a:latin typeface="Arial MT"/>
                <a:cs typeface="Arial MT"/>
              </a:rPr>
              <a:t>t</a:t>
            </a:r>
            <a:r>
              <a:rPr sz="800" spc="110" dirty="0">
                <a:solidFill>
                  <a:srgbClr val="64728C"/>
                </a:solidFill>
                <a:latin typeface="Arial MT"/>
                <a:cs typeface="Arial MT"/>
              </a:rPr>
              <a:t> </a:t>
            </a:r>
            <a:r>
              <a:rPr sz="800" spc="-800" dirty="0">
                <a:solidFill>
                  <a:srgbClr val="64728C"/>
                </a:solidFill>
                <a:latin typeface="Arial MT"/>
                <a:cs typeface="Arial MT"/>
              </a:rPr>
              <a:t>—</a:t>
            </a:r>
            <a:r>
              <a:rPr sz="1650" spc="-52" baseline="-7575" dirty="0">
                <a:solidFill>
                  <a:srgbClr val="F4F8FC"/>
                </a:solidFill>
                <a:latin typeface="Arial MT"/>
                <a:cs typeface="Arial MT"/>
              </a:rPr>
              <a:t>G</a:t>
            </a:r>
            <a:r>
              <a:rPr sz="1650" spc="-202" baseline="-7575" dirty="0">
                <a:solidFill>
                  <a:srgbClr val="F4F8FC"/>
                </a:solidFill>
                <a:latin typeface="Arial MT"/>
                <a:cs typeface="Arial MT"/>
              </a:rPr>
              <a:t>e</a:t>
            </a:r>
            <a:r>
              <a:rPr sz="800" spc="-495" dirty="0">
                <a:solidFill>
                  <a:srgbClr val="64728C"/>
                </a:solidFill>
                <a:latin typeface="Arial MT"/>
                <a:cs typeface="Arial MT"/>
              </a:rPr>
              <a:t>A</a:t>
            </a:r>
            <a:r>
              <a:rPr sz="1650" spc="-165" baseline="-7575" dirty="0">
                <a:solidFill>
                  <a:srgbClr val="F4F8FC"/>
                </a:solidFill>
                <a:latin typeface="Arial MT"/>
                <a:cs typeface="Arial MT"/>
              </a:rPr>
              <a:t>n</a:t>
            </a:r>
            <a:r>
              <a:rPr sz="800" spc="-185" dirty="0">
                <a:solidFill>
                  <a:srgbClr val="64728C"/>
                </a:solidFill>
                <a:latin typeface="Arial MT"/>
                <a:cs typeface="Arial MT"/>
              </a:rPr>
              <a:t>I</a:t>
            </a:r>
            <a:r>
              <a:rPr sz="1650" spc="-120" baseline="-7575" dirty="0">
                <a:solidFill>
                  <a:srgbClr val="F4F8FC"/>
                </a:solidFill>
                <a:latin typeface="Arial MT"/>
                <a:cs typeface="Arial MT"/>
              </a:rPr>
              <a:t>e</a:t>
            </a:r>
            <a:r>
              <a:rPr sz="800" spc="-530" dirty="0">
                <a:solidFill>
                  <a:srgbClr val="64728C"/>
                </a:solidFill>
                <a:latin typeface="Arial MT"/>
                <a:cs typeface="Arial MT"/>
              </a:rPr>
              <a:t>P</a:t>
            </a:r>
            <a:r>
              <a:rPr sz="1650" spc="-44" baseline="-7575" dirty="0">
                <a:solidFill>
                  <a:srgbClr val="F4F8FC"/>
                </a:solidFill>
                <a:latin typeface="Arial MT"/>
                <a:cs typeface="Arial MT"/>
              </a:rPr>
              <a:t>r</a:t>
            </a:r>
            <a:r>
              <a:rPr sz="1650" spc="-772" baseline="-7575" dirty="0">
                <a:solidFill>
                  <a:srgbClr val="F4F8FC"/>
                </a:solidFill>
                <a:latin typeface="Arial MT"/>
                <a:cs typeface="Arial MT"/>
              </a:rPr>
              <a:t>a</a:t>
            </a:r>
            <a:r>
              <a:rPr sz="800" spc="-25" dirty="0">
                <a:solidFill>
                  <a:srgbClr val="64728C"/>
                </a:solidFill>
                <a:latin typeface="Arial MT"/>
                <a:cs typeface="Arial MT"/>
              </a:rPr>
              <a:t>e</a:t>
            </a:r>
            <a:r>
              <a:rPr sz="800" spc="-265" dirty="0">
                <a:solidFill>
                  <a:srgbClr val="64728C"/>
                </a:solidFill>
                <a:latin typeface="Arial MT"/>
                <a:cs typeface="Arial MT"/>
              </a:rPr>
              <a:t>r</a:t>
            </a:r>
            <a:r>
              <a:rPr sz="1650" spc="-195" baseline="-7575" dirty="0">
                <a:solidFill>
                  <a:srgbClr val="F4F8FC"/>
                </a:solidFill>
                <a:latin typeface="Arial MT"/>
                <a:cs typeface="Arial MT"/>
              </a:rPr>
              <a:t>t</a:t>
            </a:r>
            <a:r>
              <a:rPr sz="800" spc="-270" dirty="0">
                <a:solidFill>
                  <a:srgbClr val="64728C"/>
                </a:solidFill>
                <a:latin typeface="Arial MT"/>
                <a:cs typeface="Arial MT"/>
              </a:rPr>
              <a:t>s</a:t>
            </a:r>
            <a:r>
              <a:rPr sz="1650" spc="-600" baseline="-7575" dirty="0">
                <a:solidFill>
                  <a:srgbClr val="F4F8FC"/>
                </a:solidFill>
                <a:latin typeface="Arial MT"/>
                <a:cs typeface="Arial MT"/>
              </a:rPr>
              <a:t>e</a:t>
            </a:r>
            <a:r>
              <a:rPr sz="800" spc="-25" dirty="0">
                <a:solidFill>
                  <a:srgbClr val="64728C"/>
                </a:solidFill>
                <a:latin typeface="Arial MT"/>
                <a:cs typeface="Arial MT"/>
              </a:rPr>
              <a:t>o</a:t>
            </a:r>
            <a:r>
              <a:rPr sz="800" spc="-245" dirty="0">
                <a:solidFill>
                  <a:srgbClr val="64728C"/>
                </a:solidFill>
                <a:latin typeface="Arial MT"/>
                <a:cs typeface="Arial MT"/>
              </a:rPr>
              <a:t>n</a:t>
            </a:r>
            <a:r>
              <a:rPr sz="1650" spc="-1080" baseline="-7575" dirty="0">
                <a:solidFill>
                  <a:srgbClr val="F4F8FC"/>
                </a:solidFill>
                <a:latin typeface="Arial MT"/>
                <a:cs typeface="Arial MT"/>
              </a:rPr>
              <a:t>m</a:t>
            </a:r>
            <a:r>
              <a:rPr sz="800" spc="-25" dirty="0">
                <a:solidFill>
                  <a:srgbClr val="64728C"/>
                </a:solidFill>
                <a:latin typeface="Arial MT"/>
                <a:cs typeface="Arial MT"/>
              </a:rPr>
              <a:t>a</a:t>
            </a:r>
            <a:r>
              <a:rPr sz="800" spc="15" dirty="0">
                <a:solidFill>
                  <a:srgbClr val="64728C"/>
                </a:solidFill>
                <a:latin typeface="Arial MT"/>
                <a:cs typeface="Arial MT"/>
              </a:rPr>
              <a:t>l</a:t>
            </a:r>
            <a:r>
              <a:rPr sz="1650" spc="-562" baseline="-7575" dirty="0">
                <a:solidFill>
                  <a:srgbClr val="F4F8FC"/>
                </a:solidFill>
                <a:latin typeface="Arial MT"/>
                <a:cs typeface="Arial MT"/>
              </a:rPr>
              <a:t>o</a:t>
            </a:r>
            <a:r>
              <a:rPr sz="800" spc="-215" dirty="0">
                <a:solidFill>
                  <a:srgbClr val="64728C"/>
                </a:solidFill>
                <a:latin typeface="Arial MT"/>
                <a:cs typeface="Arial MT"/>
              </a:rPr>
              <a:t>F</a:t>
            </a:r>
            <a:r>
              <a:rPr sz="1650" spc="-660" baseline="-7575" dirty="0">
                <a:solidFill>
                  <a:srgbClr val="F4F8FC"/>
                </a:solidFill>
                <a:latin typeface="Arial MT"/>
                <a:cs typeface="Arial MT"/>
              </a:rPr>
              <a:t>n</a:t>
            </a:r>
            <a:r>
              <a:rPr sz="800" spc="-25" dirty="0">
                <a:solidFill>
                  <a:srgbClr val="64728C"/>
                </a:solidFill>
                <a:latin typeface="Arial MT"/>
                <a:cs typeface="Arial MT"/>
              </a:rPr>
              <a:t>i</a:t>
            </a:r>
            <a:r>
              <a:rPr sz="800" spc="-300" dirty="0">
                <a:solidFill>
                  <a:srgbClr val="64728C"/>
                </a:solidFill>
                <a:latin typeface="Arial MT"/>
                <a:cs typeface="Arial MT"/>
              </a:rPr>
              <a:t>n</a:t>
            </a:r>
            <a:r>
              <a:rPr sz="1650" spc="-187" baseline="-7575" dirty="0">
                <a:solidFill>
                  <a:srgbClr val="F4F8FC"/>
                </a:solidFill>
                <a:latin typeface="Arial MT"/>
                <a:cs typeface="Arial MT"/>
              </a:rPr>
              <a:t>t</a:t>
            </a:r>
            <a:r>
              <a:rPr sz="800" spc="-340" dirty="0">
                <a:solidFill>
                  <a:srgbClr val="64728C"/>
                </a:solidFill>
                <a:latin typeface="Arial MT"/>
                <a:cs typeface="Arial MT"/>
              </a:rPr>
              <a:t>a</a:t>
            </a:r>
            <a:r>
              <a:rPr sz="1650" spc="-502" baseline="-7575" dirty="0">
                <a:solidFill>
                  <a:srgbClr val="F4F8FC"/>
                </a:solidFill>
                <a:latin typeface="Arial MT"/>
                <a:cs typeface="Arial MT"/>
              </a:rPr>
              <a:t>h</a:t>
            </a:r>
            <a:r>
              <a:rPr sz="800" spc="-190" dirty="0">
                <a:solidFill>
                  <a:srgbClr val="64728C"/>
                </a:solidFill>
                <a:latin typeface="Arial MT"/>
                <a:cs typeface="Arial MT"/>
              </a:rPr>
              <a:t>n</a:t>
            </a:r>
            <a:r>
              <a:rPr sz="1650" spc="-187" baseline="-7575" dirty="0">
                <a:solidFill>
                  <a:srgbClr val="F4F8FC"/>
                </a:solidFill>
                <a:latin typeface="Arial MT"/>
                <a:cs typeface="Arial MT"/>
              </a:rPr>
              <a:t>l</a:t>
            </a:r>
            <a:r>
              <a:rPr sz="800" spc="-325" dirty="0">
                <a:solidFill>
                  <a:srgbClr val="64728C"/>
                </a:solidFill>
                <a:latin typeface="Arial MT"/>
                <a:cs typeface="Arial MT"/>
              </a:rPr>
              <a:t>c</a:t>
            </a:r>
            <a:r>
              <a:rPr sz="1650" spc="-412" baseline="-7575" dirty="0">
                <a:solidFill>
                  <a:srgbClr val="F4F8FC"/>
                </a:solidFill>
                <a:latin typeface="Arial MT"/>
                <a:cs typeface="Arial MT"/>
              </a:rPr>
              <a:t>y</a:t>
            </a:r>
            <a:r>
              <a:rPr sz="800" spc="-25" dirty="0">
                <a:solidFill>
                  <a:srgbClr val="64728C"/>
                </a:solidFill>
                <a:latin typeface="Arial MT"/>
                <a:cs typeface="Arial MT"/>
              </a:rPr>
              <a:t>e</a:t>
            </a:r>
            <a:r>
              <a:rPr sz="800" spc="25" dirty="0">
                <a:solidFill>
                  <a:srgbClr val="64728C"/>
                </a:solidFill>
                <a:latin typeface="Arial MT"/>
                <a:cs typeface="Arial MT"/>
              </a:rPr>
              <a:t> </a:t>
            </a:r>
            <a:r>
              <a:rPr sz="1650" spc="-727" baseline="-7575" dirty="0">
                <a:solidFill>
                  <a:srgbClr val="F4F8FC"/>
                </a:solidFill>
                <a:latin typeface="Arial MT"/>
                <a:cs typeface="Arial MT"/>
              </a:rPr>
              <a:t>fi</a:t>
            </a:r>
            <a:r>
              <a:rPr sz="800" spc="-105" dirty="0">
                <a:solidFill>
                  <a:srgbClr val="64728C"/>
                </a:solidFill>
                <a:latin typeface="Arial MT"/>
                <a:cs typeface="Arial MT"/>
              </a:rPr>
              <a:t>D</a:t>
            </a:r>
            <a:r>
              <a:rPr sz="1650" spc="-742" baseline="-7575" dirty="0">
                <a:solidFill>
                  <a:srgbClr val="F4F8FC"/>
                </a:solidFill>
                <a:latin typeface="Arial MT"/>
                <a:cs typeface="Arial MT"/>
              </a:rPr>
              <a:t>n</a:t>
            </a:r>
            <a:r>
              <a:rPr sz="800" dirty="0">
                <a:solidFill>
                  <a:srgbClr val="64728C"/>
                </a:solidFill>
                <a:latin typeface="Arial MT"/>
                <a:cs typeface="Arial MT"/>
              </a:rPr>
              <a:t>e</a:t>
            </a:r>
            <a:r>
              <a:rPr sz="800" spc="-330" dirty="0">
                <a:solidFill>
                  <a:srgbClr val="64728C"/>
                </a:solidFill>
                <a:latin typeface="Arial MT"/>
                <a:cs typeface="Arial MT"/>
              </a:rPr>
              <a:t>c</a:t>
            </a:r>
            <a:r>
              <a:rPr sz="1650" spc="-390" baseline="-7575" dirty="0">
                <a:solidFill>
                  <a:srgbClr val="F4F8FC"/>
                </a:solidFill>
                <a:latin typeface="Arial MT"/>
                <a:cs typeface="Arial MT"/>
              </a:rPr>
              <a:t>a</a:t>
            </a:r>
            <a:r>
              <a:rPr sz="800" dirty="0">
                <a:solidFill>
                  <a:srgbClr val="64728C"/>
                </a:solidFill>
                <a:latin typeface="Arial MT"/>
                <a:cs typeface="Arial MT"/>
              </a:rPr>
              <a:t>i</a:t>
            </a:r>
            <a:r>
              <a:rPr sz="800" spc="-390" dirty="0">
                <a:solidFill>
                  <a:srgbClr val="64728C"/>
                </a:solidFill>
                <a:latin typeface="Arial MT"/>
                <a:cs typeface="Arial MT"/>
              </a:rPr>
              <a:t>s</a:t>
            </a:r>
            <a:r>
              <a:rPr sz="1650" spc="-405" baseline="-7575" dirty="0">
                <a:solidFill>
                  <a:srgbClr val="F4F8FC"/>
                </a:solidFill>
                <a:latin typeface="Arial MT"/>
                <a:cs typeface="Arial MT"/>
              </a:rPr>
              <a:t>n</a:t>
            </a:r>
            <a:r>
              <a:rPr sz="800" dirty="0">
                <a:solidFill>
                  <a:srgbClr val="64728C"/>
                </a:solidFill>
                <a:latin typeface="Arial MT"/>
                <a:cs typeface="Arial MT"/>
              </a:rPr>
              <a:t>i</a:t>
            </a:r>
            <a:r>
              <a:rPr sz="800" spc="-409" dirty="0">
                <a:solidFill>
                  <a:srgbClr val="64728C"/>
                </a:solidFill>
                <a:latin typeface="Arial MT"/>
                <a:cs typeface="Arial MT"/>
              </a:rPr>
              <a:t>o</a:t>
            </a:r>
            <a:r>
              <a:rPr sz="1650" spc="-172" baseline="-7575" dirty="0">
                <a:solidFill>
                  <a:srgbClr val="F4F8FC"/>
                </a:solidFill>
                <a:latin typeface="Arial MT"/>
                <a:cs typeface="Arial MT"/>
              </a:rPr>
              <a:t>c</a:t>
            </a:r>
            <a:r>
              <a:rPr sz="800" spc="-355" dirty="0">
                <a:solidFill>
                  <a:srgbClr val="64728C"/>
                </a:solidFill>
                <a:latin typeface="Arial MT"/>
                <a:cs typeface="Arial MT"/>
              </a:rPr>
              <a:t>n</a:t>
            </a:r>
            <a:r>
              <a:rPr sz="1650" spc="-7" baseline="-7575" dirty="0">
                <a:solidFill>
                  <a:srgbClr val="F4F8FC"/>
                </a:solidFill>
                <a:latin typeface="Arial MT"/>
                <a:cs typeface="Arial MT"/>
              </a:rPr>
              <a:t>i</a:t>
            </a:r>
            <a:r>
              <a:rPr sz="1650" spc="-292" baseline="-7575" dirty="0">
                <a:solidFill>
                  <a:srgbClr val="F4F8FC"/>
                </a:solidFill>
                <a:latin typeface="Arial MT"/>
                <a:cs typeface="Arial MT"/>
              </a:rPr>
              <a:t>a</a:t>
            </a:r>
            <a:r>
              <a:rPr sz="800" spc="-370" dirty="0">
                <a:solidFill>
                  <a:srgbClr val="64728C"/>
                </a:solidFill>
                <a:latin typeface="Arial MT"/>
                <a:cs typeface="Arial MT"/>
              </a:rPr>
              <a:t>S</a:t>
            </a:r>
            <a:r>
              <a:rPr sz="1650" spc="82" baseline="-7575" dirty="0">
                <a:solidFill>
                  <a:srgbClr val="F4F8FC"/>
                </a:solidFill>
                <a:latin typeface="Arial MT"/>
                <a:cs typeface="Arial MT"/>
              </a:rPr>
              <a:t>l</a:t>
            </a:r>
            <a:r>
              <a:rPr sz="800" spc="-145" dirty="0">
                <a:solidFill>
                  <a:srgbClr val="64728C"/>
                </a:solidFill>
                <a:latin typeface="Arial MT"/>
                <a:cs typeface="Arial MT"/>
              </a:rPr>
              <a:t>u</a:t>
            </a:r>
            <a:r>
              <a:rPr sz="1650" spc="-705" baseline="-7575" dirty="0">
                <a:solidFill>
                  <a:srgbClr val="F4F8FC"/>
                </a:solidFill>
                <a:latin typeface="Arial MT"/>
                <a:cs typeface="Arial MT"/>
              </a:rPr>
              <a:t>b</a:t>
            </a:r>
            <a:r>
              <a:rPr sz="800" spc="-55" dirty="0">
                <a:solidFill>
                  <a:srgbClr val="64728C"/>
                </a:solidFill>
                <a:latin typeface="Arial MT"/>
                <a:cs typeface="Arial MT"/>
              </a:rPr>
              <a:t>p</a:t>
            </a:r>
            <a:r>
              <a:rPr sz="1650" spc="-487" baseline="-7575" dirty="0">
                <a:solidFill>
                  <a:srgbClr val="F4F8FC"/>
                </a:solidFill>
                <a:latin typeface="Arial MT"/>
                <a:cs typeface="Arial MT"/>
              </a:rPr>
              <a:t>r</a:t>
            </a:r>
            <a:r>
              <a:rPr sz="800" spc="-120" dirty="0">
                <a:solidFill>
                  <a:srgbClr val="64728C"/>
                </a:solidFill>
                <a:latin typeface="Arial MT"/>
                <a:cs typeface="Arial MT"/>
              </a:rPr>
              <a:t>p</a:t>
            </a:r>
            <a:r>
              <a:rPr sz="1650" spc="-179" baseline="-7575" dirty="0">
                <a:solidFill>
                  <a:srgbClr val="F4F8FC"/>
                </a:solidFill>
                <a:latin typeface="Arial MT"/>
                <a:cs typeface="Arial MT"/>
              </a:rPr>
              <a:t>i</a:t>
            </a:r>
            <a:r>
              <a:rPr sz="800" spc="-330" dirty="0">
                <a:solidFill>
                  <a:srgbClr val="64728C"/>
                </a:solidFill>
                <a:latin typeface="Arial MT"/>
                <a:cs typeface="Arial MT"/>
              </a:rPr>
              <a:t>o</a:t>
            </a:r>
            <a:r>
              <a:rPr sz="1650" spc="-397" baseline="-7575" dirty="0">
                <a:solidFill>
                  <a:srgbClr val="F4F8FC"/>
                </a:solidFill>
                <a:latin typeface="Arial MT"/>
                <a:cs typeface="Arial MT"/>
              </a:rPr>
              <a:t>e</a:t>
            </a:r>
            <a:r>
              <a:rPr sz="800" spc="-85" dirty="0">
                <a:solidFill>
                  <a:srgbClr val="64728C"/>
                </a:solidFill>
                <a:latin typeface="Arial MT"/>
                <a:cs typeface="Arial MT"/>
              </a:rPr>
              <a:t>r</a:t>
            </a:r>
            <a:r>
              <a:rPr sz="1650" spc="-337" baseline="-7575" dirty="0">
                <a:solidFill>
                  <a:srgbClr val="F4F8FC"/>
                </a:solidFill>
                <a:latin typeface="Arial MT"/>
                <a:cs typeface="Arial MT"/>
              </a:rPr>
              <a:t>f</a:t>
            </a:r>
            <a:r>
              <a:rPr sz="800" spc="-50" dirty="0">
                <a:solidFill>
                  <a:srgbClr val="64728C"/>
                </a:solidFill>
                <a:latin typeface="Arial MT"/>
                <a:cs typeface="Arial MT"/>
              </a:rPr>
              <a:t>t</a:t>
            </a:r>
            <a:r>
              <a:rPr sz="1650" spc="-150" baseline="-7575" dirty="0">
                <a:solidFill>
                  <a:srgbClr val="F4F8FC"/>
                </a:solidFill>
                <a:latin typeface="Arial MT"/>
                <a:cs typeface="Arial MT"/>
              </a:rPr>
              <a:t>s</a:t>
            </a:r>
            <a:r>
              <a:rPr sz="800" spc="-10" dirty="0">
                <a:solidFill>
                  <a:srgbClr val="64728C"/>
                </a:solidFill>
                <a:latin typeface="Arial MT"/>
                <a:cs typeface="Arial MT"/>
              </a:rPr>
              <a:t>Agent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572388" y="3082885"/>
            <a:ext cx="7937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50" dirty="0">
                <a:solidFill>
                  <a:srgbClr val="64728C"/>
                </a:solidFill>
                <a:latin typeface="Arial MT"/>
                <a:cs typeface="Arial MT"/>
              </a:rPr>
              <a:t>4</a:t>
            </a:r>
            <a:endParaRPr sz="800">
              <a:latin typeface="Arial MT"/>
              <a:cs typeface="Arial MT"/>
            </a:endParaRPr>
          </a:p>
        </p:txBody>
      </p:sp>
    </p:spTree>
  </p:cSld>
  <p:clrMapOvr>
    <a:masterClrMapping/>
  </p:clrMapOvr>
  <p:transition>
    <p:cut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Project</a:t>
            </a:r>
            <a:r>
              <a:rPr spc="315" dirty="0"/>
              <a:t> </a:t>
            </a:r>
            <a:r>
              <a:rPr spc="-10" dirty="0"/>
              <a:t>Objectives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94513" y="661451"/>
            <a:ext cx="2446020" cy="866140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34"/>
              </a:spcBef>
            </a:pPr>
            <a:r>
              <a:rPr sz="1100" b="1" spc="-10" dirty="0">
                <a:solidFill>
                  <a:srgbClr val="27D2DC"/>
                </a:solidFill>
                <a:latin typeface="Arial"/>
                <a:cs typeface="Arial"/>
              </a:rPr>
              <a:t>Understand</a:t>
            </a:r>
            <a:endParaRPr sz="1100">
              <a:latin typeface="Arial"/>
              <a:cs typeface="Arial"/>
            </a:endParaRPr>
          </a:p>
          <a:p>
            <a:pPr marL="287020" indent="-207645">
              <a:lnSpc>
                <a:spcPct val="100000"/>
              </a:lnSpc>
              <a:spcBef>
                <a:spcPts val="334"/>
              </a:spcBef>
              <a:buClr>
                <a:srgbClr val="27D2DC"/>
              </a:buClr>
              <a:buSzPct val="90909"/>
              <a:buFont typeface="Lucida Sans Unicode"/>
              <a:buChar char="►"/>
              <a:tabLst>
                <a:tab pos="287020" algn="l"/>
              </a:tabLst>
            </a:pPr>
            <a:r>
              <a:rPr sz="1100" spc="-25" dirty="0">
                <a:solidFill>
                  <a:srgbClr val="F4F8FC"/>
                </a:solidFill>
                <a:latin typeface="Arial MT"/>
                <a:cs typeface="Arial MT"/>
              </a:rPr>
              <a:t>Automatically</a:t>
            </a:r>
            <a:r>
              <a:rPr sz="1100" spc="20" dirty="0">
                <a:solidFill>
                  <a:srgbClr val="F4F8FC"/>
                </a:solidFill>
                <a:latin typeface="Arial MT"/>
                <a:cs typeface="Arial MT"/>
              </a:rPr>
              <a:t> </a:t>
            </a:r>
            <a:r>
              <a:rPr sz="1100" spc="-60" dirty="0">
                <a:solidFill>
                  <a:srgbClr val="F4F8FC"/>
                </a:solidFill>
                <a:latin typeface="Arial MT"/>
                <a:cs typeface="Arial MT"/>
              </a:rPr>
              <a:t>categorize</a:t>
            </a:r>
            <a:r>
              <a:rPr sz="1100" spc="20" dirty="0">
                <a:solidFill>
                  <a:srgbClr val="F4F8FC"/>
                </a:solidFill>
                <a:latin typeface="Arial MT"/>
                <a:cs typeface="Arial MT"/>
              </a:rPr>
              <a:t> </a:t>
            </a:r>
            <a:r>
              <a:rPr sz="1100" spc="-35" dirty="0">
                <a:solidFill>
                  <a:srgbClr val="F4F8FC"/>
                </a:solidFill>
                <a:latin typeface="Arial MT"/>
                <a:cs typeface="Arial MT"/>
              </a:rPr>
              <a:t>transactions</a:t>
            </a:r>
            <a:endParaRPr sz="1100">
              <a:latin typeface="Arial MT"/>
              <a:cs typeface="Arial MT"/>
            </a:endParaRPr>
          </a:p>
          <a:p>
            <a:pPr marL="287020" indent="-207645">
              <a:lnSpc>
                <a:spcPct val="100000"/>
              </a:lnSpc>
              <a:spcBef>
                <a:spcPts val="330"/>
              </a:spcBef>
              <a:buClr>
                <a:srgbClr val="27D2DC"/>
              </a:buClr>
              <a:buSzPct val="90909"/>
              <a:buFont typeface="Lucida Sans Unicode"/>
              <a:buChar char="►"/>
              <a:tabLst>
                <a:tab pos="287020" algn="l"/>
              </a:tabLst>
            </a:pPr>
            <a:r>
              <a:rPr sz="1100" spc="-70" dirty="0">
                <a:solidFill>
                  <a:srgbClr val="F4F8FC"/>
                </a:solidFill>
                <a:latin typeface="Arial MT"/>
                <a:cs typeface="Arial MT"/>
              </a:rPr>
              <a:t>Summarize</a:t>
            </a:r>
            <a:r>
              <a:rPr sz="1100" spc="5" dirty="0">
                <a:solidFill>
                  <a:srgbClr val="F4F8FC"/>
                </a:solidFill>
                <a:latin typeface="Arial MT"/>
                <a:cs typeface="Arial MT"/>
              </a:rPr>
              <a:t> </a:t>
            </a:r>
            <a:r>
              <a:rPr sz="1100" spc="-65" dirty="0">
                <a:solidFill>
                  <a:srgbClr val="F4F8FC"/>
                </a:solidFill>
                <a:latin typeface="Arial MT"/>
                <a:cs typeface="Arial MT"/>
              </a:rPr>
              <a:t>income</a:t>
            </a:r>
            <a:r>
              <a:rPr sz="1100" spc="10" dirty="0">
                <a:solidFill>
                  <a:srgbClr val="F4F8FC"/>
                </a:solidFill>
                <a:latin typeface="Arial MT"/>
                <a:cs typeface="Arial MT"/>
              </a:rPr>
              <a:t> </a:t>
            </a:r>
            <a:r>
              <a:rPr sz="1100" spc="-55" dirty="0">
                <a:solidFill>
                  <a:srgbClr val="F4F8FC"/>
                </a:solidFill>
                <a:latin typeface="Arial MT"/>
                <a:cs typeface="Arial MT"/>
              </a:rPr>
              <a:t>and</a:t>
            </a:r>
            <a:r>
              <a:rPr sz="1100" spc="10" dirty="0">
                <a:solidFill>
                  <a:srgbClr val="F4F8FC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F4F8FC"/>
                </a:solidFill>
                <a:latin typeface="Arial MT"/>
                <a:cs typeface="Arial MT"/>
              </a:rPr>
              <a:t>expenses</a:t>
            </a:r>
            <a:endParaRPr sz="1100">
              <a:latin typeface="Arial MT"/>
              <a:cs typeface="Arial MT"/>
            </a:endParaRPr>
          </a:p>
          <a:p>
            <a:pPr marL="287020" indent="-207645">
              <a:lnSpc>
                <a:spcPct val="100000"/>
              </a:lnSpc>
              <a:spcBef>
                <a:spcPts val="335"/>
              </a:spcBef>
              <a:buClr>
                <a:srgbClr val="27D2DC"/>
              </a:buClr>
              <a:buSzPct val="90909"/>
              <a:buFont typeface="Lucida Sans Unicode"/>
              <a:buChar char="►"/>
              <a:tabLst>
                <a:tab pos="287020" algn="l"/>
              </a:tabLst>
            </a:pPr>
            <a:r>
              <a:rPr sz="1100" spc="-10" dirty="0">
                <a:solidFill>
                  <a:srgbClr val="F4F8FC"/>
                </a:solidFill>
                <a:latin typeface="Arial MT"/>
                <a:cs typeface="Arial MT"/>
              </a:rPr>
              <a:t>Identify </a:t>
            </a:r>
            <a:r>
              <a:rPr sz="1100" spc="-30" dirty="0">
                <a:solidFill>
                  <a:srgbClr val="F4F8FC"/>
                </a:solidFill>
                <a:latin typeface="Arial MT"/>
                <a:cs typeface="Arial MT"/>
              </a:rPr>
              <a:t>major</a:t>
            </a:r>
            <a:r>
              <a:rPr sz="1100" spc="-5" dirty="0">
                <a:solidFill>
                  <a:srgbClr val="F4F8FC"/>
                </a:solidFill>
                <a:latin typeface="Arial MT"/>
                <a:cs typeface="Arial MT"/>
              </a:rPr>
              <a:t> </a:t>
            </a:r>
            <a:r>
              <a:rPr sz="1100" spc="-70" dirty="0">
                <a:solidFill>
                  <a:srgbClr val="F4F8FC"/>
                </a:solidFill>
                <a:latin typeface="Arial MT"/>
                <a:cs typeface="Arial MT"/>
              </a:rPr>
              <a:t>spending</a:t>
            </a:r>
            <a:r>
              <a:rPr sz="1100" spc="-5" dirty="0">
                <a:solidFill>
                  <a:srgbClr val="F4F8FC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F4F8FC"/>
                </a:solidFill>
                <a:latin typeface="Arial MT"/>
                <a:cs typeface="Arial MT"/>
              </a:rPr>
              <a:t>categories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94513" y="1609582"/>
            <a:ext cx="1738630" cy="1075690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34"/>
              </a:spcBef>
            </a:pPr>
            <a:r>
              <a:rPr sz="1100" b="1" spc="-10" dirty="0">
                <a:solidFill>
                  <a:srgbClr val="32CC81"/>
                </a:solidFill>
                <a:latin typeface="Arial"/>
                <a:cs typeface="Arial"/>
              </a:rPr>
              <a:t>Detect</a:t>
            </a:r>
            <a:endParaRPr sz="1100">
              <a:latin typeface="Arial"/>
              <a:cs typeface="Arial"/>
            </a:endParaRPr>
          </a:p>
          <a:p>
            <a:pPr marL="287020" indent="-207645">
              <a:lnSpc>
                <a:spcPct val="100000"/>
              </a:lnSpc>
              <a:spcBef>
                <a:spcPts val="334"/>
              </a:spcBef>
              <a:buClr>
                <a:srgbClr val="27D2DC"/>
              </a:buClr>
              <a:buSzPct val="90909"/>
              <a:buFont typeface="Lucida Sans Unicode"/>
              <a:buChar char="►"/>
              <a:tabLst>
                <a:tab pos="287020" algn="l"/>
              </a:tabLst>
            </a:pPr>
            <a:r>
              <a:rPr sz="1100" spc="-50" dirty="0">
                <a:solidFill>
                  <a:srgbClr val="F4F8FC"/>
                </a:solidFill>
                <a:latin typeface="Arial MT"/>
                <a:cs typeface="Arial MT"/>
              </a:rPr>
              <a:t>Recurring</a:t>
            </a:r>
            <a:r>
              <a:rPr sz="1100" spc="-15" dirty="0">
                <a:solidFill>
                  <a:srgbClr val="F4F8FC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F4F8FC"/>
                </a:solidFill>
                <a:latin typeface="Arial MT"/>
                <a:cs typeface="Arial MT"/>
              </a:rPr>
              <a:t>payments</a:t>
            </a:r>
            <a:endParaRPr sz="1100">
              <a:latin typeface="Arial MT"/>
              <a:cs typeface="Arial MT"/>
            </a:endParaRPr>
          </a:p>
          <a:p>
            <a:pPr marL="287020" indent="-207645">
              <a:lnSpc>
                <a:spcPct val="100000"/>
              </a:lnSpc>
              <a:spcBef>
                <a:spcPts val="330"/>
              </a:spcBef>
              <a:buClr>
                <a:srgbClr val="27D2DC"/>
              </a:buClr>
              <a:buSzPct val="90909"/>
              <a:buFont typeface="Lucida Sans Unicode"/>
              <a:buChar char="►"/>
              <a:tabLst>
                <a:tab pos="287020" algn="l"/>
              </a:tabLst>
            </a:pPr>
            <a:r>
              <a:rPr sz="1100" spc="-10" dirty="0">
                <a:solidFill>
                  <a:srgbClr val="F4F8FC"/>
                </a:solidFill>
                <a:latin typeface="Arial MT"/>
                <a:cs typeface="Arial MT"/>
              </a:rPr>
              <a:t>Subscriptions</a:t>
            </a:r>
            <a:endParaRPr sz="1100">
              <a:latin typeface="Arial MT"/>
              <a:cs typeface="Arial MT"/>
            </a:endParaRPr>
          </a:p>
          <a:p>
            <a:pPr marL="287020" indent="-207645">
              <a:lnSpc>
                <a:spcPct val="100000"/>
              </a:lnSpc>
              <a:spcBef>
                <a:spcPts val="335"/>
              </a:spcBef>
              <a:buClr>
                <a:srgbClr val="27D2DC"/>
              </a:buClr>
              <a:buSzPct val="90909"/>
              <a:buFont typeface="Lucida Sans Unicode"/>
              <a:buChar char="►"/>
              <a:tabLst>
                <a:tab pos="287020" algn="l"/>
              </a:tabLst>
            </a:pPr>
            <a:r>
              <a:rPr sz="1100" spc="-65" dirty="0">
                <a:solidFill>
                  <a:srgbClr val="F4F8FC"/>
                </a:solidFill>
                <a:latin typeface="Arial MT"/>
                <a:cs typeface="Arial MT"/>
              </a:rPr>
              <a:t>Unusual</a:t>
            </a:r>
            <a:r>
              <a:rPr sz="1100" spc="-10" dirty="0">
                <a:solidFill>
                  <a:srgbClr val="F4F8FC"/>
                </a:solidFill>
                <a:latin typeface="Arial MT"/>
                <a:cs typeface="Arial MT"/>
              </a:rPr>
              <a:t> spending</a:t>
            </a:r>
            <a:endParaRPr sz="1100">
              <a:latin typeface="Arial MT"/>
              <a:cs typeface="Arial MT"/>
            </a:endParaRPr>
          </a:p>
          <a:p>
            <a:pPr marL="287020" indent="-207645">
              <a:lnSpc>
                <a:spcPct val="100000"/>
              </a:lnSpc>
              <a:spcBef>
                <a:spcPts val="335"/>
              </a:spcBef>
              <a:buClr>
                <a:srgbClr val="27D2DC"/>
              </a:buClr>
              <a:buSzPct val="90909"/>
              <a:buFont typeface="Lucida Sans Unicode"/>
              <a:buChar char="►"/>
              <a:tabLst>
                <a:tab pos="287020" algn="l"/>
              </a:tabLst>
            </a:pPr>
            <a:r>
              <a:rPr sz="1100" spc="-55" dirty="0">
                <a:solidFill>
                  <a:srgbClr val="F4F8FC"/>
                </a:solidFill>
                <a:latin typeface="Arial MT"/>
                <a:cs typeface="Arial MT"/>
              </a:rPr>
              <a:t>Category</a:t>
            </a:r>
            <a:r>
              <a:rPr sz="1100" spc="20" dirty="0">
                <a:solidFill>
                  <a:srgbClr val="F4F8FC"/>
                </a:solidFill>
                <a:latin typeface="Arial MT"/>
                <a:cs typeface="Arial MT"/>
              </a:rPr>
              <a:t> </a:t>
            </a:r>
            <a:r>
              <a:rPr sz="1100" spc="-70" dirty="0">
                <a:solidFill>
                  <a:srgbClr val="F4F8FC"/>
                </a:solidFill>
                <a:latin typeface="Arial MT"/>
                <a:cs typeface="Arial MT"/>
              </a:rPr>
              <a:t>spending</a:t>
            </a:r>
            <a:r>
              <a:rPr sz="1100" spc="25" dirty="0">
                <a:solidFill>
                  <a:srgbClr val="F4F8FC"/>
                </a:solidFill>
                <a:latin typeface="Arial MT"/>
                <a:cs typeface="Arial MT"/>
              </a:rPr>
              <a:t> </a:t>
            </a:r>
            <a:r>
              <a:rPr sz="1100" spc="-65" dirty="0">
                <a:solidFill>
                  <a:srgbClr val="F4F8FC"/>
                </a:solidFill>
                <a:latin typeface="Arial MT"/>
                <a:cs typeface="Arial MT"/>
              </a:rPr>
              <a:t>spikes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020910" y="661451"/>
            <a:ext cx="2035810" cy="1075690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34"/>
              </a:spcBef>
            </a:pPr>
            <a:r>
              <a:rPr sz="1100" b="1" spc="-20" dirty="0">
                <a:solidFill>
                  <a:srgbClr val="F4BE3B"/>
                </a:solidFill>
                <a:latin typeface="Arial"/>
                <a:cs typeface="Arial"/>
              </a:rPr>
              <a:t>Plan</a:t>
            </a:r>
            <a:endParaRPr sz="1100">
              <a:latin typeface="Arial"/>
              <a:cs typeface="Arial"/>
            </a:endParaRPr>
          </a:p>
          <a:p>
            <a:pPr marL="287020" indent="-207645">
              <a:lnSpc>
                <a:spcPct val="100000"/>
              </a:lnSpc>
              <a:spcBef>
                <a:spcPts val="334"/>
              </a:spcBef>
              <a:buClr>
                <a:srgbClr val="27D2DC"/>
              </a:buClr>
              <a:buSzPct val="90909"/>
              <a:buFont typeface="Lucida Sans Unicode"/>
              <a:buChar char="►"/>
              <a:tabLst>
                <a:tab pos="287020" algn="l"/>
              </a:tabLst>
            </a:pPr>
            <a:r>
              <a:rPr sz="1100" spc="-25" dirty="0">
                <a:solidFill>
                  <a:srgbClr val="F4F8FC"/>
                </a:solidFill>
                <a:latin typeface="Arial MT"/>
                <a:cs typeface="Arial MT"/>
              </a:rPr>
              <a:t>Track</a:t>
            </a:r>
            <a:r>
              <a:rPr sz="1100" spc="-20" dirty="0">
                <a:solidFill>
                  <a:srgbClr val="F4F8FC"/>
                </a:solidFill>
                <a:latin typeface="Arial MT"/>
                <a:cs typeface="Arial MT"/>
              </a:rPr>
              <a:t> monthly</a:t>
            </a:r>
            <a:r>
              <a:rPr sz="1100" spc="-15" dirty="0">
                <a:solidFill>
                  <a:srgbClr val="F4F8FC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F4F8FC"/>
                </a:solidFill>
                <a:latin typeface="Arial MT"/>
                <a:cs typeface="Arial MT"/>
              </a:rPr>
              <a:t>budgets</a:t>
            </a:r>
            <a:endParaRPr sz="1100">
              <a:latin typeface="Arial MT"/>
              <a:cs typeface="Arial MT"/>
            </a:endParaRPr>
          </a:p>
          <a:p>
            <a:pPr marL="287020" indent="-207645">
              <a:lnSpc>
                <a:spcPct val="100000"/>
              </a:lnSpc>
              <a:spcBef>
                <a:spcPts val="330"/>
              </a:spcBef>
              <a:buClr>
                <a:srgbClr val="27D2DC"/>
              </a:buClr>
              <a:buSzPct val="90909"/>
              <a:buFont typeface="Lucida Sans Unicode"/>
              <a:buChar char="►"/>
              <a:tabLst>
                <a:tab pos="287020" algn="l"/>
              </a:tabLst>
            </a:pPr>
            <a:r>
              <a:rPr sz="1100" spc="-45" dirty="0">
                <a:solidFill>
                  <a:srgbClr val="F4F8FC"/>
                </a:solidFill>
                <a:latin typeface="Arial MT"/>
                <a:cs typeface="Arial MT"/>
              </a:rPr>
              <a:t>Define</a:t>
            </a:r>
            <a:r>
              <a:rPr sz="1100" spc="20" dirty="0">
                <a:solidFill>
                  <a:srgbClr val="F4F8FC"/>
                </a:solidFill>
                <a:latin typeface="Arial MT"/>
                <a:cs typeface="Arial MT"/>
              </a:rPr>
              <a:t> </a:t>
            </a:r>
            <a:r>
              <a:rPr sz="1100" spc="-85" dirty="0">
                <a:solidFill>
                  <a:srgbClr val="F4F8FC"/>
                </a:solidFill>
                <a:latin typeface="Arial MT"/>
                <a:cs typeface="Arial MT"/>
              </a:rPr>
              <a:t>savings</a:t>
            </a:r>
            <a:r>
              <a:rPr sz="1100" spc="20" dirty="0">
                <a:solidFill>
                  <a:srgbClr val="F4F8FC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F4F8FC"/>
                </a:solidFill>
                <a:latin typeface="Arial MT"/>
                <a:cs typeface="Arial MT"/>
              </a:rPr>
              <a:t>goals</a:t>
            </a:r>
            <a:endParaRPr sz="1100">
              <a:latin typeface="Arial MT"/>
              <a:cs typeface="Arial MT"/>
            </a:endParaRPr>
          </a:p>
          <a:p>
            <a:pPr marL="287020" indent="-207645">
              <a:lnSpc>
                <a:spcPct val="100000"/>
              </a:lnSpc>
              <a:spcBef>
                <a:spcPts val="335"/>
              </a:spcBef>
              <a:buClr>
                <a:srgbClr val="27D2DC"/>
              </a:buClr>
              <a:buSzPct val="90909"/>
              <a:buFont typeface="Lucida Sans Unicode"/>
              <a:buChar char="►"/>
              <a:tabLst>
                <a:tab pos="287020" algn="l"/>
              </a:tabLst>
            </a:pPr>
            <a:r>
              <a:rPr sz="1100" spc="-40" dirty="0">
                <a:solidFill>
                  <a:srgbClr val="F4F8FC"/>
                </a:solidFill>
                <a:latin typeface="Arial MT"/>
                <a:cs typeface="Arial MT"/>
              </a:rPr>
              <a:t>Estimate</a:t>
            </a:r>
            <a:r>
              <a:rPr sz="1100" spc="-20" dirty="0">
                <a:solidFill>
                  <a:srgbClr val="F4F8FC"/>
                </a:solidFill>
                <a:latin typeface="Arial MT"/>
                <a:cs typeface="Arial MT"/>
              </a:rPr>
              <a:t> </a:t>
            </a:r>
            <a:r>
              <a:rPr sz="1100" spc="-40" dirty="0">
                <a:solidFill>
                  <a:srgbClr val="F4F8FC"/>
                </a:solidFill>
                <a:latin typeface="Arial MT"/>
                <a:cs typeface="Arial MT"/>
              </a:rPr>
              <a:t>goal</a:t>
            </a:r>
            <a:r>
              <a:rPr sz="1100" spc="-15" dirty="0">
                <a:solidFill>
                  <a:srgbClr val="F4F8FC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F4F8FC"/>
                </a:solidFill>
                <a:latin typeface="Arial MT"/>
                <a:cs typeface="Arial MT"/>
              </a:rPr>
              <a:t>completion</a:t>
            </a:r>
            <a:endParaRPr sz="1100">
              <a:latin typeface="Arial MT"/>
              <a:cs typeface="Arial MT"/>
            </a:endParaRPr>
          </a:p>
          <a:p>
            <a:pPr marL="287020" indent="-207645">
              <a:lnSpc>
                <a:spcPct val="100000"/>
              </a:lnSpc>
              <a:spcBef>
                <a:spcPts val="335"/>
              </a:spcBef>
              <a:buClr>
                <a:srgbClr val="27D2DC"/>
              </a:buClr>
              <a:buSzPct val="90909"/>
              <a:buFont typeface="Lucida Sans Unicode"/>
              <a:buChar char="►"/>
              <a:tabLst>
                <a:tab pos="287020" algn="l"/>
              </a:tabLst>
            </a:pPr>
            <a:r>
              <a:rPr sz="1100" spc="-50" dirty="0">
                <a:solidFill>
                  <a:srgbClr val="F4F8FC"/>
                </a:solidFill>
                <a:latin typeface="Arial MT"/>
                <a:cs typeface="Arial MT"/>
              </a:rPr>
              <a:t>Calculate</a:t>
            </a:r>
            <a:r>
              <a:rPr sz="1100" spc="-5" dirty="0">
                <a:solidFill>
                  <a:srgbClr val="F4F8FC"/>
                </a:solidFill>
                <a:latin typeface="Arial MT"/>
                <a:cs typeface="Arial MT"/>
              </a:rPr>
              <a:t> </a:t>
            </a:r>
            <a:r>
              <a:rPr sz="1100" spc="-25" dirty="0">
                <a:solidFill>
                  <a:srgbClr val="F4F8FC"/>
                </a:solidFill>
                <a:latin typeface="Arial MT"/>
                <a:cs typeface="Arial MT"/>
              </a:rPr>
              <a:t>committed</a:t>
            </a:r>
            <a:r>
              <a:rPr sz="1100" spc="-5" dirty="0">
                <a:solidFill>
                  <a:srgbClr val="F4F8FC"/>
                </a:solidFill>
                <a:latin typeface="Arial MT"/>
                <a:cs typeface="Arial MT"/>
              </a:rPr>
              <a:t> </a:t>
            </a:r>
            <a:r>
              <a:rPr sz="1100" spc="-50" dirty="0">
                <a:solidFill>
                  <a:srgbClr val="F4F8FC"/>
                </a:solidFill>
                <a:latin typeface="Arial MT"/>
                <a:cs typeface="Arial MT"/>
              </a:rPr>
              <a:t>spending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020910" y="1863393"/>
            <a:ext cx="51879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b="1" spc="-10" dirty="0">
                <a:solidFill>
                  <a:srgbClr val="9664F0"/>
                </a:solidFill>
                <a:latin typeface="Arial"/>
                <a:cs typeface="Arial"/>
              </a:rPr>
              <a:t>Interact</a:t>
            </a:r>
            <a:endParaRPr sz="11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088157" y="2029648"/>
            <a:ext cx="2308860" cy="655955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220345" indent="-207645">
              <a:lnSpc>
                <a:spcPct val="100000"/>
              </a:lnSpc>
              <a:spcBef>
                <a:spcPts val="434"/>
              </a:spcBef>
              <a:buClr>
                <a:srgbClr val="27D2DC"/>
              </a:buClr>
              <a:buSzPct val="90909"/>
              <a:buFont typeface="Lucida Sans Unicode"/>
              <a:buChar char="►"/>
              <a:tabLst>
                <a:tab pos="220345" algn="l"/>
              </a:tabLst>
            </a:pPr>
            <a:r>
              <a:rPr sz="1100" spc="-55" dirty="0">
                <a:solidFill>
                  <a:srgbClr val="F4F8FC"/>
                </a:solidFill>
                <a:latin typeface="Arial MT"/>
                <a:cs typeface="Arial MT"/>
              </a:rPr>
              <a:t>Natural-</a:t>
            </a:r>
            <a:r>
              <a:rPr sz="1100" spc="-45" dirty="0">
                <a:solidFill>
                  <a:srgbClr val="F4F8FC"/>
                </a:solidFill>
                <a:latin typeface="Arial MT"/>
                <a:cs typeface="Arial MT"/>
              </a:rPr>
              <a:t>language</a:t>
            </a:r>
            <a:r>
              <a:rPr sz="1100" spc="10" dirty="0">
                <a:solidFill>
                  <a:srgbClr val="F4F8FC"/>
                </a:solidFill>
                <a:latin typeface="Arial MT"/>
                <a:cs typeface="Arial MT"/>
              </a:rPr>
              <a:t> </a:t>
            </a:r>
            <a:r>
              <a:rPr sz="1100" spc="-35" dirty="0">
                <a:solidFill>
                  <a:srgbClr val="F4F8FC"/>
                </a:solidFill>
                <a:latin typeface="Arial MT"/>
                <a:cs typeface="Arial MT"/>
              </a:rPr>
              <a:t>financial</a:t>
            </a:r>
            <a:r>
              <a:rPr sz="1100" spc="15" dirty="0">
                <a:solidFill>
                  <a:srgbClr val="F4F8FC"/>
                </a:solidFill>
                <a:latin typeface="Arial MT"/>
                <a:cs typeface="Arial MT"/>
              </a:rPr>
              <a:t> </a:t>
            </a:r>
            <a:r>
              <a:rPr sz="1100" spc="-45" dirty="0">
                <a:solidFill>
                  <a:srgbClr val="F4F8FC"/>
                </a:solidFill>
                <a:latin typeface="Arial MT"/>
                <a:cs typeface="Arial MT"/>
              </a:rPr>
              <a:t>questions</a:t>
            </a:r>
            <a:endParaRPr sz="1100">
              <a:latin typeface="Arial MT"/>
              <a:cs typeface="Arial MT"/>
            </a:endParaRPr>
          </a:p>
          <a:p>
            <a:pPr marL="220345" indent="-207645">
              <a:lnSpc>
                <a:spcPct val="100000"/>
              </a:lnSpc>
              <a:spcBef>
                <a:spcPts val="334"/>
              </a:spcBef>
              <a:buClr>
                <a:srgbClr val="27D2DC"/>
              </a:buClr>
              <a:buSzPct val="90909"/>
              <a:buFont typeface="Lucida Sans Unicode"/>
              <a:buChar char="►"/>
              <a:tabLst>
                <a:tab pos="220345" algn="l"/>
              </a:tabLst>
            </a:pPr>
            <a:r>
              <a:rPr sz="1100" spc="-35" dirty="0">
                <a:solidFill>
                  <a:srgbClr val="F4F8FC"/>
                </a:solidFill>
                <a:latin typeface="Arial MT"/>
                <a:cs typeface="Arial MT"/>
              </a:rPr>
              <a:t>Deterministic</a:t>
            </a:r>
            <a:r>
              <a:rPr sz="1100" spc="-5" dirty="0">
                <a:solidFill>
                  <a:srgbClr val="F4F8FC"/>
                </a:solidFill>
                <a:latin typeface="Arial MT"/>
                <a:cs typeface="Arial MT"/>
              </a:rPr>
              <a:t> </a:t>
            </a:r>
            <a:r>
              <a:rPr sz="1100" spc="-35" dirty="0">
                <a:solidFill>
                  <a:srgbClr val="F4F8FC"/>
                </a:solidFill>
                <a:latin typeface="Arial MT"/>
                <a:cs typeface="Arial MT"/>
              </a:rPr>
              <a:t>analytical</a:t>
            </a:r>
            <a:r>
              <a:rPr sz="1100" dirty="0">
                <a:solidFill>
                  <a:srgbClr val="F4F8FC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F4F8FC"/>
                </a:solidFill>
                <a:latin typeface="Arial MT"/>
                <a:cs typeface="Arial MT"/>
              </a:rPr>
              <a:t>queries</a:t>
            </a:r>
            <a:endParaRPr sz="1100">
              <a:latin typeface="Arial MT"/>
              <a:cs typeface="Arial MT"/>
            </a:endParaRPr>
          </a:p>
          <a:p>
            <a:pPr marL="220345" indent="-207645">
              <a:lnSpc>
                <a:spcPct val="100000"/>
              </a:lnSpc>
              <a:spcBef>
                <a:spcPts val="330"/>
              </a:spcBef>
              <a:buClr>
                <a:srgbClr val="27D2DC"/>
              </a:buClr>
              <a:buSzPct val="90909"/>
              <a:buFont typeface="Lucida Sans Unicode"/>
              <a:buChar char="►"/>
              <a:tabLst>
                <a:tab pos="220345" algn="l"/>
              </a:tabLst>
            </a:pPr>
            <a:r>
              <a:rPr sz="1100" dirty="0">
                <a:solidFill>
                  <a:srgbClr val="F4F8FC"/>
                </a:solidFill>
                <a:latin typeface="Arial MT"/>
                <a:cs typeface="Arial MT"/>
              </a:rPr>
              <a:t>Monthly</a:t>
            </a:r>
            <a:r>
              <a:rPr sz="1100" spc="-30" dirty="0">
                <a:solidFill>
                  <a:srgbClr val="F4F8FC"/>
                </a:solidFill>
                <a:latin typeface="Arial MT"/>
                <a:cs typeface="Arial MT"/>
              </a:rPr>
              <a:t> </a:t>
            </a:r>
            <a:r>
              <a:rPr sz="1100" spc="-35" dirty="0">
                <a:solidFill>
                  <a:srgbClr val="F4F8FC"/>
                </a:solidFill>
                <a:latin typeface="Arial MT"/>
                <a:cs typeface="Arial MT"/>
              </a:rPr>
              <a:t>financial</a:t>
            </a:r>
            <a:r>
              <a:rPr sz="1100" spc="-25" dirty="0">
                <a:solidFill>
                  <a:srgbClr val="F4F8FC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F4F8FC"/>
                </a:solidFill>
                <a:latin typeface="Arial MT"/>
                <a:cs typeface="Arial MT"/>
              </a:rPr>
              <a:t>brief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97015" y="3082885"/>
            <a:ext cx="256222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dirty="0">
                <a:solidFill>
                  <a:srgbClr val="64728C"/>
                </a:solidFill>
                <a:latin typeface="Arial MT"/>
                <a:cs typeface="Arial MT"/>
              </a:rPr>
              <a:t>FinPilot</a:t>
            </a:r>
            <a:r>
              <a:rPr sz="800" spc="45" dirty="0">
                <a:solidFill>
                  <a:srgbClr val="64728C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64728C"/>
                </a:solidFill>
                <a:latin typeface="Arial MT"/>
                <a:cs typeface="Arial MT"/>
              </a:rPr>
              <a:t>—</a:t>
            </a:r>
            <a:r>
              <a:rPr sz="800" spc="50" dirty="0">
                <a:solidFill>
                  <a:srgbClr val="64728C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64728C"/>
                </a:solidFill>
                <a:latin typeface="Arial MT"/>
                <a:cs typeface="Arial MT"/>
              </a:rPr>
              <a:t>AI</a:t>
            </a:r>
            <a:r>
              <a:rPr sz="800" spc="55" dirty="0">
                <a:solidFill>
                  <a:srgbClr val="64728C"/>
                </a:solidFill>
                <a:latin typeface="Arial MT"/>
                <a:cs typeface="Arial MT"/>
              </a:rPr>
              <a:t> </a:t>
            </a:r>
            <a:r>
              <a:rPr sz="800" spc="-20" dirty="0">
                <a:solidFill>
                  <a:srgbClr val="64728C"/>
                </a:solidFill>
                <a:latin typeface="Arial MT"/>
                <a:cs typeface="Arial MT"/>
              </a:rPr>
              <a:t>Personal</a:t>
            </a:r>
            <a:r>
              <a:rPr sz="800" spc="50" dirty="0">
                <a:solidFill>
                  <a:srgbClr val="64728C"/>
                </a:solidFill>
                <a:latin typeface="Arial MT"/>
                <a:cs typeface="Arial MT"/>
              </a:rPr>
              <a:t> </a:t>
            </a:r>
            <a:r>
              <a:rPr sz="800" spc="-20" dirty="0">
                <a:solidFill>
                  <a:srgbClr val="64728C"/>
                </a:solidFill>
                <a:latin typeface="Arial MT"/>
                <a:cs typeface="Arial MT"/>
              </a:rPr>
              <a:t>Finance</a:t>
            </a:r>
            <a:r>
              <a:rPr sz="800" spc="55" dirty="0">
                <a:solidFill>
                  <a:srgbClr val="64728C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64728C"/>
                </a:solidFill>
                <a:latin typeface="Arial MT"/>
                <a:cs typeface="Arial MT"/>
              </a:rPr>
              <a:t>Decision</a:t>
            </a:r>
            <a:r>
              <a:rPr sz="800" spc="50" dirty="0">
                <a:solidFill>
                  <a:srgbClr val="64728C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64728C"/>
                </a:solidFill>
                <a:latin typeface="Arial MT"/>
                <a:cs typeface="Arial MT"/>
              </a:rPr>
              <a:t>Support</a:t>
            </a:r>
            <a:r>
              <a:rPr sz="800" spc="45" dirty="0">
                <a:solidFill>
                  <a:srgbClr val="64728C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64728C"/>
                </a:solidFill>
                <a:latin typeface="Arial MT"/>
                <a:cs typeface="Arial MT"/>
              </a:rPr>
              <a:t>Agent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572388" y="3082885"/>
            <a:ext cx="7937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50" dirty="0">
                <a:solidFill>
                  <a:srgbClr val="64728C"/>
                </a:solidFill>
                <a:latin typeface="Arial MT"/>
                <a:cs typeface="Arial MT"/>
              </a:rPr>
              <a:t>5</a:t>
            </a:r>
            <a:endParaRPr sz="800">
              <a:latin typeface="Arial MT"/>
              <a:cs typeface="Arial MT"/>
            </a:endParaRPr>
          </a:p>
        </p:txBody>
      </p:sp>
    </p:spTree>
  </p:cSld>
  <p:clrMapOvr>
    <a:masterClrMapping/>
  </p:clrMapOvr>
  <p:transition>
    <p:cut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System</a:t>
            </a:r>
            <a:r>
              <a:rPr spc="85" dirty="0"/>
              <a:t> </a:t>
            </a:r>
            <a:r>
              <a:rPr spc="-10" dirty="0"/>
              <a:t>Architecture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998597" y="640827"/>
            <a:ext cx="3605529" cy="964565"/>
            <a:chOff x="1998597" y="640827"/>
            <a:chExt cx="3605529" cy="964565"/>
          </a:xfrm>
        </p:grpSpPr>
        <p:sp>
          <p:nvSpPr>
            <p:cNvPr id="4" name="object 4"/>
            <p:cNvSpPr/>
            <p:nvPr/>
          </p:nvSpPr>
          <p:spPr>
            <a:xfrm>
              <a:off x="3042399" y="643367"/>
              <a:ext cx="1517650" cy="378460"/>
            </a:xfrm>
            <a:custGeom>
              <a:avLst/>
              <a:gdLst/>
              <a:ahLst/>
              <a:cxnLst/>
              <a:rect l="l" t="t" r="r" b="b"/>
              <a:pathLst>
                <a:path w="1517650" h="378459">
                  <a:moveTo>
                    <a:pt x="1454258" y="0"/>
                  </a:moveTo>
                  <a:lnTo>
                    <a:pt x="63263" y="0"/>
                  </a:lnTo>
                  <a:lnTo>
                    <a:pt x="38638" y="4971"/>
                  </a:lnTo>
                  <a:lnTo>
                    <a:pt x="18529" y="18529"/>
                  </a:lnTo>
                  <a:lnTo>
                    <a:pt x="4971" y="38638"/>
                  </a:lnTo>
                  <a:lnTo>
                    <a:pt x="0" y="63263"/>
                  </a:lnTo>
                  <a:lnTo>
                    <a:pt x="0" y="314742"/>
                  </a:lnTo>
                  <a:lnTo>
                    <a:pt x="4971" y="339367"/>
                  </a:lnTo>
                  <a:lnTo>
                    <a:pt x="18529" y="359476"/>
                  </a:lnTo>
                  <a:lnTo>
                    <a:pt x="38638" y="373034"/>
                  </a:lnTo>
                  <a:lnTo>
                    <a:pt x="63263" y="378005"/>
                  </a:lnTo>
                  <a:lnTo>
                    <a:pt x="1454258" y="378005"/>
                  </a:lnTo>
                  <a:lnTo>
                    <a:pt x="1478884" y="373034"/>
                  </a:lnTo>
                  <a:lnTo>
                    <a:pt x="1498993" y="359476"/>
                  </a:lnTo>
                  <a:lnTo>
                    <a:pt x="1512550" y="339367"/>
                  </a:lnTo>
                  <a:lnTo>
                    <a:pt x="1517522" y="314742"/>
                  </a:lnTo>
                  <a:lnTo>
                    <a:pt x="1517522" y="63263"/>
                  </a:lnTo>
                  <a:lnTo>
                    <a:pt x="1512550" y="38638"/>
                  </a:lnTo>
                  <a:lnTo>
                    <a:pt x="1498993" y="18529"/>
                  </a:lnTo>
                  <a:lnTo>
                    <a:pt x="1478884" y="4971"/>
                  </a:lnTo>
                  <a:lnTo>
                    <a:pt x="1454258" y="0"/>
                  </a:lnTo>
                  <a:close/>
                </a:path>
              </a:pathLst>
            </a:custGeom>
            <a:solidFill>
              <a:srgbClr val="0C18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042399" y="643367"/>
              <a:ext cx="1517650" cy="378460"/>
            </a:xfrm>
            <a:custGeom>
              <a:avLst/>
              <a:gdLst/>
              <a:ahLst/>
              <a:cxnLst/>
              <a:rect l="l" t="t" r="r" b="b"/>
              <a:pathLst>
                <a:path w="1517650" h="378459">
                  <a:moveTo>
                    <a:pt x="1454258" y="0"/>
                  </a:moveTo>
                  <a:lnTo>
                    <a:pt x="63263" y="0"/>
                  </a:lnTo>
                  <a:lnTo>
                    <a:pt x="38638" y="4971"/>
                  </a:lnTo>
                  <a:lnTo>
                    <a:pt x="18529" y="18529"/>
                  </a:lnTo>
                  <a:lnTo>
                    <a:pt x="4971" y="38638"/>
                  </a:lnTo>
                  <a:lnTo>
                    <a:pt x="0" y="63263"/>
                  </a:lnTo>
                  <a:lnTo>
                    <a:pt x="0" y="314742"/>
                  </a:lnTo>
                  <a:lnTo>
                    <a:pt x="4971" y="339367"/>
                  </a:lnTo>
                  <a:lnTo>
                    <a:pt x="18529" y="359476"/>
                  </a:lnTo>
                  <a:lnTo>
                    <a:pt x="38638" y="373034"/>
                  </a:lnTo>
                  <a:lnTo>
                    <a:pt x="63263" y="378005"/>
                  </a:lnTo>
                  <a:lnTo>
                    <a:pt x="1454258" y="378005"/>
                  </a:lnTo>
                  <a:lnTo>
                    <a:pt x="1478884" y="373034"/>
                  </a:lnTo>
                  <a:lnTo>
                    <a:pt x="1498993" y="359476"/>
                  </a:lnTo>
                  <a:lnTo>
                    <a:pt x="1512550" y="339367"/>
                  </a:lnTo>
                  <a:lnTo>
                    <a:pt x="1517522" y="314742"/>
                  </a:lnTo>
                  <a:lnTo>
                    <a:pt x="1517522" y="63263"/>
                  </a:lnTo>
                  <a:lnTo>
                    <a:pt x="1512550" y="38638"/>
                  </a:lnTo>
                  <a:lnTo>
                    <a:pt x="1498993" y="18529"/>
                  </a:lnTo>
                  <a:lnTo>
                    <a:pt x="1478884" y="4971"/>
                  </a:lnTo>
                  <a:lnTo>
                    <a:pt x="1454258" y="0"/>
                  </a:lnTo>
                  <a:close/>
                </a:path>
              </a:pathLst>
            </a:custGeom>
            <a:ln w="5060">
              <a:solidFill>
                <a:srgbClr val="308C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001137" y="1224437"/>
              <a:ext cx="3600450" cy="378460"/>
            </a:xfrm>
            <a:custGeom>
              <a:avLst/>
              <a:gdLst/>
              <a:ahLst/>
              <a:cxnLst/>
              <a:rect l="l" t="t" r="r" b="b"/>
              <a:pathLst>
                <a:path w="3600450" h="378459">
                  <a:moveTo>
                    <a:pt x="3536782" y="0"/>
                  </a:moveTo>
                  <a:lnTo>
                    <a:pt x="63263" y="0"/>
                  </a:lnTo>
                  <a:lnTo>
                    <a:pt x="38638" y="4971"/>
                  </a:lnTo>
                  <a:lnTo>
                    <a:pt x="18529" y="18529"/>
                  </a:lnTo>
                  <a:lnTo>
                    <a:pt x="4971" y="38638"/>
                  </a:lnTo>
                  <a:lnTo>
                    <a:pt x="0" y="63263"/>
                  </a:lnTo>
                  <a:lnTo>
                    <a:pt x="0" y="314742"/>
                  </a:lnTo>
                  <a:lnTo>
                    <a:pt x="4971" y="339367"/>
                  </a:lnTo>
                  <a:lnTo>
                    <a:pt x="18529" y="359476"/>
                  </a:lnTo>
                  <a:lnTo>
                    <a:pt x="38638" y="373034"/>
                  </a:lnTo>
                  <a:lnTo>
                    <a:pt x="63263" y="378005"/>
                  </a:lnTo>
                  <a:lnTo>
                    <a:pt x="3536782" y="378005"/>
                  </a:lnTo>
                  <a:lnTo>
                    <a:pt x="3561407" y="373034"/>
                  </a:lnTo>
                  <a:lnTo>
                    <a:pt x="3581516" y="359476"/>
                  </a:lnTo>
                  <a:lnTo>
                    <a:pt x="3595074" y="339367"/>
                  </a:lnTo>
                  <a:lnTo>
                    <a:pt x="3600046" y="314742"/>
                  </a:lnTo>
                  <a:lnTo>
                    <a:pt x="3600046" y="63263"/>
                  </a:lnTo>
                  <a:lnTo>
                    <a:pt x="3595074" y="38638"/>
                  </a:lnTo>
                  <a:lnTo>
                    <a:pt x="3581516" y="18529"/>
                  </a:lnTo>
                  <a:lnTo>
                    <a:pt x="3561407" y="4971"/>
                  </a:lnTo>
                  <a:lnTo>
                    <a:pt x="3536782" y="0"/>
                  </a:lnTo>
                  <a:close/>
                </a:path>
              </a:pathLst>
            </a:custGeom>
            <a:solidFill>
              <a:srgbClr val="0C18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001137" y="1224437"/>
              <a:ext cx="3600450" cy="378460"/>
            </a:xfrm>
            <a:custGeom>
              <a:avLst/>
              <a:gdLst/>
              <a:ahLst/>
              <a:cxnLst/>
              <a:rect l="l" t="t" r="r" b="b"/>
              <a:pathLst>
                <a:path w="3600450" h="378459">
                  <a:moveTo>
                    <a:pt x="3536782" y="0"/>
                  </a:moveTo>
                  <a:lnTo>
                    <a:pt x="63263" y="0"/>
                  </a:lnTo>
                  <a:lnTo>
                    <a:pt x="38638" y="4971"/>
                  </a:lnTo>
                  <a:lnTo>
                    <a:pt x="18529" y="18529"/>
                  </a:lnTo>
                  <a:lnTo>
                    <a:pt x="4971" y="38638"/>
                  </a:lnTo>
                  <a:lnTo>
                    <a:pt x="0" y="63263"/>
                  </a:lnTo>
                  <a:lnTo>
                    <a:pt x="0" y="314742"/>
                  </a:lnTo>
                  <a:lnTo>
                    <a:pt x="4971" y="339367"/>
                  </a:lnTo>
                  <a:lnTo>
                    <a:pt x="18529" y="359476"/>
                  </a:lnTo>
                  <a:lnTo>
                    <a:pt x="38638" y="373034"/>
                  </a:lnTo>
                  <a:lnTo>
                    <a:pt x="63263" y="378005"/>
                  </a:lnTo>
                  <a:lnTo>
                    <a:pt x="3536782" y="378005"/>
                  </a:lnTo>
                  <a:lnTo>
                    <a:pt x="3561407" y="373034"/>
                  </a:lnTo>
                  <a:lnTo>
                    <a:pt x="3581516" y="359476"/>
                  </a:lnTo>
                  <a:lnTo>
                    <a:pt x="3595074" y="339367"/>
                  </a:lnTo>
                  <a:lnTo>
                    <a:pt x="3600046" y="314742"/>
                  </a:lnTo>
                  <a:lnTo>
                    <a:pt x="3600046" y="63263"/>
                  </a:lnTo>
                  <a:lnTo>
                    <a:pt x="3595074" y="38638"/>
                  </a:lnTo>
                  <a:lnTo>
                    <a:pt x="3581516" y="18529"/>
                  </a:lnTo>
                  <a:lnTo>
                    <a:pt x="3561407" y="4971"/>
                  </a:lnTo>
                  <a:lnTo>
                    <a:pt x="3536782" y="0"/>
                  </a:lnTo>
                  <a:close/>
                </a:path>
              </a:pathLst>
            </a:custGeom>
            <a:ln w="5060">
              <a:solidFill>
                <a:srgbClr val="308C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3075584" y="639926"/>
            <a:ext cx="1450975" cy="85153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0"/>
              </a:spcBef>
            </a:pPr>
            <a:r>
              <a:rPr sz="1100" b="1" spc="-10" dirty="0">
                <a:solidFill>
                  <a:srgbClr val="F4F8FC"/>
                </a:solidFill>
                <a:latin typeface="Arial"/>
                <a:cs typeface="Arial"/>
              </a:rPr>
              <a:t>Streamlit</a:t>
            </a:r>
            <a:r>
              <a:rPr sz="1100" b="1" spc="-5" dirty="0">
                <a:solidFill>
                  <a:srgbClr val="F4F8FC"/>
                </a:solidFill>
                <a:latin typeface="Arial"/>
                <a:cs typeface="Arial"/>
              </a:rPr>
              <a:t> </a:t>
            </a:r>
            <a:r>
              <a:rPr sz="1100" b="1" spc="-25" dirty="0">
                <a:solidFill>
                  <a:srgbClr val="F4F8FC"/>
                </a:solidFill>
                <a:latin typeface="Arial"/>
                <a:cs typeface="Arial"/>
              </a:rPr>
              <a:t>UI</a:t>
            </a:r>
            <a:endParaRPr sz="11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35"/>
              </a:spcBef>
            </a:pPr>
            <a:r>
              <a:rPr sz="1100" spc="-65" dirty="0">
                <a:solidFill>
                  <a:srgbClr val="F4F8FC"/>
                </a:solidFill>
                <a:latin typeface="Arial MT"/>
                <a:cs typeface="Arial MT"/>
              </a:rPr>
              <a:t>Dashboard</a:t>
            </a:r>
            <a:r>
              <a:rPr sz="1100" spc="25" dirty="0">
                <a:solidFill>
                  <a:srgbClr val="F4F8FC"/>
                </a:solidFill>
                <a:latin typeface="Arial MT"/>
                <a:cs typeface="Arial MT"/>
              </a:rPr>
              <a:t> </a:t>
            </a:r>
            <a:r>
              <a:rPr sz="1100" spc="200" dirty="0">
                <a:solidFill>
                  <a:srgbClr val="F4F8FC"/>
                </a:solidFill>
                <a:latin typeface="Arial MT"/>
                <a:cs typeface="Arial MT"/>
              </a:rPr>
              <a:t>+</a:t>
            </a:r>
            <a:r>
              <a:rPr sz="1100" spc="30" dirty="0">
                <a:solidFill>
                  <a:srgbClr val="F4F8FC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F4F8FC"/>
                </a:solidFill>
                <a:latin typeface="Arial MT"/>
                <a:cs typeface="Arial MT"/>
              </a:rPr>
              <a:t>Interaction</a:t>
            </a:r>
            <a:endParaRPr sz="11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250"/>
              </a:spcBef>
            </a:pPr>
            <a:endParaRPr sz="1100">
              <a:latin typeface="Arial MT"/>
              <a:cs typeface="Arial MT"/>
            </a:endParaRPr>
          </a:p>
          <a:p>
            <a:pPr marR="37465" algn="ctr">
              <a:lnSpc>
                <a:spcPct val="100000"/>
              </a:lnSpc>
            </a:pPr>
            <a:r>
              <a:rPr sz="1100" b="1" dirty="0">
                <a:solidFill>
                  <a:srgbClr val="F4F8FC"/>
                </a:solidFill>
                <a:latin typeface="Arial"/>
                <a:cs typeface="Arial"/>
              </a:rPr>
              <a:t>FinPilot</a:t>
            </a:r>
            <a:r>
              <a:rPr sz="1100" b="1" spc="-25" dirty="0">
                <a:solidFill>
                  <a:srgbClr val="F4F8FC"/>
                </a:solidFill>
                <a:latin typeface="Arial"/>
                <a:cs typeface="Arial"/>
              </a:rPr>
              <a:t> </a:t>
            </a:r>
            <a:r>
              <a:rPr sz="1100" b="1" spc="-35" dirty="0">
                <a:solidFill>
                  <a:srgbClr val="F4F8FC"/>
                </a:solidFill>
                <a:latin typeface="Arial"/>
                <a:cs typeface="Arial"/>
              </a:rPr>
              <a:t>Core</a:t>
            </a:r>
            <a:r>
              <a:rPr sz="1100" b="1" spc="-20" dirty="0">
                <a:solidFill>
                  <a:srgbClr val="F4F8FC"/>
                </a:solidFill>
                <a:latin typeface="Arial"/>
                <a:cs typeface="Arial"/>
              </a:rPr>
              <a:t> </a:t>
            </a:r>
            <a:r>
              <a:rPr sz="1100" b="1" spc="-10" dirty="0">
                <a:solidFill>
                  <a:srgbClr val="F4F8FC"/>
                </a:solidFill>
                <a:latin typeface="Arial"/>
                <a:cs typeface="Arial"/>
              </a:rPr>
              <a:t>Agent</a:t>
            </a:r>
            <a:endParaRPr sz="1100">
              <a:latin typeface="Arial"/>
              <a:cs typeface="Arial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359952" y="1820969"/>
            <a:ext cx="1278890" cy="400050"/>
            <a:chOff x="359952" y="1820969"/>
            <a:chExt cx="1278890" cy="400050"/>
          </a:xfrm>
        </p:grpSpPr>
        <p:sp>
          <p:nvSpPr>
            <p:cNvPr id="10" name="object 10"/>
            <p:cNvSpPr/>
            <p:nvPr/>
          </p:nvSpPr>
          <p:spPr>
            <a:xfrm>
              <a:off x="362492" y="1823509"/>
              <a:ext cx="1273810" cy="394970"/>
            </a:xfrm>
            <a:custGeom>
              <a:avLst/>
              <a:gdLst/>
              <a:ahLst/>
              <a:cxnLst/>
              <a:rect l="l" t="t" r="r" b="b"/>
              <a:pathLst>
                <a:path w="1273810" h="394969">
                  <a:moveTo>
                    <a:pt x="1210316" y="0"/>
                  </a:moveTo>
                  <a:lnTo>
                    <a:pt x="63263" y="0"/>
                  </a:lnTo>
                  <a:lnTo>
                    <a:pt x="38638" y="4971"/>
                  </a:lnTo>
                  <a:lnTo>
                    <a:pt x="18529" y="18529"/>
                  </a:lnTo>
                  <a:lnTo>
                    <a:pt x="4971" y="38638"/>
                  </a:lnTo>
                  <a:lnTo>
                    <a:pt x="0" y="63263"/>
                  </a:lnTo>
                  <a:lnTo>
                    <a:pt x="0" y="331409"/>
                  </a:lnTo>
                  <a:lnTo>
                    <a:pt x="4971" y="356034"/>
                  </a:lnTo>
                  <a:lnTo>
                    <a:pt x="18529" y="376143"/>
                  </a:lnTo>
                  <a:lnTo>
                    <a:pt x="38638" y="389701"/>
                  </a:lnTo>
                  <a:lnTo>
                    <a:pt x="63263" y="394673"/>
                  </a:lnTo>
                  <a:lnTo>
                    <a:pt x="1210316" y="394673"/>
                  </a:lnTo>
                  <a:lnTo>
                    <a:pt x="1234941" y="389701"/>
                  </a:lnTo>
                  <a:lnTo>
                    <a:pt x="1255050" y="376143"/>
                  </a:lnTo>
                  <a:lnTo>
                    <a:pt x="1268608" y="356034"/>
                  </a:lnTo>
                  <a:lnTo>
                    <a:pt x="1273579" y="331409"/>
                  </a:lnTo>
                  <a:lnTo>
                    <a:pt x="1273579" y="63263"/>
                  </a:lnTo>
                  <a:lnTo>
                    <a:pt x="1268608" y="38638"/>
                  </a:lnTo>
                  <a:lnTo>
                    <a:pt x="1255050" y="18529"/>
                  </a:lnTo>
                  <a:lnTo>
                    <a:pt x="1234941" y="4971"/>
                  </a:lnTo>
                  <a:lnTo>
                    <a:pt x="1210316" y="0"/>
                  </a:lnTo>
                  <a:close/>
                </a:path>
              </a:pathLst>
            </a:custGeom>
            <a:solidFill>
              <a:srgbClr val="0C18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62492" y="1823509"/>
              <a:ext cx="1273810" cy="394970"/>
            </a:xfrm>
            <a:custGeom>
              <a:avLst/>
              <a:gdLst/>
              <a:ahLst/>
              <a:cxnLst/>
              <a:rect l="l" t="t" r="r" b="b"/>
              <a:pathLst>
                <a:path w="1273810" h="394969">
                  <a:moveTo>
                    <a:pt x="1210316" y="0"/>
                  </a:moveTo>
                  <a:lnTo>
                    <a:pt x="63263" y="0"/>
                  </a:lnTo>
                  <a:lnTo>
                    <a:pt x="38638" y="4971"/>
                  </a:lnTo>
                  <a:lnTo>
                    <a:pt x="18529" y="18529"/>
                  </a:lnTo>
                  <a:lnTo>
                    <a:pt x="4971" y="38638"/>
                  </a:lnTo>
                  <a:lnTo>
                    <a:pt x="0" y="63263"/>
                  </a:lnTo>
                  <a:lnTo>
                    <a:pt x="0" y="331409"/>
                  </a:lnTo>
                  <a:lnTo>
                    <a:pt x="4971" y="356034"/>
                  </a:lnTo>
                  <a:lnTo>
                    <a:pt x="18529" y="376143"/>
                  </a:lnTo>
                  <a:lnTo>
                    <a:pt x="38638" y="389701"/>
                  </a:lnTo>
                  <a:lnTo>
                    <a:pt x="63263" y="394673"/>
                  </a:lnTo>
                  <a:lnTo>
                    <a:pt x="1210316" y="394673"/>
                  </a:lnTo>
                  <a:lnTo>
                    <a:pt x="1234941" y="389701"/>
                  </a:lnTo>
                  <a:lnTo>
                    <a:pt x="1255050" y="376143"/>
                  </a:lnTo>
                  <a:lnTo>
                    <a:pt x="1268608" y="356034"/>
                  </a:lnTo>
                  <a:lnTo>
                    <a:pt x="1273579" y="331409"/>
                  </a:lnTo>
                  <a:lnTo>
                    <a:pt x="1273579" y="63263"/>
                  </a:lnTo>
                  <a:lnTo>
                    <a:pt x="1268608" y="38638"/>
                  </a:lnTo>
                  <a:lnTo>
                    <a:pt x="1255050" y="18529"/>
                  </a:lnTo>
                  <a:lnTo>
                    <a:pt x="1234941" y="4971"/>
                  </a:lnTo>
                  <a:lnTo>
                    <a:pt x="1210316" y="0"/>
                  </a:lnTo>
                  <a:close/>
                </a:path>
              </a:pathLst>
            </a:custGeom>
            <a:ln w="5060">
              <a:solidFill>
                <a:srgbClr val="308C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395706" y="1814333"/>
            <a:ext cx="1207770" cy="36385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0"/>
              </a:spcBef>
            </a:pPr>
            <a:r>
              <a:rPr sz="1100" spc="-10" dirty="0">
                <a:solidFill>
                  <a:srgbClr val="F4F8FC"/>
                </a:solidFill>
                <a:latin typeface="Arial MT"/>
                <a:cs typeface="Arial MT"/>
              </a:rPr>
              <a:t>Ingestion</a:t>
            </a:r>
            <a:endParaRPr sz="1100">
              <a:latin typeface="Arial MT"/>
              <a:cs typeface="Arial MT"/>
            </a:endParaRPr>
          </a:p>
          <a:p>
            <a:pPr algn="ctr">
              <a:lnSpc>
                <a:spcPct val="100000"/>
              </a:lnSpc>
              <a:spcBef>
                <a:spcPts val="35"/>
              </a:spcBef>
            </a:pPr>
            <a:r>
              <a:rPr sz="1100" spc="-85" dirty="0">
                <a:solidFill>
                  <a:srgbClr val="F4F8FC"/>
                </a:solidFill>
                <a:latin typeface="Arial MT"/>
                <a:cs typeface="Arial MT"/>
              </a:rPr>
              <a:t>CSV</a:t>
            </a:r>
            <a:r>
              <a:rPr sz="1100" spc="30" dirty="0">
                <a:solidFill>
                  <a:srgbClr val="F4F8FC"/>
                </a:solidFill>
                <a:latin typeface="Arial MT"/>
                <a:cs typeface="Arial MT"/>
              </a:rPr>
              <a:t> </a:t>
            </a:r>
            <a:r>
              <a:rPr sz="1100" spc="240" dirty="0">
                <a:solidFill>
                  <a:srgbClr val="F4F8FC"/>
                </a:solidFill>
                <a:latin typeface="Arial MT"/>
                <a:cs typeface="Arial MT"/>
              </a:rPr>
              <a:t>/</a:t>
            </a:r>
            <a:r>
              <a:rPr sz="1100" spc="35" dirty="0">
                <a:solidFill>
                  <a:srgbClr val="F4F8FC"/>
                </a:solidFill>
                <a:latin typeface="Arial MT"/>
                <a:cs typeface="Arial MT"/>
              </a:rPr>
              <a:t> </a:t>
            </a:r>
            <a:r>
              <a:rPr sz="1100" spc="-55" dirty="0">
                <a:solidFill>
                  <a:srgbClr val="F4F8FC"/>
                </a:solidFill>
                <a:latin typeface="Arial MT"/>
                <a:cs typeface="Arial MT"/>
              </a:rPr>
              <a:t>JSON</a:t>
            </a:r>
            <a:r>
              <a:rPr sz="1100" spc="30" dirty="0">
                <a:solidFill>
                  <a:srgbClr val="F4F8FC"/>
                </a:solidFill>
                <a:latin typeface="Arial MT"/>
                <a:cs typeface="Arial MT"/>
              </a:rPr>
              <a:t> </a:t>
            </a:r>
            <a:r>
              <a:rPr sz="1100" spc="240" dirty="0">
                <a:solidFill>
                  <a:srgbClr val="F4F8FC"/>
                </a:solidFill>
                <a:latin typeface="Arial MT"/>
                <a:cs typeface="Arial MT"/>
              </a:rPr>
              <a:t>/</a:t>
            </a:r>
            <a:r>
              <a:rPr sz="1100" spc="35" dirty="0">
                <a:solidFill>
                  <a:srgbClr val="F4F8FC"/>
                </a:solidFill>
                <a:latin typeface="Arial MT"/>
                <a:cs typeface="Arial MT"/>
              </a:rPr>
              <a:t> </a:t>
            </a:r>
            <a:r>
              <a:rPr sz="1100" spc="-25" dirty="0">
                <a:solidFill>
                  <a:srgbClr val="F4F8FC"/>
                </a:solidFill>
                <a:latin typeface="Arial MT"/>
                <a:cs typeface="Arial MT"/>
              </a:rPr>
              <a:t>PDF</a:t>
            </a:r>
            <a:endParaRPr sz="1100">
              <a:latin typeface="Arial MT"/>
              <a:cs typeface="Arial MT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3019293" y="1820969"/>
            <a:ext cx="1564005" cy="405130"/>
            <a:chOff x="3019293" y="1820969"/>
            <a:chExt cx="1564005" cy="405130"/>
          </a:xfrm>
        </p:grpSpPr>
        <p:sp>
          <p:nvSpPr>
            <p:cNvPr id="14" name="object 14"/>
            <p:cNvSpPr/>
            <p:nvPr/>
          </p:nvSpPr>
          <p:spPr>
            <a:xfrm>
              <a:off x="3021833" y="1823509"/>
              <a:ext cx="1558925" cy="400050"/>
            </a:xfrm>
            <a:custGeom>
              <a:avLst/>
              <a:gdLst/>
              <a:ahLst/>
              <a:cxnLst/>
              <a:rect l="l" t="t" r="r" b="b"/>
              <a:pathLst>
                <a:path w="1558925" h="400050">
                  <a:moveTo>
                    <a:pt x="1495390" y="0"/>
                  </a:moveTo>
                  <a:lnTo>
                    <a:pt x="63263" y="0"/>
                  </a:lnTo>
                  <a:lnTo>
                    <a:pt x="38638" y="4971"/>
                  </a:lnTo>
                  <a:lnTo>
                    <a:pt x="18529" y="18529"/>
                  </a:lnTo>
                  <a:lnTo>
                    <a:pt x="4971" y="38638"/>
                  </a:lnTo>
                  <a:lnTo>
                    <a:pt x="0" y="63263"/>
                  </a:lnTo>
                  <a:lnTo>
                    <a:pt x="0" y="336318"/>
                  </a:lnTo>
                  <a:lnTo>
                    <a:pt x="4971" y="360943"/>
                  </a:lnTo>
                  <a:lnTo>
                    <a:pt x="18529" y="381052"/>
                  </a:lnTo>
                  <a:lnTo>
                    <a:pt x="38638" y="394610"/>
                  </a:lnTo>
                  <a:lnTo>
                    <a:pt x="63263" y="399582"/>
                  </a:lnTo>
                  <a:lnTo>
                    <a:pt x="1495390" y="399582"/>
                  </a:lnTo>
                  <a:lnTo>
                    <a:pt x="1520015" y="394610"/>
                  </a:lnTo>
                  <a:lnTo>
                    <a:pt x="1540124" y="381052"/>
                  </a:lnTo>
                  <a:lnTo>
                    <a:pt x="1553682" y="360943"/>
                  </a:lnTo>
                  <a:lnTo>
                    <a:pt x="1558653" y="336318"/>
                  </a:lnTo>
                  <a:lnTo>
                    <a:pt x="1558653" y="63263"/>
                  </a:lnTo>
                  <a:lnTo>
                    <a:pt x="1553682" y="38638"/>
                  </a:lnTo>
                  <a:lnTo>
                    <a:pt x="1540124" y="18529"/>
                  </a:lnTo>
                  <a:lnTo>
                    <a:pt x="1520015" y="4971"/>
                  </a:lnTo>
                  <a:lnTo>
                    <a:pt x="1495390" y="0"/>
                  </a:lnTo>
                  <a:close/>
                </a:path>
              </a:pathLst>
            </a:custGeom>
            <a:solidFill>
              <a:srgbClr val="0C18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021833" y="1823509"/>
              <a:ext cx="1558925" cy="400050"/>
            </a:xfrm>
            <a:custGeom>
              <a:avLst/>
              <a:gdLst/>
              <a:ahLst/>
              <a:cxnLst/>
              <a:rect l="l" t="t" r="r" b="b"/>
              <a:pathLst>
                <a:path w="1558925" h="400050">
                  <a:moveTo>
                    <a:pt x="1495390" y="0"/>
                  </a:moveTo>
                  <a:lnTo>
                    <a:pt x="63263" y="0"/>
                  </a:lnTo>
                  <a:lnTo>
                    <a:pt x="38638" y="4971"/>
                  </a:lnTo>
                  <a:lnTo>
                    <a:pt x="18529" y="18529"/>
                  </a:lnTo>
                  <a:lnTo>
                    <a:pt x="4971" y="38638"/>
                  </a:lnTo>
                  <a:lnTo>
                    <a:pt x="0" y="63263"/>
                  </a:lnTo>
                  <a:lnTo>
                    <a:pt x="0" y="336318"/>
                  </a:lnTo>
                  <a:lnTo>
                    <a:pt x="4971" y="360943"/>
                  </a:lnTo>
                  <a:lnTo>
                    <a:pt x="18529" y="381052"/>
                  </a:lnTo>
                  <a:lnTo>
                    <a:pt x="38638" y="394610"/>
                  </a:lnTo>
                  <a:lnTo>
                    <a:pt x="63263" y="399582"/>
                  </a:lnTo>
                  <a:lnTo>
                    <a:pt x="1495390" y="399582"/>
                  </a:lnTo>
                  <a:lnTo>
                    <a:pt x="1520015" y="394610"/>
                  </a:lnTo>
                  <a:lnTo>
                    <a:pt x="1540124" y="381052"/>
                  </a:lnTo>
                  <a:lnTo>
                    <a:pt x="1553682" y="360943"/>
                  </a:lnTo>
                  <a:lnTo>
                    <a:pt x="1558653" y="336318"/>
                  </a:lnTo>
                  <a:lnTo>
                    <a:pt x="1558653" y="63263"/>
                  </a:lnTo>
                  <a:lnTo>
                    <a:pt x="1553682" y="38638"/>
                  </a:lnTo>
                  <a:lnTo>
                    <a:pt x="1540124" y="18529"/>
                  </a:lnTo>
                  <a:lnTo>
                    <a:pt x="1520015" y="4971"/>
                  </a:lnTo>
                  <a:lnTo>
                    <a:pt x="1495390" y="0"/>
                  </a:lnTo>
                  <a:close/>
                </a:path>
              </a:pathLst>
            </a:custGeom>
            <a:ln w="5060">
              <a:solidFill>
                <a:srgbClr val="308C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3055023" y="1819235"/>
            <a:ext cx="1492250" cy="36385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5080" indent="473075">
              <a:lnSpc>
                <a:spcPct val="102699"/>
              </a:lnSpc>
              <a:spcBef>
                <a:spcPts val="55"/>
              </a:spcBef>
            </a:pPr>
            <a:r>
              <a:rPr sz="1100" spc="-10" dirty="0">
                <a:solidFill>
                  <a:srgbClr val="F4F8FC"/>
                </a:solidFill>
                <a:latin typeface="Arial MT"/>
                <a:cs typeface="Arial MT"/>
              </a:rPr>
              <a:t>Analytics </a:t>
            </a:r>
            <a:r>
              <a:rPr sz="1100" spc="-50" dirty="0">
                <a:solidFill>
                  <a:srgbClr val="F4F8FC"/>
                </a:solidFill>
                <a:latin typeface="Arial MT"/>
                <a:cs typeface="Arial MT"/>
              </a:rPr>
              <a:t>Categorization</a:t>
            </a:r>
            <a:r>
              <a:rPr sz="1100" spc="55" dirty="0">
                <a:solidFill>
                  <a:srgbClr val="F4F8FC"/>
                </a:solidFill>
                <a:latin typeface="Arial MT"/>
                <a:cs typeface="Arial MT"/>
              </a:rPr>
              <a:t> </a:t>
            </a:r>
            <a:r>
              <a:rPr sz="1100" spc="240" dirty="0">
                <a:solidFill>
                  <a:srgbClr val="F4F8FC"/>
                </a:solidFill>
                <a:latin typeface="Arial MT"/>
                <a:cs typeface="Arial MT"/>
              </a:rPr>
              <a:t>/</a:t>
            </a:r>
            <a:r>
              <a:rPr sz="1100" spc="55" dirty="0">
                <a:solidFill>
                  <a:srgbClr val="F4F8FC"/>
                </a:solidFill>
                <a:latin typeface="Arial MT"/>
                <a:cs typeface="Arial MT"/>
              </a:rPr>
              <a:t> </a:t>
            </a:r>
            <a:r>
              <a:rPr sz="1100" spc="-35" dirty="0">
                <a:solidFill>
                  <a:srgbClr val="F4F8FC"/>
                </a:solidFill>
                <a:latin typeface="Arial MT"/>
                <a:cs typeface="Arial MT"/>
              </a:rPr>
              <a:t>Patterns</a:t>
            </a:r>
            <a:endParaRPr sz="1100">
              <a:latin typeface="Arial MT"/>
              <a:cs typeface="Arial MT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2898609" y="2945621"/>
            <a:ext cx="1805305" cy="297180"/>
            <a:chOff x="2898609" y="2945621"/>
            <a:chExt cx="1805305" cy="297180"/>
          </a:xfrm>
        </p:grpSpPr>
        <p:sp>
          <p:nvSpPr>
            <p:cNvPr id="18" name="object 18"/>
            <p:cNvSpPr/>
            <p:nvPr/>
          </p:nvSpPr>
          <p:spPr>
            <a:xfrm>
              <a:off x="2901149" y="2948161"/>
              <a:ext cx="1800225" cy="292100"/>
            </a:xfrm>
            <a:custGeom>
              <a:avLst/>
              <a:gdLst/>
              <a:ahLst/>
              <a:cxnLst/>
              <a:rect l="l" t="t" r="r" b="b"/>
              <a:pathLst>
                <a:path w="1800225" h="292100">
                  <a:moveTo>
                    <a:pt x="1736759" y="0"/>
                  </a:moveTo>
                  <a:lnTo>
                    <a:pt x="63263" y="0"/>
                  </a:lnTo>
                  <a:lnTo>
                    <a:pt x="38638" y="4971"/>
                  </a:lnTo>
                  <a:lnTo>
                    <a:pt x="18529" y="18529"/>
                  </a:lnTo>
                  <a:lnTo>
                    <a:pt x="4971" y="38638"/>
                  </a:lnTo>
                  <a:lnTo>
                    <a:pt x="0" y="63263"/>
                  </a:lnTo>
                  <a:lnTo>
                    <a:pt x="0" y="291836"/>
                  </a:lnTo>
                  <a:lnTo>
                    <a:pt x="1800022" y="291836"/>
                  </a:lnTo>
                  <a:lnTo>
                    <a:pt x="1800022" y="63263"/>
                  </a:lnTo>
                  <a:lnTo>
                    <a:pt x="1795051" y="38638"/>
                  </a:lnTo>
                  <a:lnTo>
                    <a:pt x="1781493" y="18529"/>
                  </a:lnTo>
                  <a:lnTo>
                    <a:pt x="1761384" y="4971"/>
                  </a:lnTo>
                  <a:lnTo>
                    <a:pt x="1736759" y="0"/>
                  </a:lnTo>
                  <a:close/>
                </a:path>
              </a:pathLst>
            </a:custGeom>
            <a:solidFill>
              <a:srgbClr val="0C18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2901149" y="2948161"/>
              <a:ext cx="1800225" cy="292100"/>
            </a:xfrm>
            <a:custGeom>
              <a:avLst/>
              <a:gdLst/>
              <a:ahLst/>
              <a:cxnLst/>
              <a:rect l="l" t="t" r="r" b="b"/>
              <a:pathLst>
                <a:path w="1800225" h="292100">
                  <a:moveTo>
                    <a:pt x="1800022" y="291836"/>
                  </a:moveTo>
                  <a:lnTo>
                    <a:pt x="1800022" y="63263"/>
                  </a:lnTo>
                  <a:lnTo>
                    <a:pt x="1795051" y="38638"/>
                  </a:lnTo>
                  <a:lnTo>
                    <a:pt x="1781493" y="18529"/>
                  </a:lnTo>
                  <a:lnTo>
                    <a:pt x="1761384" y="4971"/>
                  </a:lnTo>
                  <a:lnTo>
                    <a:pt x="1736759" y="0"/>
                  </a:lnTo>
                  <a:lnTo>
                    <a:pt x="63263" y="0"/>
                  </a:lnTo>
                  <a:lnTo>
                    <a:pt x="38638" y="4971"/>
                  </a:lnTo>
                  <a:lnTo>
                    <a:pt x="18529" y="18529"/>
                  </a:lnTo>
                  <a:lnTo>
                    <a:pt x="4971" y="38638"/>
                  </a:lnTo>
                  <a:lnTo>
                    <a:pt x="0" y="63263"/>
                  </a:lnTo>
                  <a:lnTo>
                    <a:pt x="0" y="291836"/>
                  </a:lnTo>
                </a:path>
              </a:pathLst>
            </a:custGeom>
            <a:ln w="5060">
              <a:solidFill>
                <a:srgbClr val="308C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3277870" y="2943884"/>
            <a:ext cx="1046480" cy="36385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35255" marR="5080" indent="-123189">
              <a:lnSpc>
                <a:spcPct val="102600"/>
              </a:lnSpc>
              <a:spcBef>
                <a:spcPts val="55"/>
              </a:spcBef>
            </a:pPr>
            <a:r>
              <a:rPr sz="1100" spc="-20" dirty="0">
                <a:solidFill>
                  <a:srgbClr val="F4F8FC"/>
                </a:solidFill>
                <a:latin typeface="Arial MT"/>
                <a:cs typeface="Arial MT"/>
              </a:rPr>
              <a:t>Natural</a:t>
            </a:r>
            <a:r>
              <a:rPr sz="1100" spc="-15" dirty="0">
                <a:solidFill>
                  <a:srgbClr val="F4F8FC"/>
                </a:solidFill>
                <a:latin typeface="Arial MT"/>
                <a:cs typeface="Arial MT"/>
              </a:rPr>
              <a:t> </a:t>
            </a:r>
            <a:r>
              <a:rPr sz="1100" spc="-80" dirty="0">
                <a:solidFill>
                  <a:srgbClr val="F4F8FC"/>
                </a:solidFill>
                <a:latin typeface="Arial MT"/>
                <a:cs typeface="Arial MT"/>
              </a:rPr>
              <a:t>Language </a:t>
            </a:r>
            <a:r>
              <a:rPr sz="1100" spc="-50" dirty="0">
                <a:solidFill>
                  <a:srgbClr val="F4F8FC"/>
                </a:solidFill>
                <a:latin typeface="Arial MT"/>
                <a:cs typeface="Arial MT"/>
              </a:rPr>
              <a:t>Query</a:t>
            </a:r>
            <a:r>
              <a:rPr sz="1100" spc="5" dirty="0">
                <a:solidFill>
                  <a:srgbClr val="F4F8FC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F4F8FC"/>
                </a:solidFill>
                <a:latin typeface="Arial MT"/>
                <a:cs typeface="Arial MT"/>
              </a:rPr>
              <a:t>Router</a:t>
            </a:r>
            <a:endParaRPr sz="1100">
              <a:latin typeface="Arial MT"/>
              <a:cs typeface="Arial MT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1661599" y="1023903"/>
            <a:ext cx="4106545" cy="1898014"/>
            <a:chOff x="1661599" y="1023903"/>
            <a:chExt cx="4106545" cy="1898014"/>
          </a:xfrm>
        </p:grpSpPr>
        <p:pic>
          <p:nvPicPr>
            <p:cNvPr id="22" name="object 2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766930" y="1023903"/>
              <a:ext cx="68460" cy="174294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1735045" y="1604974"/>
              <a:ext cx="1183640" cy="257175"/>
            </a:xfrm>
            <a:custGeom>
              <a:avLst/>
              <a:gdLst/>
              <a:ahLst/>
              <a:cxnLst/>
              <a:rect l="l" t="t" r="r" b="b"/>
              <a:pathLst>
                <a:path w="1183639" h="257175">
                  <a:moveTo>
                    <a:pt x="1183474" y="0"/>
                  </a:moveTo>
                  <a:lnTo>
                    <a:pt x="0" y="256801"/>
                  </a:lnTo>
                </a:path>
              </a:pathLst>
            </a:custGeom>
            <a:ln w="15183">
              <a:solidFill>
                <a:srgbClr val="27D2D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4" name="object 2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661599" y="1828152"/>
              <a:ext cx="86685" cy="67246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766930" y="1604974"/>
              <a:ext cx="68460" cy="192295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3801160" y="1604974"/>
              <a:ext cx="1958975" cy="1242060"/>
            </a:xfrm>
            <a:custGeom>
              <a:avLst/>
              <a:gdLst/>
              <a:ahLst/>
              <a:cxnLst/>
              <a:rect l="l" t="t" r="r" b="b"/>
              <a:pathLst>
                <a:path w="1958975" h="1242060">
                  <a:moveTo>
                    <a:pt x="944582" y="0"/>
                  </a:moveTo>
                  <a:lnTo>
                    <a:pt x="1958835" y="205517"/>
                  </a:lnTo>
                </a:path>
                <a:path w="1958975" h="1242060">
                  <a:moveTo>
                    <a:pt x="0" y="620648"/>
                  </a:moveTo>
                  <a:lnTo>
                    <a:pt x="0" y="1241966"/>
                  </a:lnTo>
                </a:path>
              </a:pathLst>
            </a:custGeom>
            <a:ln w="15183">
              <a:solidFill>
                <a:srgbClr val="27D2D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7" name="object 2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766930" y="2839348"/>
              <a:ext cx="68460" cy="82573"/>
            </a:xfrm>
            <a:prstGeom prst="rect">
              <a:avLst/>
            </a:prstGeom>
          </p:spPr>
        </p:pic>
      </p:grpSp>
      <p:sp>
        <p:nvSpPr>
          <p:cNvPr id="28" name="object 28"/>
          <p:cNvSpPr txBox="1"/>
          <p:nvPr/>
        </p:nvSpPr>
        <p:spPr>
          <a:xfrm>
            <a:off x="197015" y="3082885"/>
            <a:ext cx="256222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dirty="0">
                <a:solidFill>
                  <a:srgbClr val="64728C"/>
                </a:solidFill>
                <a:latin typeface="Arial MT"/>
                <a:cs typeface="Arial MT"/>
              </a:rPr>
              <a:t>FinPilot</a:t>
            </a:r>
            <a:r>
              <a:rPr sz="800" spc="45" dirty="0">
                <a:solidFill>
                  <a:srgbClr val="64728C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64728C"/>
                </a:solidFill>
                <a:latin typeface="Arial MT"/>
                <a:cs typeface="Arial MT"/>
              </a:rPr>
              <a:t>—</a:t>
            </a:r>
            <a:r>
              <a:rPr sz="800" spc="50" dirty="0">
                <a:solidFill>
                  <a:srgbClr val="64728C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64728C"/>
                </a:solidFill>
                <a:latin typeface="Arial MT"/>
                <a:cs typeface="Arial MT"/>
              </a:rPr>
              <a:t>AI</a:t>
            </a:r>
            <a:r>
              <a:rPr sz="800" spc="55" dirty="0">
                <a:solidFill>
                  <a:srgbClr val="64728C"/>
                </a:solidFill>
                <a:latin typeface="Arial MT"/>
                <a:cs typeface="Arial MT"/>
              </a:rPr>
              <a:t> </a:t>
            </a:r>
            <a:r>
              <a:rPr sz="800" spc="-20" dirty="0">
                <a:solidFill>
                  <a:srgbClr val="64728C"/>
                </a:solidFill>
                <a:latin typeface="Arial MT"/>
                <a:cs typeface="Arial MT"/>
              </a:rPr>
              <a:t>Personal</a:t>
            </a:r>
            <a:r>
              <a:rPr sz="800" spc="50" dirty="0">
                <a:solidFill>
                  <a:srgbClr val="64728C"/>
                </a:solidFill>
                <a:latin typeface="Arial MT"/>
                <a:cs typeface="Arial MT"/>
              </a:rPr>
              <a:t> </a:t>
            </a:r>
            <a:r>
              <a:rPr sz="800" spc="-20" dirty="0">
                <a:solidFill>
                  <a:srgbClr val="64728C"/>
                </a:solidFill>
                <a:latin typeface="Arial MT"/>
                <a:cs typeface="Arial MT"/>
              </a:rPr>
              <a:t>Finance</a:t>
            </a:r>
            <a:r>
              <a:rPr sz="800" spc="55" dirty="0">
                <a:solidFill>
                  <a:srgbClr val="64728C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64728C"/>
                </a:solidFill>
                <a:latin typeface="Arial MT"/>
                <a:cs typeface="Arial MT"/>
              </a:rPr>
              <a:t>Decision</a:t>
            </a:r>
            <a:r>
              <a:rPr sz="800" spc="50" dirty="0">
                <a:solidFill>
                  <a:srgbClr val="64728C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64728C"/>
                </a:solidFill>
                <a:latin typeface="Arial MT"/>
                <a:cs typeface="Arial MT"/>
              </a:rPr>
              <a:t>Support</a:t>
            </a:r>
            <a:r>
              <a:rPr sz="800" spc="45" dirty="0">
                <a:solidFill>
                  <a:srgbClr val="64728C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64728C"/>
                </a:solidFill>
                <a:latin typeface="Arial MT"/>
                <a:cs typeface="Arial MT"/>
              </a:rPr>
              <a:t>Agent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5572388" y="3082885"/>
            <a:ext cx="7937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50" dirty="0">
                <a:solidFill>
                  <a:srgbClr val="64728C"/>
                </a:solidFill>
                <a:latin typeface="Arial MT"/>
                <a:cs typeface="Arial MT"/>
              </a:rPr>
              <a:t>6</a:t>
            </a:r>
            <a:endParaRPr sz="800">
              <a:latin typeface="Arial MT"/>
              <a:cs typeface="Arial MT"/>
            </a:endParaRPr>
          </a:p>
        </p:txBody>
      </p:sp>
    </p:spTree>
  </p:cSld>
  <p:clrMapOvr>
    <a:masterClrMapping/>
  </p:clrMapOvr>
  <p:transition>
    <p:cut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75" dirty="0"/>
              <a:t>Data</a:t>
            </a:r>
            <a:r>
              <a:rPr spc="175" dirty="0"/>
              <a:t> </a:t>
            </a:r>
            <a:r>
              <a:rPr spc="-10" dirty="0"/>
              <a:t>Ingestion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11302" y="651266"/>
            <a:ext cx="2046605" cy="139382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b="1" dirty="0">
                <a:solidFill>
                  <a:srgbClr val="27D2DC"/>
                </a:solidFill>
                <a:latin typeface="Arial"/>
                <a:cs typeface="Arial"/>
              </a:rPr>
              <a:t>Multiple</a:t>
            </a:r>
            <a:r>
              <a:rPr sz="1400" b="1" spc="400" dirty="0">
                <a:solidFill>
                  <a:srgbClr val="27D2DC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27D2DC"/>
                </a:solidFill>
                <a:latin typeface="Arial"/>
                <a:cs typeface="Arial"/>
              </a:rPr>
              <a:t>Input</a:t>
            </a:r>
            <a:r>
              <a:rPr sz="1400" b="1" spc="400" dirty="0">
                <a:solidFill>
                  <a:srgbClr val="27D2DC"/>
                </a:solidFill>
                <a:latin typeface="Arial"/>
                <a:cs typeface="Arial"/>
              </a:rPr>
              <a:t> </a:t>
            </a:r>
            <a:r>
              <a:rPr sz="1400" b="1" spc="-10" dirty="0">
                <a:solidFill>
                  <a:srgbClr val="27D2DC"/>
                </a:solidFill>
                <a:latin typeface="Arial"/>
                <a:cs typeface="Arial"/>
              </a:rPr>
              <a:t>Formats</a:t>
            </a:r>
            <a:endParaRPr sz="1400">
              <a:latin typeface="Arial"/>
              <a:cs typeface="Arial"/>
            </a:endParaRPr>
          </a:p>
          <a:p>
            <a:pPr marL="287020" indent="-207645">
              <a:lnSpc>
                <a:spcPct val="100000"/>
              </a:lnSpc>
              <a:spcBef>
                <a:spcPts val="1120"/>
              </a:spcBef>
              <a:buClr>
                <a:srgbClr val="27D2DC"/>
              </a:buClr>
              <a:buSzPct val="90909"/>
              <a:buFont typeface="Lucida Sans Unicode"/>
              <a:buChar char="►"/>
              <a:tabLst>
                <a:tab pos="287020" algn="l"/>
              </a:tabLst>
            </a:pPr>
            <a:r>
              <a:rPr sz="1100" spc="-85" dirty="0">
                <a:solidFill>
                  <a:srgbClr val="F4F8FC"/>
                </a:solidFill>
                <a:latin typeface="Arial MT"/>
                <a:cs typeface="Arial MT"/>
              </a:rPr>
              <a:t>CSV</a:t>
            </a:r>
            <a:r>
              <a:rPr sz="1100" spc="20" dirty="0">
                <a:solidFill>
                  <a:srgbClr val="F4F8FC"/>
                </a:solidFill>
                <a:latin typeface="Arial MT"/>
                <a:cs typeface="Arial MT"/>
              </a:rPr>
              <a:t> </a:t>
            </a:r>
            <a:r>
              <a:rPr sz="1100" spc="-35" dirty="0">
                <a:solidFill>
                  <a:srgbClr val="F4F8FC"/>
                </a:solidFill>
                <a:latin typeface="Arial MT"/>
                <a:cs typeface="Arial MT"/>
              </a:rPr>
              <a:t>transaction</a:t>
            </a:r>
            <a:r>
              <a:rPr sz="1100" spc="20" dirty="0">
                <a:solidFill>
                  <a:srgbClr val="F4F8FC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F4F8FC"/>
                </a:solidFill>
                <a:latin typeface="Arial MT"/>
                <a:cs typeface="Arial MT"/>
              </a:rPr>
              <a:t>files</a:t>
            </a:r>
            <a:endParaRPr sz="1100">
              <a:latin typeface="Arial MT"/>
              <a:cs typeface="Arial MT"/>
            </a:endParaRPr>
          </a:p>
          <a:p>
            <a:pPr marL="287020" indent="-207645">
              <a:lnSpc>
                <a:spcPct val="100000"/>
              </a:lnSpc>
              <a:spcBef>
                <a:spcPts val="335"/>
              </a:spcBef>
              <a:buClr>
                <a:srgbClr val="27D2DC"/>
              </a:buClr>
              <a:buSzPct val="90909"/>
              <a:buFont typeface="Lucida Sans Unicode"/>
              <a:buChar char="►"/>
              <a:tabLst>
                <a:tab pos="287020" algn="l"/>
              </a:tabLst>
            </a:pPr>
            <a:r>
              <a:rPr sz="1100" spc="-55" dirty="0">
                <a:solidFill>
                  <a:srgbClr val="F4F8FC"/>
                </a:solidFill>
                <a:latin typeface="Arial MT"/>
                <a:cs typeface="Arial MT"/>
              </a:rPr>
              <a:t>JSON</a:t>
            </a:r>
            <a:r>
              <a:rPr sz="1100" dirty="0">
                <a:solidFill>
                  <a:srgbClr val="F4F8FC"/>
                </a:solidFill>
                <a:latin typeface="Arial MT"/>
                <a:cs typeface="Arial MT"/>
              </a:rPr>
              <a:t> </a:t>
            </a:r>
            <a:r>
              <a:rPr sz="1100" spc="-35" dirty="0">
                <a:solidFill>
                  <a:srgbClr val="F4F8FC"/>
                </a:solidFill>
                <a:latin typeface="Arial MT"/>
                <a:cs typeface="Arial MT"/>
              </a:rPr>
              <a:t>financial</a:t>
            </a:r>
            <a:r>
              <a:rPr sz="1100" dirty="0">
                <a:solidFill>
                  <a:srgbClr val="F4F8FC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F4F8FC"/>
                </a:solidFill>
                <a:latin typeface="Arial MT"/>
                <a:cs typeface="Arial MT"/>
              </a:rPr>
              <a:t>records</a:t>
            </a:r>
            <a:endParaRPr sz="1100">
              <a:latin typeface="Arial MT"/>
              <a:cs typeface="Arial MT"/>
            </a:endParaRPr>
          </a:p>
          <a:p>
            <a:pPr marL="287020" indent="-207645">
              <a:lnSpc>
                <a:spcPct val="100000"/>
              </a:lnSpc>
              <a:spcBef>
                <a:spcPts val="335"/>
              </a:spcBef>
              <a:buClr>
                <a:srgbClr val="27D2DC"/>
              </a:buClr>
              <a:buSzPct val="90909"/>
              <a:buFont typeface="Lucida Sans Unicode"/>
              <a:buChar char="►"/>
              <a:tabLst>
                <a:tab pos="287020" algn="l"/>
              </a:tabLst>
            </a:pPr>
            <a:r>
              <a:rPr sz="1100" spc="-10" dirty="0">
                <a:solidFill>
                  <a:srgbClr val="F4F8FC"/>
                </a:solidFill>
                <a:latin typeface="Arial MT"/>
                <a:cs typeface="Arial MT"/>
              </a:rPr>
              <a:t>PDF</a:t>
            </a:r>
            <a:r>
              <a:rPr sz="1100" spc="-30" dirty="0">
                <a:solidFill>
                  <a:srgbClr val="F4F8FC"/>
                </a:solidFill>
                <a:latin typeface="Arial MT"/>
                <a:cs typeface="Arial MT"/>
              </a:rPr>
              <a:t> </a:t>
            </a:r>
            <a:r>
              <a:rPr sz="1100" spc="-45" dirty="0">
                <a:solidFill>
                  <a:srgbClr val="F4F8FC"/>
                </a:solidFill>
                <a:latin typeface="Arial MT"/>
                <a:cs typeface="Arial MT"/>
              </a:rPr>
              <a:t>bank</a:t>
            </a:r>
            <a:r>
              <a:rPr sz="1100" spc="-25" dirty="0">
                <a:solidFill>
                  <a:srgbClr val="F4F8FC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F4F8FC"/>
                </a:solidFill>
                <a:latin typeface="Arial MT"/>
                <a:cs typeface="Arial MT"/>
              </a:rPr>
              <a:t>statements</a:t>
            </a:r>
            <a:endParaRPr sz="1100">
              <a:latin typeface="Arial MT"/>
              <a:cs typeface="Arial MT"/>
            </a:endParaRPr>
          </a:p>
          <a:p>
            <a:pPr marL="287020" indent="-207645">
              <a:lnSpc>
                <a:spcPct val="100000"/>
              </a:lnSpc>
              <a:spcBef>
                <a:spcPts val="335"/>
              </a:spcBef>
              <a:buClr>
                <a:srgbClr val="27D2DC"/>
              </a:buClr>
              <a:buSzPct val="90909"/>
              <a:buFont typeface="Lucida Sans Unicode"/>
              <a:buChar char="►"/>
              <a:tabLst>
                <a:tab pos="287020" algn="l"/>
              </a:tabLst>
            </a:pPr>
            <a:r>
              <a:rPr sz="1100" spc="-10" dirty="0">
                <a:solidFill>
                  <a:srgbClr val="F4F8FC"/>
                </a:solidFill>
                <a:latin typeface="Arial MT"/>
                <a:cs typeface="Arial MT"/>
              </a:rPr>
              <a:t>PDF</a:t>
            </a:r>
            <a:r>
              <a:rPr sz="1100" spc="-25" dirty="0">
                <a:solidFill>
                  <a:srgbClr val="F4F8FC"/>
                </a:solidFill>
                <a:latin typeface="Arial MT"/>
                <a:cs typeface="Arial MT"/>
              </a:rPr>
              <a:t> </a:t>
            </a:r>
            <a:r>
              <a:rPr sz="1100" spc="-40" dirty="0">
                <a:solidFill>
                  <a:srgbClr val="F4F8FC"/>
                </a:solidFill>
                <a:latin typeface="Arial MT"/>
                <a:cs typeface="Arial MT"/>
              </a:rPr>
              <a:t>credit-</a:t>
            </a:r>
            <a:r>
              <a:rPr sz="1100" spc="-25" dirty="0">
                <a:solidFill>
                  <a:srgbClr val="F4F8FC"/>
                </a:solidFill>
                <a:latin typeface="Arial MT"/>
                <a:cs typeface="Arial MT"/>
              </a:rPr>
              <a:t>card </a:t>
            </a:r>
            <a:r>
              <a:rPr sz="1100" spc="-10" dirty="0">
                <a:solidFill>
                  <a:srgbClr val="F4F8FC"/>
                </a:solidFill>
                <a:latin typeface="Arial MT"/>
                <a:cs typeface="Arial MT"/>
              </a:rPr>
              <a:t>statements</a:t>
            </a:r>
            <a:endParaRPr sz="1100">
              <a:latin typeface="Arial MT"/>
              <a:cs typeface="Arial MT"/>
            </a:endParaRPr>
          </a:p>
          <a:p>
            <a:pPr marL="287020" indent="-207645">
              <a:lnSpc>
                <a:spcPct val="100000"/>
              </a:lnSpc>
              <a:spcBef>
                <a:spcPts val="334"/>
              </a:spcBef>
              <a:buClr>
                <a:srgbClr val="27D2DC"/>
              </a:buClr>
              <a:buSzPct val="90909"/>
              <a:buFont typeface="Lucida Sans Unicode"/>
              <a:buChar char="►"/>
              <a:tabLst>
                <a:tab pos="287020" algn="l"/>
              </a:tabLst>
            </a:pPr>
            <a:r>
              <a:rPr sz="1100" dirty="0">
                <a:solidFill>
                  <a:srgbClr val="F4F8FC"/>
                </a:solidFill>
                <a:latin typeface="Arial MT"/>
                <a:cs typeface="Arial MT"/>
              </a:rPr>
              <a:t>Utility</a:t>
            </a:r>
            <a:r>
              <a:rPr sz="1100" spc="70" dirty="0">
                <a:solidFill>
                  <a:srgbClr val="F4F8FC"/>
                </a:solidFill>
                <a:latin typeface="Arial MT"/>
                <a:cs typeface="Arial MT"/>
              </a:rPr>
              <a:t> </a:t>
            </a:r>
            <a:r>
              <a:rPr sz="1100" spc="-20" dirty="0">
                <a:solidFill>
                  <a:srgbClr val="F4F8FC"/>
                </a:solidFill>
                <a:latin typeface="Arial MT"/>
                <a:cs typeface="Arial MT"/>
              </a:rPr>
              <a:t>bills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11302" y="2207106"/>
            <a:ext cx="2195830" cy="53594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5080">
              <a:lnSpc>
                <a:spcPct val="102600"/>
              </a:lnSpc>
              <a:spcBef>
                <a:spcPts val="55"/>
              </a:spcBef>
            </a:pPr>
            <a:r>
              <a:rPr sz="1100" spc="-10" dirty="0">
                <a:solidFill>
                  <a:srgbClr val="A5B2C5"/>
                </a:solidFill>
                <a:latin typeface="Arial MT"/>
                <a:cs typeface="Arial MT"/>
              </a:rPr>
              <a:t>The</a:t>
            </a:r>
            <a:r>
              <a:rPr sz="1100" spc="-20" dirty="0">
                <a:solidFill>
                  <a:srgbClr val="A5B2C5"/>
                </a:solidFill>
                <a:latin typeface="Arial MT"/>
                <a:cs typeface="Arial MT"/>
              </a:rPr>
              <a:t> </a:t>
            </a:r>
            <a:r>
              <a:rPr sz="1100" spc="-45" dirty="0">
                <a:solidFill>
                  <a:srgbClr val="A5B2C5"/>
                </a:solidFill>
                <a:latin typeface="Arial MT"/>
                <a:cs typeface="Arial MT"/>
              </a:rPr>
              <a:t>ingestion</a:t>
            </a:r>
            <a:r>
              <a:rPr sz="1100" spc="-15" dirty="0">
                <a:solidFill>
                  <a:srgbClr val="A5B2C5"/>
                </a:solidFill>
                <a:latin typeface="Arial MT"/>
                <a:cs typeface="Arial MT"/>
              </a:rPr>
              <a:t> </a:t>
            </a:r>
            <a:r>
              <a:rPr sz="1100" spc="-60" dirty="0">
                <a:solidFill>
                  <a:srgbClr val="A5B2C5"/>
                </a:solidFill>
                <a:latin typeface="Arial MT"/>
                <a:cs typeface="Arial MT"/>
              </a:rPr>
              <a:t>layer</a:t>
            </a:r>
            <a:r>
              <a:rPr sz="1100" spc="-15" dirty="0">
                <a:solidFill>
                  <a:srgbClr val="A5B2C5"/>
                </a:solidFill>
                <a:latin typeface="Arial MT"/>
                <a:cs typeface="Arial MT"/>
              </a:rPr>
              <a:t> </a:t>
            </a:r>
            <a:r>
              <a:rPr sz="1100" spc="-50" dirty="0">
                <a:solidFill>
                  <a:srgbClr val="A5B2C5"/>
                </a:solidFill>
                <a:latin typeface="Arial MT"/>
                <a:cs typeface="Arial MT"/>
              </a:rPr>
              <a:t>converts</a:t>
            </a:r>
            <a:r>
              <a:rPr sz="1100" spc="-15" dirty="0">
                <a:solidFill>
                  <a:srgbClr val="A5B2C5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A5B2C5"/>
                </a:solidFill>
                <a:latin typeface="Arial MT"/>
                <a:cs typeface="Arial MT"/>
              </a:rPr>
              <a:t>different </a:t>
            </a:r>
            <a:r>
              <a:rPr sz="1100" spc="-45" dirty="0">
                <a:solidFill>
                  <a:srgbClr val="A5B2C5"/>
                </a:solidFill>
                <a:latin typeface="Arial MT"/>
                <a:cs typeface="Arial MT"/>
              </a:rPr>
              <a:t>document</a:t>
            </a:r>
            <a:r>
              <a:rPr sz="1100" spc="-10" dirty="0">
                <a:solidFill>
                  <a:srgbClr val="A5B2C5"/>
                </a:solidFill>
                <a:latin typeface="Arial MT"/>
                <a:cs typeface="Arial MT"/>
              </a:rPr>
              <a:t> </a:t>
            </a:r>
            <a:r>
              <a:rPr sz="1100" spc="-40" dirty="0">
                <a:solidFill>
                  <a:srgbClr val="A5B2C5"/>
                </a:solidFill>
                <a:latin typeface="Arial MT"/>
                <a:cs typeface="Arial MT"/>
              </a:rPr>
              <a:t>structures</a:t>
            </a:r>
            <a:r>
              <a:rPr sz="1100" spc="-5" dirty="0">
                <a:solidFill>
                  <a:srgbClr val="A5B2C5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A5B2C5"/>
                </a:solidFill>
                <a:latin typeface="Arial MT"/>
                <a:cs typeface="Arial MT"/>
              </a:rPr>
              <a:t>into</a:t>
            </a:r>
            <a:r>
              <a:rPr sz="1100" spc="-5" dirty="0">
                <a:solidFill>
                  <a:srgbClr val="A5B2C5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A5B2C5"/>
                </a:solidFill>
                <a:latin typeface="Arial MT"/>
                <a:cs typeface="Arial MT"/>
              </a:rPr>
              <a:t>a</a:t>
            </a:r>
            <a:r>
              <a:rPr sz="1100" spc="-5" dirty="0">
                <a:solidFill>
                  <a:srgbClr val="A5B2C5"/>
                </a:solidFill>
                <a:latin typeface="Arial MT"/>
                <a:cs typeface="Arial MT"/>
              </a:rPr>
              <a:t> </a:t>
            </a:r>
            <a:r>
              <a:rPr sz="1100" spc="-40" dirty="0">
                <a:solidFill>
                  <a:srgbClr val="A5B2C5"/>
                </a:solidFill>
                <a:latin typeface="Arial MT"/>
                <a:cs typeface="Arial MT"/>
              </a:rPr>
              <a:t>consistent </a:t>
            </a:r>
            <a:r>
              <a:rPr sz="1100" spc="-35" dirty="0">
                <a:solidFill>
                  <a:srgbClr val="A5B2C5"/>
                </a:solidFill>
                <a:latin typeface="Arial MT"/>
                <a:cs typeface="Arial MT"/>
              </a:rPr>
              <a:t>analytical</a:t>
            </a:r>
            <a:r>
              <a:rPr sz="1100" spc="-10" dirty="0">
                <a:solidFill>
                  <a:srgbClr val="A5B2C5"/>
                </a:solidFill>
                <a:latin typeface="Arial MT"/>
                <a:cs typeface="Arial MT"/>
              </a:rPr>
              <a:t> representation.</a:t>
            </a:r>
            <a:endParaRPr sz="1100">
              <a:latin typeface="Arial MT"/>
              <a:cs typeface="Arial MT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3064637" y="892465"/>
            <a:ext cx="2223135" cy="1589405"/>
            <a:chOff x="3064637" y="892465"/>
            <a:chExt cx="2223135" cy="1589405"/>
          </a:xfrm>
        </p:grpSpPr>
        <p:sp>
          <p:nvSpPr>
            <p:cNvPr id="6" name="object 6"/>
            <p:cNvSpPr/>
            <p:nvPr/>
          </p:nvSpPr>
          <p:spPr>
            <a:xfrm>
              <a:off x="3067168" y="894995"/>
              <a:ext cx="2218055" cy="1584325"/>
            </a:xfrm>
            <a:custGeom>
              <a:avLst/>
              <a:gdLst/>
              <a:ahLst/>
              <a:cxnLst/>
              <a:rect l="l" t="t" r="r" b="b"/>
              <a:pathLst>
                <a:path w="2218054" h="1584325">
                  <a:moveTo>
                    <a:pt x="2116418" y="0"/>
                  </a:moveTo>
                  <a:lnTo>
                    <a:pt x="101221" y="0"/>
                  </a:lnTo>
                  <a:lnTo>
                    <a:pt x="61821" y="7954"/>
                  </a:lnTo>
                  <a:lnTo>
                    <a:pt x="29646" y="29646"/>
                  </a:lnTo>
                  <a:lnTo>
                    <a:pt x="7954" y="61821"/>
                  </a:lnTo>
                  <a:lnTo>
                    <a:pt x="0" y="101221"/>
                  </a:lnTo>
                  <a:lnTo>
                    <a:pt x="0" y="1482795"/>
                  </a:lnTo>
                  <a:lnTo>
                    <a:pt x="7954" y="1522196"/>
                  </a:lnTo>
                  <a:lnTo>
                    <a:pt x="29646" y="1554370"/>
                  </a:lnTo>
                  <a:lnTo>
                    <a:pt x="61821" y="1576063"/>
                  </a:lnTo>
                  <a:lnTo>
                    <a:pt x="101221" y="1584017"/>
                  </a:lnTo>
                  <a:lnTo>
                    <a:pt x="2116418" y="1584017"/>
                  </a:lnTo>
                  <a:lnTo>
                    <a:pt x="2155819" y="1576063"/>
                  </a:lnTo>
                  <a:lnTo>
                    <a:pt x="2187993" y="1554370"/>
                  </a:lnTo>
                  <a:lnTo>
                    <a:pt x="2209686" y="1522196"/>
                  </a:lnTo>
                  <a:lnTo>
                    <a:pt x="2217640" y="1482795"/>
                  </a:lnTo>
                  <a:lnTo>
                    <a:pt x="2217640" y="101221"/>
                  </a:lnTo>
                  <a:lnTo>
                    <a:pt x="2209686" y="61821"/>
                  </a:lnTo>
                  <a:lnTo>
                    <a:pt x="2187993" y="29646"/>
                  </a:lnTo>
                  <a:lnTo>
                    <a:pt x="2155819" y="7954"/>
                  </a:lnTo>
                  <a:lnTo>
                    <a:pt x="2116418" y="0"/>
                  </a:lnTo>
                  <a:close/>
                </a:path>
              </a:pathLst>
            </a:custGeom>
            <a:solidFill>
              <a:srgbClr val="0C18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067168" y="894995"/>
              <a:ext cx="2218055" cy="1584325"/>
            </a:xfrm>
            <a:custGeom>
              <a:avLst/>
              <a:gdLst/>
              <a:ahLst/>
              <a:cxnLst/>
              <a:rect l="l" t="t" r="r" b="b"/>
              <a:pathLst>
                <a:path w="2218054" h="1584325">
                  <a:moveTo>
                    <a:pt x="2116418" y="0"/>
                  </a:moveTo>
                  <a:lnTo>
                    <a:pt x="101221" y="0"/>
                  </a:lnTo>
                  <a:lnTo>
                    <a:pt x="61821" y="7954"/>
                  </a:lnTo>
                  <a:lnTo>
                    <a:pt x="29646" y="29646"/>
                  </a:lnTo>
                  <a:lnTo>
                    <a:pt x="7954" y="61821"/>
                  </a:lnTo>
                  <a:lnTo>
                    <a:pt x="0" y="101221"/>
                  </a:lnTo>
                  <a:lnTo>
                    <a:pt x="0" y="1482795"/>
                  </a:lnTo>
                  <a:lnTo>
                    <a:pt x="7954" y="1522196"/>
                  </a:lnTo>
                  <a:lnTo>
                    <a:pt x="29646" y="1554370"/>
                  </a:lnTo>
                  <a:lnTo>
                    <a:pt x="61821" y="1576063"/>
                  </a:lnTo>
                  <a:lnTo>
                    <a:pt x="101221" y="1584017"/>
                  </a:lnTo>
                  <a:lnTo>
                    <a:pt x="2116418" y="1584017"/>
                  </a:lnTo>
                  <a:lnTo>
                    <a:pt x="2155819" y="1576063"/>
                  </a:lnTo>
                  <a:lnTo>
                    <a:pt x="2187993" y="1554370"/>
                  </a:lnTo>
                  <a:lnTo>
                    <a:pt x="2209686" y="1522196"/>
                  </a:lnTo>
                  <a:lnTo>
                    <a:pt x="2217640" y="1482795"/>
                  </a:lnTo>
                  <a:lnTo>
                    <a:pt x="2217640" y="101221"/>
                  </a:lnTo>
                  <a:lnTo>
                    <a:pt x="2209686" y="61821"/>
                  </a:lnTo>
                  <a:lnTo>
                    <a:pt x="2187993" y="29646"/>
                  </a:lnTo>
                  <a:lnTo>
                    <a:pt x="2155819" y="7954"/>
                  </a:lnTo>
                  <a:lnTo>
                    <a:pt x="2116418" y="0"/>
                  </a:lnTo>
                  <a:close/>
                </a:path>
              </a:pathLst>
            </a:custGeom>
            <a:ln w="5060">
              <a:solidFill>
                <a:srgbClr val="64728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3200349" y="1232600"/>
            <a:ext cx="1951355" cy="740410"/>
          </a:xfrm>
          <a:prstGeom prst="rect">
            <a:avLst/>
          </a:prstGeom>
        </p:spPr>
        <p:txBody>
          <a:bodyPr vert="horz" wrap="square" lIns="0" tIns="13017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25"/>
              </a:spcBef>
            </a:pPr>
            <a:r>
              <a:rPr sz="1400" spc="-85" dirty="0">
                <a:solidFill>
                  <a:srgbClr val="A5B2C5"/>
                </a:solidFill>
                <a:latin typeface="Arial MT"/>
                <a:cs typeface="Arial MT"/>
              </a:rPr>
              <a:t>Screenshot</a:t>
            </a:r>
            <a:r>
              <a:rPr sz="1400" spc="-5" dirty="0">
                <a:solidFill>
                  <a:srgbClr val="A5B2C5"/>
                </a:solidFill>
                <a:latin typeface="Arial MT"/>
                <a:cs typeface="Arial MT"/>
              </a:rPr>
              <a:t> </a:t>
            </a:r>
            <a:r>
              <a:rPr sz="1400" spc="-10" dirty="0">
                <a:solidFill>
                  <a:srgbClr val="A5B2C5"/>
                </a:solidFill>
                <a:latin typeface="Arial MT"/>
                <a:cs typeface="Arial MT"/>
              </a:rPr>
              <a:t>Placeholder</a:t>
            </a:r>
            <a:endParaRPr sz="1400">
              <a:latin typeface="Arial MT"/>
              <a:cs typeface="Arial MT"/>
            </a:endParaRPr>
          </a:p>
          <a:p>
            <a:pPr algn="ctr">
              <a:lnSpc>
                <a:spcPts val="1200"/>
              </a:lnSpc>
              <a:spcBef>
                <a:spcPts val="625"/>
              </a:spcBef>
            </a:pPr>
            <a:r>
              <a:rPr sz="1000" dirty="0">
                <a:solidFill>
                  <a:srgbClr val="A5B2C5"/>
                </a:solidFill>
                <a:latin typeface="Arial MT"/>
                <a:cs typeface="Arial MT"/>
              </a:rPr>
              <a:t>Add</a:t>
            </a:r>
            <a:r>
              <a:rPr sz="1000" spc="-65" dirty="0">
                <a:solidFill>
                  <a:srgbClr val="A5B2C5"/>
                </a:solidFill>
                <a:latin typeface="Arial MT"/>
                <a:cs typeface="Arial MT"/>
              </a:rPr>
              <a:t> </a:t>
            </a:r>
            <a:r>
              <a:rPr sz="1000" spc="-10" dirty="0">
                <a:solidFill>
                  <a:srgbClr val="A5B2C5"/>
                </a:solidFill>
                <a:latin typeface="Arial MT"/>
                <a:cs typeface="Arial MT"/>
              </a:rPr>
              <a:t>image:</a:t>
            </a:r>
            <a:endParaRPr sz="1000">
              <a:latin typeface="Arial MT"/>
              <a:cs typeface="Arial MT"/>
            </a:endParaRPr>
          </a:p>
          <a:p>
            <a:pPr algn="ctr">
              <a:lnSpc>
                <a:spcPts val="1200"/>
              </a:lnSpc>
            </a:pPr>
            <a:r>
              <a:rPr sz="1000" spc="45" dirty="0">
                <a:solidFill>
                  <a:srgbClr val="A5B2C5"/>
                </a:solidFill>
                <a:latin typeface="Cambria"/>
                <a:cs typeface="Cambria"/>
              </a:rPr>
              <a:t>screenshots/01\_ingestion.png</a:t>
            </a:r>
            <a:endParaRPr sz="1000">
              <a:latin typeface="Cambria"/>
              <a:cs typeface="Cambria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/>
              <a:t>FinPilot</a:t>
            </a:r>
            <a:r>
              <a:rPr spc="45" dirty="0"/>
              <a:t> </a:t>
            </a:r>
            <a:r>
              <a:rPr dirty="0"/>
              <a:t>—</a:t>
            </a:r>
            <a:r>
              <a:rPr spc="50" dirty="0"/>
              <a:t> </a:t>
            </a:r>
            <a:r>
              <a:rPr dirty="0"/>
              <a:t>AI</a:t>
            </a:r>
            <a:r>
              <a:rPr spc="55" dirty="0"/>
              <a:t> </a:t>
            </a:r>
            <a:r>
              <a:rPr spc="-20" dirty="0"/>
              <a:t>Personal</a:t>
            </a:r>
            <a:r>
              <a:rPr spc="50" dirty="0"/>
              <a:t> </a:t>
            </a:r>
            <a:r>
              <a:rPr spc="-20" dirty="0"/>
              <a:t>Finance</a:t>
            </a:r>
            <a:r>
              <a:rPr spc="55" dirty="0"/>
              <a:t> </a:t>
            </a:r>
            <a:r>
              <a:rPr spc="-10" dirty="0"/>
              <a:t>Decision</a:t>
            </a:r>
            <a:r>
              <a:rPr spc="50" dirty="0"/>
              <a:t> </a:t>
            </a:r>
            <a:r>
              <a:rPr dirty="0"/>
              <a:t>Support</a:t>
            </a:r>
            <a:r>
              <a:rPr spc="45" dirty="0"/>
              <a:t> </a:t>
            </a:r>
            <a:r>
              <a:rPr spc="-10" dirty="0"/>
              <a:t>Agent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pc="-25" dirty="0"/>
              <a:t>7</a:t>
            </a:r>
          </a:p>
        </p:txBody>
      </p:sp>
    </p:spTree>
  </p:cSld>
  <p:clrMapOvr>
    <a:masterClrMapping/>
  </p:clrMapOvr>
  <p:transition>
    <p:cut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75" dirty="0"/>
              <a:t>Data</a:t>
            </a:r>
            <a:r>
              <a:rPr spc="175" dirty="0"/>
              <a:t> </a:t>
            </a:r>
            <a:r>
              <a:rPr spc="-10" dirty="0"/>
              <a:t>Normalization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351386" y="928415"/>
            <a:ext cx="851535" cy="365125"/>
            <a:chOff x="1351386" y="928415"/>
            <a:chExt cx="851535" cy="365125"/>
          </a:xfrm>
        </p:grpSpPr>
        <p:sp>
          <p:nvSpPr>
            <p:cNvPr id="4" name="object 4"/>
            <p:cNvSpPr/>
            <p:nvPr/>
          </p:nvSpPr>
          <p:spPr>
            <a:xfrm>
              <a:off x="1353926" y="930955"/>
              <a:ext cx="846455" cy="360045"/>
            </a:xfrm>
            <a:custGeom>
              <a:avLst/>
              <a:gdLst/>
              <a:ahLst/>
              <a:cxnLst/>
              <a:rect l="l" t="t" r="r" b="b"/>
              <a:pathLst>
                <a:path w="846455" h="360044">
                  <a:moveTo>
                    <a:pt x="782749" y="0"/>
                  </a:moveTo>
                  <a:lnTo>
                    <a:pt x="63263" y="0"/>
                  </a:lnTo>
                  <a:lnTo>
                    <a:pt x="38638" y="4971"/>
                  </a:lnTo>
                  <a:lnTo>
                    <a:pt x="18529" y="18529"/>
                  </a:lnTo>
                  <a:lnTo>
                    <a:pt x="4971" y="38638"/>
                  </a:lnTo>
                  <a:lnTo>
                    <a:pt x="0" y="63263"/>
                  </a:lnTo>
                  <a:lnTo>
                    <a:pt x="0" y="296740"/>
                  </a:lnTo>
                  <a:lnTo>
                    <a:pt x="4971" y="321365"/>
                  </a:lnTo>
                  <a:lnTo>
                    <a:pt x="18529" y="341474"/>
                  </a:lnTo>
                  <a:lnTo>
                    <a:pt x="38638" y="355032"/>
                  </a:lnTo>
                  <a:lnTo>
                    <a:pt x="63263" y="360004"/>
                  </a:lnTo>
                  <a:lnTo>
                    <a:pt x="782749" y="360004"/>
                  </a:lnTo>
                  <a:lnTo>
                    <a:pt x="807374" y="355032"/>
                  </a:lnTo>
                  <a:lnTo>
                    <a:pt x="827483" y="341474"/>
                  </a:lnTo>
                  <a:lnTo>
                    <a:pt x="841041" y="321365"/>
                  </a:lnTo>
                  <a:lnTo>
                    <a:pt x="846012" y="296740"/>
                  </a:lnTo>
                  <a:lnTo>
                    <a:pt x="846012" y="63263"/>
                  </a:lnTo>
                  <a:lnTo>
                    <a:pt x="841041" y="38638"/>
                  </a:lnTo>
                  <a:lnTo>
                    <a:pt x="827483" y="18529"/>
                  </a:lnTo>
                  <a:lnTo>
                    <a:pt x="807374" y="4971"/>
                  </a:lnTo>
                  <a:lnTo>
                    <a:pt x="782749" y="0"/>
                  </a:lnTo>
                  <a:close/>
                </a:path>
              </a:pathLst>
            </a:custGeom>
            <a:solidFill>
              <a:srgbClr val="0C18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353926" y="930955"/>
              <a:ext cx="846455" cy="360045"/>
            </a:xfrm>
            <a:custGeom>
              <a:avLst/>
              <a:gdLst/>
              <a:ahLst/>
              <a:cxnLst/>
              <a:rect l="l" t="t" r="r" b="b"/>
              <a:pathLst>
                <a:path w="846455" h="360044">
                  <a:moveTo>
                    <a:pt x="782749" y="0"/>
                  </a:moveTo>
                  <a:lnTo>
                    <a:pt x="63263" y="0"/>
                  </a:lnTo>
                  <a:lnTo>
                    <a:pt x="38638" y="4971"/>
                  </a:lnTo>
                  <a:lnTo>
                    <a:pt x="18529" y="18529"/>
                  </a:lnTo>
                  <a:lnTo>
                    <a:pt x="4971" y="38638"/>
                  </a:lnTo>
                  <a:lnTo>
                    <a:pt x="0" y="63263"/>
                  </a:lnTo>
                  <a:lnTo>
                    <a:pt x="0" y="296740"/>
                  </a:lnTo>
                  <a:lnTo>
                    <a:pt x="4971" y="321365"/>
                  </a:lnTo>
                  <a:lnTo>
                    <a:pt x="18529" y="341474"/>
                  </a:lnTo>
                  <a:lnTo>
                    <a:pt x="38638" y="355032"/>
                  </a:lnTo>
                  <a:lnTo>
                    <a:pt x="63263" y="360004"/>
                  </a:lnTo>
                  <a:lnTo>
                    <a:pt x="782749" y="360004"/>
                  </a:lnTo>
                  <a:lnTo>
                    <a:pt x="807374" y="355032"/>
                  </a:lnTo>
                  <a:lnTo>
                    <a:pt x="827483" y="341474"/>
                  </a:lnTo>
                  <a:lnTo>
                    <a:pt x="841041" y="321365"/>
                  </a:lnTo>
                  <a:lnTo>
                    <a:pt x="846012" y="296740"/>
                  </a:lnTo>
                  <a:lnTo>
                    <a:pt x="846012" y="63263"/>
                  </a:lnTo>
                  <a:lnTo>
                    <a:pt x="841041" y="38638"/>
                  </a:lnTo>
                  <a:lnTo>
                    <a:pt x="827483" y="18529"/>
                  </a:lnTo>
                  <a:lnTo>
                    <a:pt x="807374" y="4971"/>
                  </a:lnTo>
                  <a:lnTo>
                    <a:pt x="782749" y="0"/>
                  </a:lnTo>
                  <a:close/>
                </a:path>
              </a:pathLst>
            </a:custGeom>
            <a:ln w="5060">
              <a:solidFill>
                <a:srgbClr val="308C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1394853" y="941494"/>
            <a:ext cx="764540" cy="3295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76530" marR="5080" indent="-164465">
              <a:lnSpc>
                <a:spcPct val="100000"/>
              </a:lnSpc>
              <a:spcBef>
                <a:spcPts val="95"/>
              </a:spcBef>
            </a:pPr>
            <a:r>
              <a:rPr sz="1000" spc="-65" dirty="0">
                <a:solidFill>
                  <a:srgbClr val="F4F8FC"/>
                </a:solidFill>
                <a:latin typeface="Arial MT"/>
                <a:cs typeface="Arial MT"/>
              </a:rPr>
              <a:t>Raw</a:t>
            </a:r>
            <a:r>
              <a:rPr sz="1000" spc="-5" dirty="0">
                <a:solidFill>
                  <a:srgbClr val="F4F8FC"/>
                </a:solidFill>
                <a:latin typeface="Arial MT"/>
                <a:cs typeface="Arial MT"/>
              </a:rPr>
              <a:t> </a:t>
            </a:r>
            <a:r>
              <a:rPr sz="1000" spc="-40" dirty="0">
                <a:solidFill>
                  <a:srgbClr val="F4F8FC"/>
                </a:solidFill>
                <a:latin typeface="Arial MT"/>
                <a:cs typeface="Arial MT"/>
              </a:rPr>
              <a:t>Financial </a:t>
            </a:r>
            <a:r>
              <a:rPr sz="1000" spc="-10" dirty="0">
                <a:solidFill>
                  <a:srgbClr val="F4F8FC"/>
                </a:solidFill>
                <a:latin typeface="Arial MT"/>
                <a:cs typeface="Arial MT"/>
              </a:rPr>
              <a:t>Records</a:t>
            </a:r>
            <a:endParaRPr sz="1000">
              <a:latin typeface="Arial MT"/>
              <a:cs typeface="Arial MT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2454462" y="928415"/>
            <a:ext cx="851535" cy="365125"/>
            <a:chOff x="2454462" y="928415"/>
            <a:chExt cx="851535" cy="365125"/>
          </a:xfrm>
        </p:grpSpPr>
        <p:sp>
          <p:nvSpPr>
            <p:cNvPr id="8" name="object 8"/>
            <p:cNvSpPr/>
            <p:nvPr/>
          </p:nvSpPr>
          <p:spPr>
            <a:xfrm>
              <a:off x="2457002" y="930955"/>
              <a:ext cx="846455" cy="360045"/>
            </a:xfrm>
            <a:custGeom>
              <a:avLst/>
              <a:gdLst/>
              <a:ahLst/>
              <a:cxnLst/>
              <a:rect l="l" t="t" r="r" b="b"/>
              <a:pathLst>
                <a:path w="846454" h="360044">
                  <a:moveTo>
                    <a:pt x="782749" y="0"/>
                  </a:moveTo>
                  <a:lnTo>
                    <a:pt x="63263" y="0"/>
                  </a:lnTo>
                  <a:lnTo>
                    <a:pt x="38638" y="4971"/>
                  </a:lnTo>
                  <a:lnTo>
                    <a:pt x="18529" y="18529"/>
                  </a:lnTo>
                  <a:lnTo>
                    <a:pt x="4971" y="38638"/>
                  </a:lnTo>
                  <a:lnTo>
                    <a:pt x="0" y="63263"/>
                  </a:lnTo>
                  <a:lnTo>
                    <a:pt x="0" y="296740"/>
                  </a:lnTo>
                  <a:lnTo>
                    <a:pt x="4971" y="321365"/>
                  </a:lnTo>
                  <a:lnTo>
                    <a:pt x="18529" y="341474"/>
                  </a:lnTo>
                  <a:lnTo>
                    <a:pt x="38638" y="355032"/>
                  </a:lnTo>
                  <a:lnTo>
                    <a:pt x="63263" y="360004"/>
                  </a:lnTo>
                  <a:lnTo>
                    <a:pt x="782749" y="360004"/>
                  </a:lnTo>
                  <a:lnTo>
                    <a:pt x="807374" y="355032"/>
                  </a:lnTo>
                  <a:lnTo>
                    <a:pt x="827483" y="341474"/>
                  </a:lnTo>
                  <a:lnTo>
                    <a:pt x="841041" y="321365"/>
                  </a:lnTo>
                  <a:lnTo>
                    <a:pt x="846012" y="296740"/>
                  </a:lnTo>
                  <a:lnTo>
                    <a:pt x="846012" y="63263"/>
                  </a:lnTo>
                  <a:lnTo>
                    <a:pt x="841041" y="38638"/>
                  </a:lnTo>
                  <a:lnTo>
                    <a:pt x="827483" y="18529"/>
                  </a:lnTo>
                  <a:lnTo>
                    <a:pt x="807374" y="4971"/>
                  </a:lnTo>
                  <a:lnTo>
                    <a:pt x="782749" y="0"/>
                  </a:lnTo>
                  <a:close/>
                </a:path>
              </a:pathLst>
            </a:custGeom>
            <a:solidFill>
              <a:srgbClr val="0C18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457002" y="930955"/>
              <a:ext cx="846455" cy="360045"/>
            </a:xfrm>
            <a:custGeom>
              <a:avLst/>
              <a:gdLst/>
              <a:ahLst/>
              <a:cxnLst/>
              <a:rect l="l" t="t" r="r" b="b"/>
              <a:pathLst>
                <a:path w="846454" h="360044">
                  <a:moveTo>
                    <a:pt x="782749" y="0"/>
                  </a:moveTo>
                  <a:lnTo>
                    <a:pt x="63263" y="0"/>
                  </a:lnTo>
                  <a:lnTo>
                    <a:pt x="38638" y="4971"/>
                  </a:lnTo>
                  <a:lnTo>
                    <a:pt x="18529" y="18529"/>
                  </a:lnTo>
                  <a:lnTo>
                    <a:pt x="4971" y="38638"/>
                  </a:lnTo>
                  <a:lnTo>
                    <a:pt x="0" y="63263"/>
                  </a:lnTo>
                  <a:lnTo>
                    <a:pt x="0" y="296740"/>
                  </a:lnTo>
                  <a:lnTo>
                    <a:pt x="4971" y="321365"/>
                  </a:lnTo>
                  <a:lnTo>
                    <a:pt x="18529" y="341474"/>
                  </a:lnTo>
                  <a:lnTo>
                    <a:pt x="38638" y="355032"/>
                  </a:lnTo>
                  <a:lnTo>
                    <a:pt x="63263" y="360004"/>
                  </a:lnTo>
                  <a:lnTo>
                    <a:pt x="782749" y="360004"/>
                  </a:lnTo>
                  <a:lnTo>
                    <a:pt x="807374" y="355032"/>
                  </a:lnTo>
                  <a:lnTo>
                    <a:pt x="827483" y="341474"/>
                  </a:lnTo>
                  <a:lnTo>
                    <a:pt x="841041" y="321365"/>
                  </a:lnTo>
                  <a:lnTo>
                    <a:pt x="846012" y="296740"/>
                  </a:lnTo>
                  <a:lnTo>
                    <a:pt x="846012" y="63263"/>
                  </a:lnTo>
                  <a:lnTo>
                    <a:pt x="841041" y="38638"/>
                  </a:lnTo>
                  <a:lnTo>
                    <a:pt x="827483" y="18529"/>
                  </a:lnTo>
                  <a:lnTo>
                    <a:pt x="807374" y="4971"/>
                  </a:lnTo>
                  <a:lnTo>
                    <a:pt x="782749" y="0"/>
                  </a:lnTo>
                  <a:close/>
                </a:path>
              </a:pathLst>
            </a:custGeom>
            <a:ln w="5060">
              <a:solidFill>
                <a:srgbClr val="308C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2500020" y="941494"/>
            <a:ext cx="759460" cy="3295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162560">
              <a:lnSpc>
                <a:spcPct val="100000"/>
              </a:lnSpc>
              <a:spcBef>
                <a:spcPts val="95"/>
              </a:spcBef>
            </a:pPr>
            <a:r>
              <a:rPr sz="1000" spc="-10" dirty="0">
                <a:solidFill>
                  <a:srgbClr val="F4F8FC"/>
                </a:solidFill>
                <a:latin typeface="Arial MT"/>
                <a:cs typeface="Arial MT"/>
              </a:rPr>
              <a:t>Schema </a:t>
            </a:r>
            <a:r>
              <a:rPr sz="1000" spc="-35" dirty="0">
                <a:solidFill>
                  <a:srgbClr val="F4F8FC"/>
                </a:solidFill>
                <a:latin typeface="Arial MT"/>
                <a:cs typeface="Arial MT"/>
              </a:rPr>
              <a:t>Normalization</a:t>
            </a:r>
            <a:endParaRPr sz="1000">
              <a:latin typeface="Arial MT"/>
              <a:cs typeface="Arial MT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3557538" y="928415"/>
            <a:ext cx="851535" cy="365125"/>
            <a:chOff x="3557538" y="928415"/>
            <a:chExt cx="851535" cy="365125"/>
          </a:xfrm>
        </p:grpSpPr>
        <p:sp>
          <p:nvSpPr>
            <p:cNvPr id="12" name="object 12"/>
            <p:cNvSpPr/>
            <p:nvPr/>
          </p:nvSpPr>
          <p:spPr>
            <a:xfrm>
              <a:off x="3560078" y="930955"/>
              <a:ext cx="846455" cy="360045"/>
            </a:xfrm>
            <a:custGeom>
              <a:avLst/>
              <a:gdLst/>
              <a:ahLst/>
              <a:cxnLst/>
              <a:rect l="l" t="t" r="r" b="b"/>
              <a:pathLst>
                <a:path w="846454" h="360044">
                  <a:moveTo>
                    <a:pt x="782749" y="0"/>
                  </a:moveTo>
                  <a:lnTo>
                    <a:pt x="63263" y="0"/>
                  </a:lnTo>
                  <a:lnTo>
                    <a:pt x="38638" y="4971"/>
                  </a:lnTo>
                  <a:lnTo>
                    <a:pt x="18529" y="18529"/>
                  </a:lnTo>
                  <a:lnTo>
                    <a:pt x="4971" y="38638"/>
                  </a:lnTo>
                  <a:lnTo>
                    <a:pt x="0" y="63263"/>
                  </a:lnTo>
                  <a:lnTo>
                    <a:pt x="0" y="296740"/>
                  </a:lnTo>
                  <a:lnTo>
                    <a:pt x="4971" y="321365"/>
                  </a:lnTo>
                  <a:lnTo>
                    <a:pt x="18529" y="341474"/>
                  </a:lnTo>
                  <a:lnTo>
                    <a:pt x="38638" y="355032"/>
                  </a:lnTo>
                  <a:lnTo>
                    <a:pt x="63263" y="360004"/>
                  </a:lnTo>
                  <a:lnTo>
                    <a:pt x="782749" y="360004"/>
                  </a:lnTo>
                  <a:lnTo>
                    <a:pt x="807374" y="355032"/>
                  </a:lnTo>
                  <a:lnTo>
                    <a:pt x="827483" y="341474"/>
                  </a:lnTo>
                  <a:lnTo>
                    <a:pt x="841041" y="321365"/>
                  </a:lnTo>
                  <a:lnTo>
                    <a:pt x="846012" y="296740"/>
                  </a:lnTo>
                  <a:lnTo>
                    <a:pt x="846012" y="63263"/>
                  </a:lnTo>
                  <a:lnTo>
                    <a:pt x="841041" y="38638"/>
                  </a:lnTo>
                  <a:lnTo>
                    <a:pt x="827483" y="18529"/>
                  </a:lnTo>
                  <a:lnTo>
                    <a:pt x="807374" y="4971"/>
                  </a:lnTo>
                  <a:lnTo>
                    <a:pt x="782749" y="0"/>
                  </a:lnTo>
                  <a:close/>
                </a:path>
              </a:pathLst>
            </a:custGeom>
            <a:solidFill>
              <a:srgbClr val="0C18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560078" y="930955"/>
              <a:ext cx="846455" cy="360045"/>
            </a:xfrm>
            <a:custGeom>
              <a:avLst/>
              <a:gdLst/>
              <a:ahLst/>
              <a:cxnLst/>
              <a:rect l="l" t="t" r="r" b="b"/>
              <a:pathLst>
                <a:path w="846454" h="360044">
                  <a:moveTo>
                    <a:pt x="782749" y="0"/>
                  </a:moveTo>
                  <a:lnTo>
                    <a:pt x="63263" y="0"/>
                  </a:lnTo>
                  <a:lnTo>
                    <a:pt x="38638" y="4971"/>
                  </a:lnTo>
                  <a:lnTo>
                    <a:pt x="18529" y="18529"/>
                  </a:lnTo>
                  <a:lnTo>
                    <a:pt x="4971" y="38638"/>
                  </a:lnTo>
                  <a:lnTo>
                    <a:pt x="0" y="63263"/>
                  </a:lnTo>
                  <a:lnTo>
                    <a:pt x="0" y="296740"/>
                  </a:lnTo>
                  <a:lnTo>
                    <a:pt x="4971" y="321365"/>
                  </a:lnTo>
                  <a:lnTo>
                    <a:pt x="18529" y="341474"/>
                  </a:lnTo>
                  <a:lnTo>
                    <a:pt x="38638" y="355032"/>
                  </a:lnTo>
                  <a:lnTo>
                    <a:pt x="63263" y="360004"/>
                  </a:lnTo>
                  <a:lnTo>
                    <a:pt x="782749" y="360004"/>
                  </a:lnTo>
                  <a:lnTo>
                    <a:pt x="807374" y="355032"/>
                  </a:lnTo>
                  <a:lnTo>
                    <a:pt x="827483" y="341474"/>
                  </a:lnTo>
                  <a:lnTo>
                    <a:pt x="841041" y="321365"/>
                  </a:lnTo>
                  <a:lnTo>
                    <a:pt x="846012" y="296740"/>
                  </a:lnTo>
                  <a:lnTo>
                    <a:pt x="846012" y="63263"/>
                  </a:lnTo>
                  <a:lnTo>
                    <a:pt x="841041" y="38638"/>
                  </a:lnTo>
                  <a:lnTo>
                    <a:pt x="827483" y="18529"/>
                  </a:lnTo>
                  <a:lnTo>
                    <a:pt x="807374" y="4971"/>
                  </a:lnTo>
                  <a:lnTo>
                    <a:pt x="782749" y="0"/>
                  </a:lnTo>
                  <a:close/>
                </a:path>
              </a:pathLst>
            </a:custGeom>
            <a:ln w="5060">
              <a:solidFill>
                <a:srgbClr val="308C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3638664" y="941494"/>
            <a:ext cx="689610" cy="3295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184785">
              <a:lnSpc>
                <a:spcPct val="100000"/>
              </a:lnSpc>
              <a:spcBef>
                <a:spcPts val="95"/>
              </a:spcBef>
            </a:pPr>
            <a:r>
              <a:rPr sz="1000" spc="-10" dirty="0">
                <a:solidFill>
                  <a:srgbClr val="F4F8FC"/>
                </a:solidFill>
                <a:latin typeface="Arial MT"/>
                <a:cs typeface="Arial MT"/>
              </a:rPr>
              <a:t>Clean </a:t>
            </a:r>
            <a:r>
              <a:rPr sz="1000" spc="-50" dirty="0">
                <a:solidFill>
                  <a:srgbClr val="F4F8FC"/>
                </a:solidFill>
                <a:latin typeface="Arial MT"/>
                <a:cs typeface="Arial MT"/>
              </a:rPr>
              <a:t>Transactions</a:t>
            </a:r>
            <a:endParaRPr sz="1000">
              <a:latin typeface="Arial MT"/>
              <a:cs typeface="Arial MT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2202470" y="1076727"/>
            <a:ext cx="1331595" cy="68580"/>
            <a:chOff x="2202470" y="1076727"/>
            <a:chExt cx="1331595" cy="68580"/>
          </a:xfrm>
        </p:grpSpPr>
        <p:pic>
          <p:nvPicPr>
            <p:cNvPr id="16" name="object 1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202470" y="1076727"/>
              <a:ext cx="228292" cy="68460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305546" y="1076727"/>
              <a:ext cx="228292" cy="68460"/>
            </a:xfrm>
            <a:prstGeom prst="rect">
              <a:avLst/>
            </a:prstGeom>
          </p:spPr>
        </p:pic>
      </p:grpSp>
      <p:sp>
        <p:nvSpPr>
          <p:cNvPr id="18" name="object 18"/>
          <p:cNvSpPr txBox="1"/>
          <p:nvPr/>
        </p:nvSpPr>
        <p:spPr>
          <a:xfrm>
            <a:off x="348068" y="1554923"/>
            <a:ext cx="1428115" cy="74422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0"/>
              </a:spcBef>
            </a:pPr>
            <a:r>
              <a:rPr sz="1100" b="1" spc="-10" dirty="0">
                <a:solidFill>
                  <a:srgbClr val="27D2DC"/>
                </a:solidFill>
                <a:latin typeface="Arial"/>
                <a:cs typeface="Arial"/>
              </a:rPr>
              <a:t>Vendor</a:t>
            </a:r>
            <a:endParaRPr sz="11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35"/>
              </a:spcBef>
            </a:pPr>
            <a:r>
              <a:rPr sz="1100" spc="-10" dirty="0">
                <a:solidFill>
                  <a:srgbClr val="27D2DC"/>
                </a:solidFill>
                <a:latin typeface="Arial MT"/>
                <a:cs typeface="Arial MT"/>
              </a:rPr>
              <a:t>Normalization</a:t>
            </a:r>
            <a:endParaRPr sz="1100">
              <a:latin typeface="Arial MT"/>
              <a:cs typeface="Arial MT"/>
            </a:endParaRPr>
          </a:p>
          <a:p>
            <a:pPr algn="ctr">
              <a:lnSpc>
                <a:spcPct val="100000"/>
              </a:lnSpc>
              <a:spcBef>
                <a:spcPts val="320"/>
              </a:spcBef>
            </a:pPr>
            <a:r>
              <a:rPr sz="1100" spc="-20" dirty="0">
                <a:solidFill>
                  <a:srgbClr val="A5B2C5"/>
                </a:solidFill>
                <a:latin typeface="Arial MT"/>
                <a:cs typeface="Arial MT"/>
              </a:rPr>
              <a:t>Different</a:t>
            </a:r>
            <a:r>
              <a:rPr sz="1100" dirty="0">
                <a:solidFill>
                  <a:srgbClr val="A5B2C5"/>
                </a:solidFill>
                <a:latin typeface="Arial MT"/>
                <a:cs typeface="Arial MT"/>
              </a:rPr>
              <a:t> </a:t>
            </a:r>
            <a:r>
              <a:rPr sz="1100" spc="-55" dirty="0">
                <a:solidFill>
                  <a:srgbClr val="A5B2C5"/>
                </a:solidFill>
                <a:latin typeface="Arial MT"/>
                <a:cs typeface="Arial MT"/>
              </a:rPr>
              <a:t>descriptions</a:t>
            </a:r>
            <a:r>
              <a:rPr sz="1100" dirty="0">
                <a:solidFill>
                  <a:srgbClr val="A5B2C5"/>
                </a:solidFill>
                <a:latin typeface="Arial MT"/>
                <a:cs typeface="Arial MT"/>
              </a:rPr>
              <a:t> </a:t>
            </a:r>
            <a:r>
              <a:rPr sz="1100" spc="-50" dirty="0">
                <a:solidFill>
                  <a:srgbClr val="A5B2C5"/>
                </a:solidFill>
                <a:latin typeface="Lucida Sans Unicode"/>
                <a:cs typeface="Lucida Sans Unicode"/>
              </a:rPr>
              <a:t>→</a:t>
            </a:r>
            <a:endParaRPr sz="1100">
              <a:latin typeface="Lucida Sans Unicode"/>
              <a:cs typeface="Lucida Sans Unicode"/>
            </a:endParaRPr>
          </a:p>
          <a:p>
            <a:pPr algn="ctr">
              <a:lnSpc>
                <a:spcPct val="100000"/>
              </a:lnSpc>
              <a:spcBef>
                <a:spcPts val="35"/>
              </a:spcBef>
            </a:pPr>
            <a:r>
              <a:rPr sz="1100" spc="-30" dirty="0">
                <a:solidFill>
                  <a:srgbClr val="A5B2C5"/>
                </a:solidFill>
                <a:latin typeface="Arial MT"/>
                <a:cs typeface="Arial MT"/>
              </a:rPr>
              <a:t>unified</a:t>
            </a:r>
            <a:r>
              <a:rPr sz="1100" spc="-25" dirty="0">
                <a:solidFill>
                  <a:srgbClr val="A5B2C5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A5B2C5"/>
                </a:solidFill>
                <a:latin typeface="Arial MT"/>
                <a:cs typeface="Arial MT"/>
              </a:rPr>
              <a:t>vendor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21" name="object 2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/>
              <a:t>FinPilot</a:t>
            </a:r>
            <a:r>
              <a:rPr spc="45" dirty="0"/>
              <a:t> </a:t>
            </a:r>
            <a:r>
              <a:rPr dirty="0"/>
              <a:t>—</a:t>
            </a:r>
            <a:r>
              <a:rPr spc="50" dirty="0"/>
              <a:t> </a:t>
            </a:r>
            <a:r>
              <a:rPr dirty="0"/>
              <a:t>AI</a:t>
            </a:r>
            <a:r>
              <a:rPr spc="55" dirty="0"/>
              <a:t> </a:t>
            </a:r>
            <a:r>
              <a:rPr spc="-20" dirty="0"/>
              <a:t>Personal</a:t>
            </a:r>
            <a:r>
              <a:rPr spc="50" dirty="0"/>
              <a:t> </a:t>
            </a:r>
            <a:r>
              <a:rPr spc="-20" dirty="0"/>
              <a:t>Finance</a:t>
            </a:r>
            <a:r>
              <a:rPr spc="55" dirty="0"/>
              <a:t> </a:t>
            </a:r>
            <a:r>
              <a:rPr spc="-10" dirty="0"/>
              <a:t>Decision</a:t>
            </a:r>
            <a:r>
              <a:rPr spc="50" dirty="0"/>
              <a:t> </a:t>
            </a:r>
            <a:r>
              <a:rPr dirty="0"/>
              <a:t>Support</a:t>
            </a:r>
            <a:r>
              <a:rPr spc="45" dirty="0"/>
              <a:t> </a:t>
            </a:r>
            <a:r>
              <a:rPr spc="-10" dirty="0"/>
              <a:t>Agent</a:t>
            </a:r>
          </a:p>
        </p:txBody>
      </p:sp>
      <p:sp>
        <p:nvSpPr>
          <p:cNvPr id="22" name="object 2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pc="-25" dirty="0"/>
              <a:t>8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2420061" y="1552560"/>
            <a:ext cx="920115" cy="74422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0"/>
              </a:spcBef>
            </a:pPr>
            <a:r>
              <a:rPr sz="1100" b="1" spc="-10" dirty="0">
                <a:solidFill>
                  <a:srgbClr val="27D2DC"/>
                </a:solidFill>
                <a:latin typeface="Arial"/>
                <a:cs typeface="Arial"/>
              </a:rPr>
              <a:t>Dates</a:t>
            </a:r>
            <a:endParaRPr sz="11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35"/>
              </a:spcBef>
            </a:pPr>
            <a:r>
              <a:rPr sz="1100" spc="-40" dirty="0">
                <a:solidFill>
                  <a:srgbClr val="27D2DC"/>
                </a:solidFill>
                <a:latin typeface="Arial MT"/>
                <a:cs typeface="Arial MT"/>
              </a:rPr>
              <a:t>Standardization</a:t>
            </a:r>
            <a:endParaRPr sz="1100">
              <a:latin typeface="Arial MT"/>
              <a:cs typeface="Arial MT"/>
            </a:endParaRPr>
          </a:p>
          <a:p>
            <a:pPr marL="12700" marR="5080" algn="ctr">
              <a:lnSpc>
                <a:spcPct val="102699"/>
              </a:lnSpc>
              <a:spcBef>
                <a:spcPts val="280"/>
              </a:spcBef>
            </a:pPr>
            <a:r>
              <a:rPr sz="1100" spc="-40" dirty="0">
                <a:solidFill>
                  <a:srgbClr val="A5B2C5"/>
                </a:solidFill>
                <a:latin typeface="Arial MT"/>
                <a:cs typeface="Arial MT"/>
              </a:rPr>
              <a:t>ISO</a:t>
            </a:r>
            <a:r>
              <a:rPr sz="1100" spc="-25" dirty="0">
                <a:solidFill>
                  <a:srgbClr val="A5B2C5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A5B2C5"/>
                </a:solidFill>
                <a:latin typeface="Arial MT"/>
                <a:cs typeface="Arial MT"/>
              </a:rPr>
              <a:t>format: </a:t>
            </a:r>
            <a:r>
              <a:rPr sz="1100" spc="-20" dirty="0">
                <a:solidFill>
                  <a:srgbClr val="A5B2C5"/>
                </a:solidFill>
                <a:latin typeface="Arial MT"/>
                <a:cs typeface="Arial MT"/>
              </a:rPr>
              <a:t>YYYY-MM-</a:t>
            </a:r>
            <a:r>
              <a:rPr sz="1100" spc="-25" dirty="0">
                <a:solidFill>
                  <a:srgbClr val="A5B2C5"/>
                </a:solidFill>
                <a:latin typeface="Arial MT"/>
                <a:cs typeface="Arial MT"/>
              </a:rPr>
              <a:t>DD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166476" y="1539098"/>
            <a:ext cx="1062990" cy="74422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0"/>
              </a:spcBef>
            </a:pPr>
            <a:r>
              <a:rPr sz="1100" b="1" spc="-10" dirty="0">
                <a:solidFill>
                  <a:srgbClr val="27D2DC"/>
                </a:solidFill>
                <a:latin typeface="Arial"/>
                <a:cs typeface="Arial"/>
              </a:rPr>
              <a:t>Amounts</a:t>
            </a:r>
            <a:endParaRPr sz="11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35"/>
              </a:spcBef>
            </a:pPr>
            <a:r>
              <a:rPr sz="1100" spc="-55" dirty="0">
                <a:solidFill>
                  <a:srgbClr val="27D2DC"/>
                </a:solidFill>
                <a:latin typeface="Arial MT"/>
                <a:cs typeface="Arial MT"/>
              </a:rPr>
              <a:t>Sign</a:t>
            </a:r>
            <a:r>
              <a:rPr sz="1100" spc="-10" dirty="0">
                <a:solidFill>
                  <a:srgbClr val="27D2DC"/>
                </a:solidFill>
                <a:latin typeface="Arial MT"/>
                <a:cs typeface="Arial MT"/>
              </a:rPr>
              <a:t> convention</a:t>
            </a:r>
            <a:endParaRPr sz="1100">
              <a:latin typeface="Arial MT"/>
              <a:cs typeface="Arial MT"/>
            </a:endParaRPr>
          </a:p>
          <a:p>
            <a:pPr marL="12700" marR="5080" algn="ctr">
              <a:lnSpc>
                <a:spcPct val="102600"/>
              </a:lnSpc>
              <a:spcBef>
                <a:spcPts val="284"/>
              </a:spcBef>
            </a:pPr>
            <a:r>
              <a:rPr sz="1100" spc="-100" dirty="0">
                <a:solidFill>
                  <a:srgbClr val="A5B2C5"/>
                </a:solidFill>
                <a:latin typeface="Arial MT"/>
                <a:cs typeface="Arial MT"/>
              </a:rPr>
              <a:t>Expenses</a:t>
            </a:r>
            <a:r>
              <a:rPr sz="1100" spc="55" dirty="0">
                <a:solidFill>
                  <a:srgbClr val="A5B2C5"/>
                </a:solidFill>
                <a:latin typeface="Arial MT"/>
                <a:cs typeface="Arial MT"/>
              </a:rPr>
              <a:t> </a:t>
            </a:r>
            <a:r>
              <a:rPr sz="1100" spc="-60" dirty="0">
                <a:solidFill>
                  <a:srgbClr val="A5B2C5"/>
                </a:solidFill>
                <a:latin typeface="Arial MT"/>
                <a:cs typeface="Arial MT"/>
              </a:rPr>
              <a:t>negative </a:t>
            </a:r>
            <a:r>
              <a:rPr sz="1100" spc="-65" dirty="0">
                <a:solidFill>
                  <a:srgbClr val="A5B2C5"/>
                </a:solidFill>
                <a:latin typeface="Arial MT"/>
                <a:cs typeface="Arial MT"/>
              </a:rPr>
              <a:t>Income</a:t>
            </a:r>
            <a:r>
              <a:rPr sz="1100" spc="20" dirty="0">
                <a:solidFill>
                  <a:srgbClr val="A5B2C5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A5B2C5"/>
                </a:solidFill>
                <a:latin typeface="Arial MT"/>
                <a:cs typeface="Arial MT"/>
              </a:rPr>
              <a:t>positive</a:t>
            </a:r>
            <a:endParaRPr sz="1100">
              <a:latin typeface="Arial MT"/>
              <a:cs typeface="Arial MT"/>
            </a:endParaRPr>
          </a:p>
        </p:txBody>
      </p:sp>
    </p:spTree>
  </p:cSld>
  <p:clrMapOvr>
    <a:masterClrMapping/>
  </p:clrMapOvr>
  <p:transition>
    <p:cut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Intelligent</a:t>
            </a:r>
            <a:r>
              <a:rPr spc="275" dirty="0"/>
              <a:t> </a:t>
            </a:r>
            <a:r>
              <a:rPr dirty="0"/>
              <a:t>Transaction</a:t>
            </a:r>
            <a:r>
              <a:rPr spc="275" dirty="0"/>
              <a:t> </a:t>
            </a:r>
            <a:r>
              <a:rPr spc="-10" dirty="0"/>
              <a:t>Categorization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94513" y="659165"/>
            <a:ext cx="1950085" cy="114554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b="1" dirty="0">
                <a:solidFill>
                  <a:srgbClr val="27D2DC"/>
                </a:solidFill>
                <a:latin typeface="Arial"/>
                <a:cs typeface="Arial"/>
              </a:rPr>
              <a:t>Hybrid</a:t>
            </a:r>
            <a:r>
              <a:rPr sz="1400" b="1" spc="220" dirty="0">
                <a:solidFill>
                  <a:srgbClr val="27D2DC"/>
                </a:solidFill>
                <a:latin typeface="Arial"/>
                <a:cs typeface="Arial"/>
              </a:rPr>
              <a:t> </a:t>
            </a:r>
            <a:r>
              <a:rPr sz="1400" b="1" spc="-10" dirty="0">
                <a:solidFill>
                  <a:srgbClr val="27D2DC"/>
                </a:solidFill>
                <a:latin typeface="Arial"/>
                <a:cs typeface="Arial"/>
              </a:rPr>
              <a:t>Categorization</a:t>
            </a:r>
            <a:endParaRPr sz="1400">
              <a:latin typeface="Arial"/>
              <a:cs typeface="Arial"/>
            </a:endParaRPr>
          </a:p>
          <a:p>
            <a:pPr marL="196850" indent="-184150">
              <a:lnSpc>
                <a:spcPct val="100000"/>
              </a:lnSpc>
              <a:spcBef>
                <a:spcPts val="825"/>
              </a:spcBef>
              <a:buAutoNum type="arabicPeriod"/>
              <a:tabLst>
                <a:tab pos="196850" algn="l"/>
              </a:tabLst>
            </a:pPr>
            <a:r>
              <a:rPr sz="1100" b="1" spc="-30" dirty="0">
                <a:solidFill>
                  <a:srgbClr val="32CC81"/>
                </a:solidFill>
                <a:latin typeface="Arial"/>
                <a:cs typeface="Arial"/>
              </a:rPr>
              <a:t>Deterministic</a:t>
            </a:r>
            <a:r>
              <a:rPr sz="1100" b="1" spc="70" dirty="0">
                <a:solidFill>
                  <a:srgbClr val="32CC81"/>
                </a:solidFill>
                <a:latin typeface="Arial"/>
                <a:cs typeface="Arial"/>
              </a:rPr>
              <a:t> </a:t>
            </a:r>
            <a:r>
              <a:rPr sz="1100" b="1" spc="-10" dirty="0">
                <a:solidFill>
                  <a:srgbClr val="32CC81"/>
                </a:solidFill>
                <a:latin typeface="Arial"/>
                <a:cs typeface="Arial"/>
              </a:rPr>
              <a:t>rules</a:t>
            </a:r>
            <a:endParaRPr sz="1100">
              <a:latin typeface="Arial"/>
              <a:cs typeface="Arial"/>
            </a:endParaRPr>
          </a:p>
          <a:p>
            <a:pPr marL="287020" lvl="1" indent="-207645">
              <a:lnSpc>
                <a:spcPct val="100000"/>
              </a:lnSpc>
              <a:spcBef>
                <a:spcPts val="330"/>
              </a:spcBef>
              <a:buClr>
                <a:srgbClr val="27D2DC"/>
              </a:buClr>
              <a:buSzPct val="90909"/>
              <a:buFont typeface="Lucida Sans Unicode"/>
              <a:buChar char="►"/>
              <a:tabLst>
                <a:tab pos="287020" algn="l"/>
              </a:tabLst>
            </a:pPr>
            <a:r>
              <a:rPr sz="1100" spc="-100" dirty="0">
                <a:solidFill>
                  <a:srgbClr val="F4F8FC"/>
                </a:solidFill>
                <a:latin typeface="Arial MT"/>
                <a:cs typeface="Arial MT"/>
              </a:rPr>
              <a:t>Regex-</a:t>
            </a:r>
            <a:r>
              <a:rPr sz="1100" spc="-90" dirty="0">
                <a:solidFill>
                  <a:srgbClr val="F4F8FC"/>
                </a:solidFill>
                <a:latin typeface="Arial MT"/>
                <a:cs typeface="Arial MT"/>
              </a:rPr>
              <a:t>based</a:t>
            </a:r>
            <a:r>
              <a:rPr sz="1100" spc="50" dirty="0">
                <a:solidFill>
                  <a:srgbClr val="F4F8FC"/>
                </a:solidFill>
                <a:latin typeface="Arial MT"/>
                <a:cs typeface="Arial MT"/>
              </a:rPr>
              <a:t> </a:t>
            </a:r>
            <a:r>
              <a:rPr sz="1100" spc="-70" dirty="0">
                <a:solidFill>
                  <a:srgbClr val="F4F8FC"/>
                </a:solidFill>
                <a:latin typeface="Arial MT"/>
                <a:cs typeface="Arial MT"/>
              </a:rPr>
              <a:t>vendor</a:t>
            </a:r>
            <a:r>
              <a:rPr sz="1100" spc="55" dirty="0">
                <a:solidFill>
                  <a:srgbClr val="F4F8FC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F4F8FC"/>
                </a:solidFill>
                <a:latin typeface="Arial MT"/>
                <a:cs typeface="Arial MT"/>
              </a:rPr>
              <a:t>patterns</a:t>
            </a:r>
            <a:endParaRPr sz="1100">
              <a:latin typeface="Arial MT"/>
              <a:cs typeface="Arial MT"/>
            </a:endParaRPr>
          </a:p>
          <a:p>
            <a:pPr marL="287020" lvl="1" indent="-207645">
              <a:lnSpc>
                <a:spcPct val="100000"/>
              </a:lnSpc>
              <a:spcBef>
                <a:spcPts val="335"/>
              </a:spcBef>
              <a:buClr>
                <a:srgbClr val="27D2DC"/>
              </a:buClr>
              <a:buSzPct val="90909"/>
              <a:buFont typeface="Lucida Sans Unicode"/>
              <a:buChar char="►"/>
              <a:tabLst>
                <a:tab pos="287020" algn="l"/>
              </a:tabLst>
            </a:pPr>
            <a:r>
              <a:rPr sz="1100" spc="-40" dirty="0">
                <a:solidFill>
                  <a:srgbClr val="F4F8FC"/>
                </a:solidFill>
                <a:latin typeface="Arial MT"/>
                <a:cs typeface="Arial MT"/>
              </a:rPr>
              <a:t>Known</a:t>
            </a:r>
            <a:r>
              <a:rPr sz="1100" spc="-35" dirty="0">
                <a:solidFill>
                  <a:srgbClr val="F4F8FC"/>
                </a:solidFill>
                <a:latin typeface="Arial MT"/>
                <a:cs typeface="Arial MT"/>
              </a:rPr>
              <a:t> </a:t>
            </a:r>
            <a:r>
              <a:rPr sz="1100" spc="-40" dirty="0">
                <a:solidFill>
                  <a:srgbClr val="F4F8FC"/>
                </a:solidFill>
                <a:latin typeface="Arial MT"/>
                <a:cs typeface="Arial MT"/>
              </a:rPr>
              <a:t>merchant</a:t>
            </a:r>
            <a:r>
              <a:rPr sz="1100" spc="-30" dirty="0">
                <a:solidFill>
                  <a:srgbClr val="F4F8FC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F4F8FC"/>
                </a:solidFill>
                <a:latin typeface="Arial MT"/>
                <a:cs typeface="Arial MT"/>
              </a:rPr>
              <a:t>mappings</a:t>
            </a:r>
            <a:endParaRPr sz="1100">
              <a:latin typeface="Arial MT"/>
              <a:cs typeface="Arial MT"/>
            </a:endParaRPr>
          </a:p>
          <a:p>
            <a:pPr marL="287020" lvl="1" indent="-207645">
              <a:lnSpc>
                <a:spcPct val="100000"/>
              </a:lnSpc>
              <a:spcBef>
                <a:spcPts val="335"/>
              </a:spcBef>
              <a:buClr>
                <a:srgbClr val="27D2DC"/>
              </a:buClr>
              <a:buSzPct val="90909"/>
              <a:buFont typeface="Lucida Sans Unicode"/>
              <a:buChar char="►"/>
              <a:tabLst>
                <a:tab pos="287020" algn="l"/>
              </a:tabLst>
            </a:pPr>
            <a:r>
              <a:rPr sz="1100" spc="-50" dirty="0">
                <a:solidFill>
                  <a:srgbClr val="F4F8FC"/>
                </a:solidFill>
                <a:latin typeface="Arial MT"/>
                <a:cs typeface="Arial MT"/>
              </a:rPr>
              <a:t>Consistent</a:t>
            </a:r>
            <a:r>
              <a:rPr sz="1100" spc="-10" dirty="0">
                <a:solidFill>
                  <a:srgbClr val="F4F8FC"/>
                </a:solidFill>
                <a:latin typeface="Arial MT"/>
                <a:cs typeface="Arial MT"/>
              </a:rPr>
              <a:t> classification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94513" y="1887242"/>
            <a:ext cx="2430145" cy="828040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196850" indent="-184150">
              <a:lnSpc>
                <a:spcPct val="100000"/>
              </a:lnSpc>
              <a:spcBef>
                <a:spcPts val="434"/>
              </a:spcBef>
              <a:buAutoNum type="arabicPeriod" startAt="2"/>
              <a:tabLst>
                <a:tab pos="196850" algn="l"/>
              </a:tabLst>
            </a:pPr>
            <a:r>
              <a:rPr sz="1100" b="1" spc="-25" dirty="0">
                <a:solidFill>
                  <a:srgbClr val="9664F0"/>
                </a:solidFill>
                <a:latin typeface="Arial"/>
                <a:cs typeface="Arial"/>
              </a:rPr>
              <a:t>Context-</a:t>
            </a:r>
            <a:r>
              <a:rPr sz="1100" b="1" spc="-40" dirty="0">
                <a:solidFill>
                  <a:srgbClr val="9664F0"/>
                </a:solidFill>
                <a:latin typeface="Arial"/>
                <a:cs typeface="Arial"/>
              </a:rPr>
              <a:t>aware</a:t>
            </a:r>
            <a:r>
              <a:rPr sz="1100" b="1" spc="65" dirty="0">
                <a:solidFill>
                  <a:srgbClr val="9664F0"/>
                </a:solidFill>
                <a:latin typeface="Arial"/>
                <a:cs typeface="Arial"/>
              </a:rPr>
              <a:t> </a:t>
            </a:r>
            <a:r>
              <a:rPr sz="1100" b="1" spc="-10" dirty="0">
                <a:solidFill>
                  <a:srgbClr val="9664F0"/>
                </a:solidFill>
                <a:latin typeface="Arial"/>
                <a:cs typeface="Arial"/>
              </a:rPr>
              <a:t>fallback</a:t>
            </a:r>
            <a:endParaRPr sz="1100">
              <a:latin typeface="Arial"/>
              <a:cs typeface="Arial"/>
            </a:endParaRPr>
          </a:p>
          <a:p>
            <a:pPr marL="287020" marR="5080" lvl="1" indent="-207645">
              <a:lnSpc>
                <a:spcPct val="102600"/>
              </a:lnSpc>
              <a:spcBef>
                <a:spcPts val="300"/>
              </a:spcBef>
              <a:buClr>
                <a:srgbClr val="27D2DC"/>
              </a:buClr>
              <a:buSzPct val="90909"/>
              <a:buFont typeface="Lucida Sans Unicode"/>
              <a:buChar char="►"/>
              <a:tabLst>
                <a:tab pos="289560" algn="l"/>
              </a:tabLst>
            </a:pPr>
            <a:r>
              <a:rPr sz="1100" spc="-100" dirty="0">
                <a:solidFill>
                  <a:srgbClr val="F4F8FC"/>
                </a:solidFill>
                <a:latin typeface="Arial MT"/>
                <a:cs typeface="Arial MT"/>
              </a:rPr>
              <a:t>Used</a:t>
            </a:r>
            <a:r>
              <a:rPr sz="1100" spc="25" dirty="0">
                <a:solidFill>
                  <a:srgbClr val="F4F8FC"/>
                </a:solidFill>
                <a:latin typeface="Arial MT"/>
                <a:cs typeface="Arial MT"/>
              </a:rPr>
              <a:t> </a:t>
            </a:r>
            <a:r>
              <a:rPr sz="1100" spc="-70" dirty="0">
                <a:solidFill>
                  <a:srgbClr val="F4F8FC"/>
                </a:solidFill>
                <a:latin typeface="Arial MT"/>
                <a:cs typeface="Arial MT"/>
              </a:rPr>
              <a:t>when</a:t>
            </a:r>
            <a:r>
              <a:rPr sz="1100" spc="-5" dirty="0">
                <a:solidFill>
                  <a:srgbClr val="F4F8FC"/>
                </a:solidFill>
                <a:latin typeface="Arial MT"/>
                <a:cs typeface="Arial MT"/>
              </a:rPr>
              <a:t> </a:t>
            </a:r>
            <a:r>
              <a:rPr sz="1100" spc="-35" dirty="0">
                <a:solidFill>
                  <a:srgbClr val="F4F8FC"/>
                </a:solidFill>
                <a:latin typeface="Arial MT"/>
                <a:cs typeface="Arial MT"/>
              </a:rPr>
              <a:t>deterministic</a:t>
            </a:r>
            <a:r>
              <a:rPr sz="1100" dirty="0">
                <a:solidFill>
                  <a:srgbClr val="F4F8FC"/>
                </a:solidFill>
                <a:latin typeface="Arial MT"/>
                <a:cs typeface="Arial MT"/>
              </a:rPr>
              <a:t> </a:t>
            </a:r>
            <a:r>
              <a:rPr sz="1100" spc="-60" dirty="0">
                <a:solidFill>
                  <a:srgbClr val="F4F8FC"/>
                </a:solidFill>
                <a:latin typeface="Arial MT"/>
                <a:cs typeface="Arial MT"/>
              </a:rPr>
              <a:t>rules</a:t>
            </a:r>
            <a:r>
              <a:rPr sz="1100" spc="5" dirty="0">
                <a:solidFill>
                  <a:srgbClr val="F4F8FC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F4F8FC"/>
                </a:solidFill>
                <a:latin typeface="Arial MT"/>
                <a:cs typeface="Arial MT"/>
              </a:rPr>
              <a:t>do</a:t>
            </a:r>
            <a:r>
              <a:rPr sz="1100" spc="5" dirty="0">
                <a:solidFill>
                  <a:srgbClr val="F4F8FC"/>
                </a:solidFill>
                <a:latin typeface="Arial MT"/>
                <a:cs typeface="Arial MT"/>
              </a:rPr>
              <a:t> </a:t>
            </a:r>
            <a:r>
              <a:rPr sz="1100" spc="-25" dirty="0">
                <a:solidFill>
                  <a:srgbClr val="F4F8FC"/>
                </a:solidFill>
                <a:latin typeface="Arial MT"/>
                <a:cs typeface="Arial MT"/>
              </a:rPr>
              <a:t>not 	</a:t>
            </a:r>
            <a:r>
              <a:rPr sz="1100" spc="-10" dirty="0">
                <a:solidFill>
                  <a:srgbClr val="F4F8FC"/>
                </a:solidFill>
                <a:latin typeface="Arial MT"/>
                <a:cs typeface="Arial MT"/>
              </a:rPr>
              <a:t>match</a:t>
            </a:r>
            <a:endParaRPr sz="1100">
              <a:latin typeface="Arial MT"/>
              <a:cs typeface="Arial MT"/>
            </a:endParaRPr>
          </a:p>
          <a:p>
            <a:pPr marL="287020" lvl="1" indent="-207645">
              <a:lnSpc>
                <a:spcPct val="100000"/>
              </a:lnSpc>
              <a:spcBef>
                <a:spcPts val="330"/>
              </a:spcBef>
              <a:buClr>
                <a:srgbClr val="27D2DC"/>
              </a:buClr>
              <a:buSzPct val="90909"/>
              <a:buFont typeface="Lucida Sans Unicode"/>
              <a:buChar char="►"/>
              <a:tabLst>
                <a:tab pos="287020" algn="l"/>
              </a:tabLst>
            </a:pPr>
            <a:r>
              <a:rPr sz="1100" spc="-65" dirty="0">
                <a:solidFill>
                  <a:srgbClr val="F4F8FC"/>
                </a:solidFill>
                <a:latin typeface="Arial MT"/>
                <a:cs typeface="Arial MT"/>
              </a:rPr>
              <a:t>Context-</a:t>
            </a:r>
            <a:r>
              <a:rPr sz="1100" spc="-45" dirty="0">
                <a:solidFill>
                  <a:srgbClr val="F4F8FC"/>
                </a:solidFill>
                <a:latin typeface="Arial MT"/>
                <a:cs typeface="Arial MT"/>
              </a:rPr>
              <a:t>sensitive</a:t>
            </a:r>
            <a:r>
              <a:rPr sz="1100" spc="55" dirty="0">
                <a:solidFill>
                  <a:srgbClr val="F4F8FC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F4F8FC"/>
                </a:solidFill>
                <a:latin typeface="Arial MT"/>
                <a:cs typeface="Arial MT"/>
              </a:rPr>
              <a:t>inference</a:t>
            </a:r>
            <a:endParaRPr sz="1100">
              <a:latin typeface="Arial MT"/>
              <a:cs typeface="Arial MT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3033600" y="607401"/>
            <a:ext cx="2057400" cy="2159000"/>
            <a:chOff x="3033600" y="607401"/>
            <a:chExt cx="2057400" cy="2159000"/>
          </a:xfrm>
        </p:grpSpPr>
        <p:sp>
          <p:nvSpPr>
            <p:cNvPr id="6" name="object 6"/>
            <p:cNvSpPr/>
            <p:nvPr/>
          </p:nvSpPr>
          <p:spPr>
            <a:xfrm>
              <a:off x="3036130" y="609931"/>
              <a:ext cx="2052320" cy="2153920"/>
            </a:xfrm>
            <a:custGeom>
              <a:avLst/>
              <a:gdLst/>
              <a:ahLst/>
              <a:cxnLst/>
              <a:rect l="l" t="t" r="r" b="b"/>
              <a:pathLst>
                <a:path w="2052320" h="2153920">
                  <a:moveTo>
                    <a:pt x="1963461" y="0"/>
                  </a:moveTo>
                  <a:lnTo>
                    <a:pt x="88569" y="0"/>
                  </a:lnTo>
                  <a:lnTo>
                    <a:pt x="54093" y="6960"/>
                  </a:lnTo>
                  <a:lnTo>
                    <a:pt x="25941" y="25941"/>
                  </a:lnTo>
                  <a:lnTo>
                    <a:pt x="6960" y="54093"/>
                  </a:lnTo>
                  <a:lnTo>
                    <a:pt x="0" y="88568"/>
                  </a:lnTo>
                  <a:lnTo>
                    <a:pt x="0" y="2065068"/>
                  </a:lnTo>
                  <a:lnTo>
                    <a:pt x="6960" y="2099543"/>
                  </a:lnTo>
                  <a:lnTo>
                    <a:pt x="25941" y="2127695"/>
                  </a:lnTo>
                  <a:lnTo>
                    <a:pt x="54093" y="2146676"/>
                  </a:lnTo>
                  <a:lnTo>
                    <a:pt x="88569" y="2153637"/>
                  </a:lnTo>
                  <a:lnTo>
                    <a:pt x="1963461" y="2153637"/>
                  </a:lnTo>
                  <a:lnTo>
                    <a:pt x="1997936" y="2146676"/>
                  </a:lnTo>
                  <a:lnTo>
                    <a:pt x="2026089" y="2127695"/>
                  </a:lnTo>
                  <a:lnTo>
                    <a:pt x="2045070" y="2099543"/>
                  </a:lnTo>
                  <a:lnTo>
                    <a:pt x="2052030" y="2065068"/>
                  </a:lnTo>
                  <a:lnTo>
                    <a:pt x="2052030" y="88568"/>
                  </a:lnTo>
                  <a:lnTo>
                    <a:pt x="2045070" y="54093"/>
                  </a:lnTo>
                  <a:lnTo>
                    <a:pt x="2026089" y="25941"/>
                  </a:lnTo>
                  <a:lnTo>
                    <a:pt x="1997936" y="6960"/>
                  </a:lnTo>
                  <a:lnTo>
                    <a:pt x="1963461" y="0"/>
                  </a:lnTo>
                  <a:close/>
                </a:path>
              </a:pathLst>
            </a:custGeom>
            <a:solidFill>
              <a:srgbClr val="0C18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036130" y="609931"/>
              <a:ext cx="2052320" cy="2153920"/>
            </a:xfrm>
            <a:custGeom>
              <a:avLst/>
              <a:gdLst/>
              <a:ahLst/>
              <a:cxnLst/>
              <a:rect l="l" t="t" r="r" b="b"/>
              <a:pathLst>
                <a:path w="2052320" h="2153920">
                  <a:moveTo>
                    <a:pt x="1963461" y="0"/>
                  </a:moveTo>
                  <a:lnTo>
                    <a:pt x="88569" y="0"/>
                  </a:lnTo>
                  <a:lnTo>
                    <a:pt x="54093" y="6960"/>
                  </a:lnTo>
                  <a:lnTo>
                    <a:pt x="25941" y="25941"/>
                  </a:lnTo>
                  <a:lnTo>
                    <a:pt x="6960" y="54093"/>
                  </a:lnTo>
                  <a:lnTo>
                    <a:pt x="0" y="88568"/>
                  </a:lnTo>
                  <a:lnTo>
                    <a:pt x="0" y="2065068"/>
                  </a:lnTo>
                  <a:lnTo>
                    <a:pt x="6960" y="2099543"/>
                  </a:lnTo>
                  <a:lnTo>
                    <a:pt x="25941" y="2127695"/>
                  </a:lnTo>
                  <a:lnTo>
                    <a:pt x="54093" y="2146676"/>
                  </a:lnTo>
                  <a:lnTo>
                    <a:pt x="88569" y="2153637"/>
                  </a:lnTo>
                  <a:lnTo>
                    <a:pt x="1963461" y="2153637"/>
                  </a:lnTo>
                  <a:lnTo>
                    <a:pt x="1997936" y="2146676"/>
                  </a:lnTo>
                  <a:lnTo>
                    <a:pt x="2026089" y="2127695"/>
                  </a:lnTo>
                  <a:lnTo>
                    <a:pt x="2045070" y="2099543"/>
                  </a:lnTo>
                  <a:lnTo>
                    <a:pt x="2052030" y="2065068"/>
                  </a:lnTo>
                  <a:lnTo>
                    <a:pt x="2052030" y="88568"/>
                  </a:lnTo>
                  <a:lnTo>
                    <a:pt x="2045070" y="54093"/>
                  </a:lnTo>
                  <a:lnTo>
                    <a:pt x="2026089" y="25941"/>
                  </a:lnTo>
                  <a:lnTo>
                    <a:pt x="1997936" y="6960"/>
                  </a:lnTo>
                  <a:lnTo>
                    <a:pt x="1963461" y="0"/>
                  </a:lnTo>
                  <a:close/>
                </a:path>
              </a:pathLst>
            </a:custGeom>
            <a:ln w="5060">
              <a:solidFill>
                <a:srgbClr val="308C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3149434" y="607819"/>
            <a:ext cx="1060450" cy="2070735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0"/>
              </a:spcBef>
            </a:pPr>
            <a:r>
              <a:rPr sz="1100" b="1" spc="-10" dirty="0">
                <a:solidFill>
                  <a:srgbClr val="F4F8FC"/>
                </a:solidFill>
                <a:latin typeface="Arial"/>
                <a:cs typeface="Arial"/>
              </a:rPr>
              <a:t>Examples</a:t>
            </a:r>
            <a:endParaRPr sz="1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05"/>
              </a:spcBef>
            </a:pPr>
            <a:r>
              <a:rPr sz="1100" spc="-80" dirty="0">
                <a:solidFill>
                  <a:srgbClr val="A5B2C5"/>
                </a:solidFill>
                <a:latin typeface="Arial MT"/>
                <a:cs typeface="Arial MT"/>
              </a:rPr>
              <a:t>SQUARE</a:t>
            </a:r>
            <a:r>
              <a:rPr sz="1100" spc="50" dirty="0">
                <a:solidFill>
                  <a:srgbClr val="A5B2C5"/>
                </a:solidFill>
                <a:latin typeface="Arial MT"/>
                <a:cs typeface="Arial MT"/>
              </a:rPr>
              <a:t> </a:t>
            </a:r>
            <a:r>
              <a:rPr sz="1100" spc="110" dirty="0">
                <a:solidFill>
                  <a:srgbClr val="A5B2C5"/>
                </a:solidFill>
                <a:latin typeface="Arial MT"/>
                <a:cs typeface="Arial MT"/>
              </a:rPr>
              <a:t>*</a:t>
            </a:r>
            <a:r>
              <a:rPr sz="1100" spc="50" dirty="0">
                <a:solidFill>
                  <a:srgbClr val="A5B2C5"/>
                </a:solidFill>
                <a:latin typeface="Arial MT"/>
                <a:cs typeface="Arial MT"/>
              </a:rPr>
              <a:t> </a:t>
            </a:r>
            <a:r>
              <a:rPr sz="1100" spc="-50" dirty="0">
                <a:solidFill>
                  <a:srgbClr val="A5B2C5"/>
                </a:solidFill>
                <a:latin typeface="Arial MT"/>
                <a:cs typeface="Arial MT"/>
              </a:rPr>
              <a:t>CAFE</a:t>
            </a:r>
            <a:endParaRPr sz="11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1100" spc="-50" dirty="0">
                <a:solidFill>
                  <a:srgbClr val="A5B2C5"/>
                </a:solidFill>
                <a:latin typeface="Lucida Sans Unicode"/>
                <a:cs typeface="Lucida Sans Unicode"/>
              </a:rPr>
              <a:t>↓</a:t>
            </a:r>
            <a:endParaRPr sz="110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1100" spc="-20" dirty="0">
                <a:solidFill>
                  <a:srgbClr val="27D2DC"/>
                </a:solidFill>
                <a:latin typeface="Arial MT"/>
                <a:cs typeface="Arial MT"/>
              </a:rPr>
              <a:t>Dining</a:t>
            </a:r>
            <a:r>
              <a:rPr sz="1100" spc="-40" dirty="0">
                <a:solidFill>
                  <a:srgbClr val="27D2DC"/>
                </a:solidFill>
                <a:latin typeface="Arial MT"/>
                <a:cs typeface="Arial MT"/>
              </a:rPr>
              <a:t> </a:t>
            </a:r>
            <a:r>
              <a:rPr sz="1100" spc="-25" dirty="0">
                <a:solidFill>
                  <a:srgbClr val="27D2DC"/>
                </a:solidFill>
                <a:latin typeface="Arial MT"/>
                <a:cs typeface="Arial MT"/>
              </a:rPr>
              <a:t>Out</a:t>
            </a:r>
            <a:endParaRPr sz="11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740"/>
              </a:spcBef>
            </a:pPr>
            <a:r>
              <a:rPr sz="1100" spc="-10" dirty="0">
                <a:solidFill>
                  <a:srgbClr val="A5B2C5"/>
                </a:solidFill>
                <a:latin typeface="Arial MT"/>
                <a:cs typeface="Arial MT"/>
              </a:rPr>
              <a:t>NETFLIX</a:t>
            </a:r>
            <a:endParaRPr sz="11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1100" spc="-50" dirty="0">
                <a:solidFill>
                  <a:srgbClr val="A5B2C5"/>
                </a:solidFill>
                <a:latin typeface="Lucida Sans Unicode"/>
                <a:cs typeface="Lucida Sans Unicode"/>
              </a:rPr>
              <a:t>↓</a:t>
            </a:r>
            <a:endParaRPr sz="110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1100" spc="-10" dirty="0">
                <a:solidFill>
                  <a:srgbClr val="27D2DC"/>
                </a:solidFill>
                <a:latin typeface="Arial MT"/>
                <a:cs typeface="Arial MT"/>
              </a:rPr>
              <a:t>Subscriptions</a:t>
            </a:r>
            <a:endParaRPr sz="11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745"/>
              </a:spcBef>
            </a:pPr>
            <a:r>
              <a:rPr sz="1100" spc="-10" dirty="0">
                <a:solidFill>
                  <a:srgbClr val="A5B2C5"/>
                </a:solidFill>
                <a:latin typeface="Arial MT"/>
                <a:cs typeface="Arial MT"/>
              </a:rPr>
              <a:t>CONED</a:t>
            </a:r>
            <a:endParaRPr sz="11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1100" spc="-50" dirty="0">
                <a:solidFill>
                  <a:srgbClr val="A5B2C5"/>
                </a:solidFill>
                <a:latin typeface="Lucida Sans Unicode"/>
                <a:cs typeface="Lucida Sans Unicode"/>
              </a:rPr>
              <a:t>↓</a:t>
            </a:r>
            <a:endParaRPr sz="110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1100" spc="-10" dirty="0">
                <a:solidFill>
                  <a:srgbClr val="27D2DC"/>
                </a:solidFill>
                <a:latin typeface="Arial MT"/>
                <a:cs typeface="Arial MT"/>
              </a:rPr>
              <a:t>Utilities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/>
              <a:t>FinPilot</a:t>
            </a:r>
            <a:r>
              <a:rPr spc="45" dirty="0"/>
              <a:t> </a:t>
            </a:r>
            <a:r>
              <a:rPr dirty="0"/>
              <a:t>—</a:t>
            </a:r>
            <a:r>
              <a:rPr spc="50" dirty="0"/>
              <a:t> </a:t>
            </a:r>
            <a:r>
              <a:rPr dirty="0"/>
              <a:t>AI</a:t>
            </a:r>
            <a:r>
              <a:rPr spc="55" dirty="0"/>
              <a:t> </a:t>
            </a:r>
            <a:r>
              <a:rPr spc="-20" dirty="0"/>
              <a:t>Personal</a:t>
            </a:r>
            <a:r>
              <a:rPr spc="50" dirty="0"/>
              <a:t> </a:t>
            </a:r>
            <a:r>
              <a:rPr spc="-20" dirty="0"/>
              <a:t>Finance</a:t>
            </a:r>
            <a:r>
              <a:rPr spc="55" dirty="0"/>
              <a:t> </a:t>
            </a:r>
            <a:r>
              <a:rPr spc="-10" dirty="0"/>
              <a:t>Decision</a:t>
            </a:r>
            <a:r>
              <a:rPr spc="50" dirty="0"/>
              <a:t> </a:t>
            </a:r>
            <a:r>
              <a:rPr dirty="0"/>
              <a:t>Support</a:t>
            </a:r>
            <a:r>
              <a:rPr spc="45" dirty="0"/>
              <a:t> </a:t>
            </a:r>
            <a:r>
              <a:rPr spc="-10" dirty="0"/>
              <a:t>Agent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pc="-25" dirty="0"/>
              <a:t>9</a:t>
            </a:r>
          </a:p>
        </p:txBody>
      </p:sp>
    </p:spTree>
  </p:cSld>
  <p:clrMapOvr>
    <a:masterClrMapping/>
  </p:clrMapOvr>
  <p:transition>
    <p:cut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Financial</a:t>
            </a:r>
            <a:r>
              <a:rPr spc="185" dirty="0"/>
              <a:t> </a:t>
            </a:r>
            <a:r>
              <a:rPr dirty="0"/>
              <a:t>Command</a:t>
            </a:r>
            <a:r>
              <a:rPr spc="190" dirty="0"/>
              <a:t> </a:t>
            </a:r>
            <a:r>
              <a:rPr spc="-10" dirty="0"/>
              <a:t>Center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659833" y="444537"/>
            <a:ext cx="4440555" cy="2093595"/>
            <a:chOff x="659833" y="444537"/>
            <a:chExt cx="4440555" cy="2093595"/>
          </a:xfrm>
        </p:grpSpPr>
        <p:sp>
          <p:nvSpPr>
            <p:cNvPr id="4" name="object 4"/>
            <p:cNvSpPr/>
            <p:nvPr/>
          </p:nvSpPr>
          <p:spPr>
            <a:xfrm>
              <a:off x="662363" y="447067"/>
              <a:ext cx="4435475" cy="2088514"/>
            </a:xfrm>
            <a:custGeom>
              <a:avLst/>
              <a:gdLst/>
              <a:ahLst/>
              <a:cxnLst/>
              <a:rect l="l" t="t" r="r" b="b"/>
              <a:pathLst>
                <a:path w="4435475" h="2088514">
                  <a:moveTo>
                    <a:pt x="4334059" y="0"/>
                  </a:moveTo>
                  <a:lnTo>
                    <a:pt x="101221" y="0"/>
                  </a:lnTo>
                  <a:lnTo>
                    <a:pt x="61821" y="7954"/>
                  </a:lnTo>
                  <a:lnTo>
                    <a:pt x="29646" y="29646"/>
                  </a:lnTo>
                  <a:lnTo>
                    <a:pt x="7954" y="61821"/>
                  </a:lnTo>
                  <a:lnTo>
                    <a:pt x="0" y="101221"/>
                  </a:lnTo>
                  <a:lnTo>
                    <a:pt x="0" y="1986805"/>
                  </a:lnTo>
                  <a:lnTo>
                    <a:pt x="7954" y="2026206"/>
                  </a:lnTo>
                  <a:lnTo>
                    <a:pt x="29646" y="2058380"/>
                  </a:lnTo>
                  <a:lnTo>
                    <a:pt x="61821" y="2080073"/>
                  </a:lnTo>
                  <a:lnTo>
                    <a:pt x="101221" y="2088027"/>
                  </a:lnTo>
                  <a:lnTo>
                    <a:pt x="4334059" y="2088027"/>
                  </a:lnTo>
                  <a:lnTo>
                    <a:pt x="4373460" y="2080073"/>
                  </a:lnTo>
                  <a:lnTo>
                    <a:pt x="4405634" y="2058380"/>
                  </a:lnTo>
                  <a:lnTo>
                    <a:pt x="4427327" y="2026206"/>
                  </a:lnTo>
                  <a:lnTo>
                    <a:pt x="4435281" y="1986805"/>
                  </a:lnTo>
                  <a:lnTo>
                    <a:pt x="4435281" y="101221"/>
                  </a:lnTo>
                  <a:lnTo>
                    <a:pt x="4427327" y="61821"/>
                  </a:lnTo>
                  <a:lnTo>
                    <a:pt x="4405634" y="29646"/>
                  </a:lnTo>
                  <a:lnTo>
                    <a:pt x="4373460" y="7954"/>
                  </a:lnTo>
                  <a:lnTo>
                    <a:pt x="4334059" y="0"/>
                  </a:lnTo>
                  <a:close/>
                </a:path>
              </a:pathLst>
            </a:custGeom>
            <a:solidFill>
              <a:srgbClr val="0C18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62363" y="447067"/>
              <a:ext cx="4435475" cy="2088514"/>
            </a:xfrm>
            <a:custGeom>
              <a:avLst/>
              <a:gdLst/>
              <a:ahLst/>
              <a:cxnLst/>
              <a:rect l="l" t="t" r="r" b="b"/>
              <a:pathLst>
                <a:path w="4435475" h="2088514">
                  <a:moveTo>
                    <a:pt x="4334059" y="0"/>
                  </a:moveTo>
                  <a:lnTo>
                    <a:pt x="101221" y="0"/>
                  </a:lnTo>
                  <a:lnTo>
                    <a:pt x="61821" y="7954"/>
                  </a:lnTo>
                  <a:lnTo>
                    <a:pt x="29646" y="29646"/>
                  </a:lnTo>
                  <a:lnTo>
                    <a:pt x="7954" y="61821"/>
                  </a:lnTo>
                  <a:lnTo>
                    <a:pt x="0" y="101221"/>
                  </a:lnTo>
                  <a:lnTo>
                    <a:pt x="0" y="1986805"/>
                  </a:lnTo>
                  <a:lnTo>
                    <a:pt x="7954" y="2026206"/>
                  </a:lnTo>
                  <a:lnTo>
                    <a:pt x="29646" y="2058380"/>
                  </a:lnTo>
                  <a:lnTo>
                    <a:pt x="61821" y="2080073"/>
                  </a:lnTo>
                  <a:lnTo>
                    <a:pt x="101221" y="2088027"/>
                  </a:lnTo>
                  <a:lnTo>
                    <a:pt x="4334059" y="2088027"/>
                  </a:lnTo>
                  <a:lnTo>
                    <a:pt x="4373460" y="2080073"/>
                  </a:lnTo>
                  <a:lnTo>
                    <a:pt x="4405634" y="2058380"/>
                  </a:lnTo>
                  <a:lnTo>
                    <a:pt x="4427327" y="2026206"/>
                  </a:lnTo>
                  <a:lnTo>
                    <a:pt x="4435281" y="1986805"/>
                  </a:lnTo>
                  <a:lnTo>
                    <a:pt x="4435281" y="101221"/>
                  </a:lnTo>
                  <a:lnTo>
                    <a:pt x="4427327" y="61821"/>
                  </a:lnTo>
                  <a:lnTo>
                    <a:pt x="4405634" y="29646"/>
                  </a:lnTo>
                  <a:lnTo>
                    <a:pt x="4373460" y="7954"/>
                  </a:lnTo>
                  <a:lnTo>
                    <a:pt x="4334059" y="0"/>
                  </a:lnTo>
                  <a:close/>
                </a:path>
              </a:pathLst>
            </a:custGeom>
            <a:ln w="5060">
              <a:solidFill>
                <a:srgbClr val="64728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1377124" y="1112615"/>
            <a:ext cx="3006090" cy="588645"/>
          </a:xfrm>
          <a:prstGeom prst="rect">
            <a:avLst/>
          </a:prstGeom>
        </p:spPr>
        <p:txBody>
          <a:bodyPr vert="horz" wrap="square" lIns="0" tIns="13017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25"/>
              </a:spcBef>
            </a:pPr>
            <a:r>
              <a:rPr sz="1400" spc="-85" dirty="0">
                <a:solidFill>
                  <a:srgbClr val="A5B2C5"/>
                </a:solidFill>
                <a:latin typeface="Arial MT"/>
                <a:cs typeface="Arial MT"/>
              </a:rPr>
              <a:t>Screenshot</a:t>
            </a:r>
            <a:r>
              <a:rPr sz="1400" spc="-5" dirty="0">
                <a:solidFill>
                  <a:srgbClr val="A5B2C5"/>
                </a:solidFill>
                <a:latin typeface="Arial MT"/>
                <a:cs typeface="Arial MT"/>
              </a:rPr>
              <a:t> </a:t>
            </a:r>
            <a:r>
              <a:rPr sz="1400" spc="-10" dirty="0">
                <a:solidFill>
                  <a:srgbClr val="A5B2C5"/>
                </a:solidFill>
                <a:latin typeface="Arial MT"/>
                <a:cs typeface="Arial MT"/>
              </a:rPr>
              <a:t>Placeholder</a:t>
            </a:r>
            <a:endParaRPr sz="1400">
              <a:latin typeface="Arial MT"/>
              <a:cs typeface="Arial MT"/>
            </a:endParaRPr>
          </a:p>
          <a:p>
            <a:pPr algn="ctr">
              <a:lnSpc>
                <a:spcPct val="100000"/>
              </a:lnSpc>
              <a:spcBef>
                <a:spcPts val="625"/>
              </a:spcBef>
            </a:pPr>
            <a:r>
              <a:rPr sz="1000" dirty="0">
                <a:solidFill>
                  <a:srgbClr val="A5B2C5"/>
                </a:solidFill>
                <a:latin typeface="Arial MT"/>
                <a:cs typeface="Arial MT"/>
              </a:rPr>
              <a:t>Add</a:t>
            </a:r>
            <a:r>
              <a:rPr sz="1000" spc="95" dirty="0">
                <a:solidFill>
                  <a:srgbClr val="A5B2C5"/>
                </a:solidFill>
                <a:latin typeface="Arial MT"/>
                <a:cs typeface="Arial MT"/>
              </a:rPr>
              <a:t> </a:t>
            </a:r>
            <a:r>
              <a:rPr sz="1000" spc="-30" dirty="0">
                <a:solidFill>
                  <a:srgbClr val="A5B2C5"/>
                </a:solidFill>
                <a:latin typeface="Arial MT"/>
                <a:cs typeface="Arial MT"/>
              </a:rPr>
              <a:t>image:</a:t>
            </a:r>
            <a:r>
              <a:rPr sz="1000" spc="220" dirty="0">
                <a:solidFill>
                  <a:srgbClr val="A5B2C5"/>
                </a:solidFill>
                <a:latin typeface="Arial MT"/>
                <a:cs typeface="Arial MT"/>
              </a:rPr>
              <a:t> </a:t>
            </a:r>
            <a:r>
              <a:rPr sz="1000" spc="-10" dirty="0">
                <a:solidFill>
                  <a:srgbClr val="A5B2C5"/>
                </a:solidFill>
                <a:latin typeface="Cambria"/>
                <a:cs typeface="Cambria"/>
              </a:rPr>
              <a:t>screenshots/02\_command\_center.png</a:t>
            </a:r>
            <a:endParaRPr sz="1000">
              <a:latin typeface="Cambria"/>
              <a:cs typeface="Cambria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/>
              <a:t>FinPilot</a:t>
            </a:r>
            <a:r>
              <a:rPr spc="45" dirty="0"/>
              <a:t> </a:t>
            </a:r>
            <a:r>
              <a:rPr dirty="0"/>
              <a:t>—</a:t>
            </a:r>
            <a:r>
              <a:rPr spc="50" dirty="0"/>
              <a:t> </a:t>
            </a:r>
            <a:r>
              <a:rPr dirty="0"/>
              <a:t>AI</a:t>
            </a:r>
            <a:r>
              <a:rPr spc="55" dirty="0"/>
              <a:t> </a:t>
            </a:r>
            <a:r>
              <a:rPr spc="-20" dirty="0"/>
              <a:t>Personal</a:t>
            </a:r>
            <a:r>
              <a:rPr spc="50" dirty="0"/>
              <a:t> </a:t>
            </a:r>
            <a:r>
              <a:rPr spc="-20" dirty="0"/>
              <a:t>Finance</a:t>
            </a:r>
            <a:r>
              <a:rPr spc="55" dirty="0"/>
              <a:t> </a:t>
            </a:r>
            <a:r>
              <a:rPr spc="-10" dirty="0"/>
              <a:t>Decision</a:t>
            </a:r>
            <a:r>
              <a:rPr spc="50" dirty="0"/>
              <a:t> </a:t>
            </a:r>
            <a:r>
              <a:rPr dirty="0"/>
              <a:t>Support</a:t>
            </a:r>
            <a:r>
              <a:rPr spc="45" dirty="0"/>
              <a:t> </a:t>
            </a:r>
            <a:r>
              <a:rPr spc="-10" dirty="0"/>
              <a:t>Agent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pc="-25" dirty="0"/>
              <a:t>10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476084" y="2645929"/>
            <a:ext cx="4807585" cy="36385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2170430" marR="5080" indent="-2158365">
              <a:lnSpc>
                <a:spcPct val="102600"/>
              </a:lnSpc>
              <a:spcBef>
                <a:spcPts val="55"/>
              </a:spcBef>
            </a:pPr>
            <a:r>
              <a:rPr sz="1100" spc="-65" dirty="0">
                <a:solidFill>
                  <a:srgbClr val="A5B2C5"/>
                </a:solidFill>
                <a:latin typeface="Arial MT"/>
                <a:cs typeface="Arial MT"/>
              </a:rPr>
              <a:t>One</a:t>
            </a:r>
            <a:r>
              <a:rPr sz="1100" spc="-10" dirty="0">
                <a:solidFill>
                  <a:srgbClr val="A5B2C5"/>
                </a:solidFill>
                <a:latin typeface="Arial MT"/>
                <a:cs typeface="Arial MT"/>
              </a:rPr>
              <a:t> </a:t>
            </a:r>
            <a:r>
              <a:rPr sz="1100" spc="-90" dirty="0">
                <a:solidFill>
                  <a:srgbClr val="A5B2C5"/>
                </a:solidFill>
                <a:latin typeface="Arial MT"/>
                <a:cs typeface="Arial MT"/>
              </a:rPr>
              <a:t>screen</a:t>
            </a:r>
            <a:r>
              <a:rPr sz="1100" spc="15" dirty="0">
                <a:solidFill>
                  <a:srgbClr val="A5B2C5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A5B2C5"/>
                </a:solidFill>
                <a:latin typeface="Arial MT"/>
                <a:cs typeface="Arial MT"/>
              </a:rPr>
              <a:t>for</a:t>
            </a:r>
            <a:r>
              <a:rPr sz="1100" spc="-10" dirty="0">
                <a:solidFill>
                  <a:srgbClr val="A5B2C5"/>
                </a:solidFill>
                <a:latin typeface="Arial MT"/>
                <a:cs typeface="Arial MT"/>
              </a:rPr>
              <a:t> </a:t>
            </a:r>
            <a:r>
              <a:rPr sz="1100" spc="-45" dirty="0">
                <a:solidFill>
                  <a:srgbClr val="A5B2C5"/>
                </a:solidFill>
                <a:latin typeface="Arial MT"/>
                <a:cs typeface="Arial MT"/>
              </a:rPr>
              <a:t>income,</a:t>
            </a:r>
            <a:r>
              <a:rPr sz="1100" spc="10" dirty="0">
                <a:solidFill>
                  <a:srgbClr val="A5B2C5"/>
                </a:solidFill>
                <a:latin typeface="Arial MT"/>
                <a:cs typeface="Arial MT"/>
              </a:rPr>
              <a:t> </a:t>
            </a:r>
            <a:r>
              <a:rPr sz="1100" spc="-95" dirty="0">
                <a:solidFill>
                  <a:srgbClr val="A5B2C5"/>
                </a:solidFill>
                <a:latin typeface="Arial MT"/>
                <a:cs typeface="Arial MT"/>
              </a:rPr>
              <a:t>expenses,</a:t>
            </a:r>
            <a:r>
              <a:rPr sz="1100" spc="20" dirty="0">
                <a:solidFill>
                  <a:srgbClr val="A5B2C5"/>
                </a:solidFill>
                <a:latin typeface="Arial MT"/>
                <a:cs typeface="Arial MT"/>
              </a:rPr>
              <a:t> </a:t>
            </a:r>
            <a:r>
              <a:rPr sz="1100" spc="-90" dirty="0">
                <a:solidFill>
                  <a:srgbClr val="A5B2C5"/>
                </a:solidFill>
                <a:latin typeface="Arial MT"/>
                <a:cs typeface="Arial MT"/>
              </a:rPr>
              <a:t>cash</a:t>
            </a:r>
            <a:r>
              <a:rPr sz="1100" spc="15" dirty="0">
                <a:solidFill>
                  <a:srgbClr val="A5B2C5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A5B2C5"/>
                </a:solidFill>
                <a:latin typeface="Arial MT"/>
                <a:cs typeface="Arial MT"/>
              </a:rPr>
              <a:t>flow,</a:t>
            </a:r>
            <a:r>
              <a:rPr sz="1100" spc="5" dirty="0">
                <a:solidFill>
                  <a:srgbClr val="A5B2C5"/>
                </a:solidFill>
                <a:latin typeface="Arial MT"/>
                <a:cs typeface="Arial MT"/>
              </a:rPr>
              <a:t> </a:t>
            </a:r>
            <a:r>
              <a:rPr sz="1100" spc="-25" dirty="0">
                <a:solidFill>
                  <a:srgbClr val="A5B2C5"/>
                </a:solidFill>
                <a:latin typeface="Arial MT"/>
                <a:cs typeface="Arial MT"/>
              </a:rPr>
              <a:t>committed</a:t>
            </a:r>
            <a:r>
              <a:rPr sz="1100" spc="5" dirty="0">
                <a:solidFill>
                  <a:srgbClr val="A5B2C5"/>
                </a:solidFill>
                <a:latin typeface="Arial MT"/>
                <a:cs typeface="Arial MT"/>
              </a:rPr>
              <a:t> </a:t>
            </a:r>
            <a:r>
              <a:rPr sz="1100" spc="-65" dirty="0">
                <a:solidFill>
                  <a:srgbClr val="A5B2C5"/>
                </a:solidFill>
                <a:latin typeface="Arial MT"/>
                <a:cs typeface="Arial MT"/>
              </a:rPr>
              <a:t>spending</a:t>
            </a:r>
            <a:r>
              <a:rPr sz="1100" spc="10" dirty="0">
                <a:solidFill>
                  <a:srgbClr val="A5B2C5"/>
                </a:solidFill>
                <a:latin typeface="Arial MT"/>
                <a:cs typeface="Arial MT"/>
              </a:rPr>
              <a:t> </a:t>
            </a:r>
            <a:r>
              <a:rPr sz="1100" spc="-55" dirty="0">
                <a:solidFill>
                  <a:srgbClr val="A5B2C5"/>
                </a:solidFill>
                <a:latin typeface="Arial MT"/>
                <a:cs typeface="Arial MT"/>
              </a:rPr>
              <a:t>and</a:t>
            </a:r>
            <a:r>
              <a:rPr sz="1100" spc="5" dirty="0">
                <a:solidFill>
                  <a:srgbClr val="A5B2C5"/>
                </a:solidFill>
                <a:latin typeface="Arial MT"/>
                <a:cs typeface="Arial MT"/>
              </a:rPr>
              <a:t> </a:t>
            </a:r>
            <a:r>
              <a:rPr sz="1100" spc="-65" dirty="0">
                <a:solidFill>
                  <a:srgbClr val="A5B2C5"/>
                </a:solidFill>
                <a:latin typeface="Arial MT"/>
                <a:cs typeface="Arial MT"/>
              </a:rPr>
              <a:t>safe-</a:t>
            </a:r>
            <a:r>
              <a:rPr sz="1100" spc="-60" dirty="0">
                <a:solidFill>
                  <a:srgbClr val="A5B2C5"/>
                </a:solidFill>
                <a:latin typeface="Arial MT"/>
                <a:cs typeface="Arial MT"/>
              </a:rPr>
              <a:t>to-</a:t>
            </a:r>
            <a:r>
              <a:rPr sz="1100" spc="-10" dirty="0">
                <a:solidFill>
                  <a:srgbClr val="A5B2C5"/>
                </a:solidFill>
                <a:latin typeface="Arial MT"/>
                <a:cs typeface="Arial MT"/>
              </a:rPr>
              <a:t>spend balance.</a:t>
            </a:r>
            <a:endParaRPr sz="1100">
              <a:latin typeface="Arial MT"/>
              <a:cs typeface="Arial MT"/>
            </a:endParaRPr>
          </a:p>
        </p:txBody>
      </p:sp>
    </p:spTree>
  </p:cSld>
  <p:clrMapOvr>
    <a:masterClrMapping/>
  </p:clrMapOvr>
  <p:transition>
    <p:cut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Financial</a:t>
            </a:r>
            <a:r>
              <a:rPr spc="180" dirty="0"/>
              <a:t> </a:t>
            </a:r>
            <a:r>
              <a:rPr spc="-10" dirty="0"/>
              <a:t>Analytics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1682" y="672731"/>
            <a:ext cx="276225" cy="279400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608355" y="962911"/>
            <a:ext cx="883285" cy="822325"/>
          </a:xfrm>
          <a:prstGeom prst="rect">
            <a:avLst/>
          </a:prstGeom>
        </p:spPr>
        <p:txBody>
          <a:bodyPr vert="horz" wrap="square" lIns="0" tIns="71120" rIns="0" bIns="0" rtlCol="0">
            <a:spAutoFit/>
          </a:bodyPr>
          <a:lstStyle/>
          <a:p>
            <a:pPr marL="12700" indent="200660">
              <a:lnSpc>
                <a:spcPct val="100000"/>
              </a:lnSpc>
              <a:spcBef>
                <a:spcPts val="560"/>
              </a:spcBef>
            </a:pPr>
            <a:r>
              <a:rPr sz="1100" b="1" spc="-10" dirty="0">
                <a:solidFill>
                  <a:srgbClr val="F4F8FC"/>
                </a:solidFill>
                <a:latin typeface="Arial"/>
                <a:cs typeface="Arial"/>
              </a:rPr>
              <a:t>Income</a:t>
            </a:r>
            <a:endParaRPr sz="1100">
              <a:latin typeface="Arial"/>
              <a:cs typeface="Arial"/>
            </a:endParaRPr>
          </a:p>
          <a:p>
            <a:pPr marL="37465" marR="5080" indent="-25400" algn="just">
              <a:lnSpc>
                <a:spcPct val="102600"/>
              </a:lnSpc>
              <a:spcBef>
                <a:spcPts val="425"/>
              </a:spcBef>
            </a:pPr>
            <a:r>
              <a:rPr sz="1100" dirty="0">
                <a:solidFill>
                  <a:srgbClr val="A5B2C5"/>
                </a:solidFill>
                <a:latin typeface="Arial MT"/>
                <a:cs typeface="Arial MT"/>
              </a:rPr>
              <a:t>Monthly</a:t>
            </a:r>
            <a:r>
              <a:rPr sz="1100" spc="-65" dirty="0">
                <a:solidFill>
                  <a:srgbClr val="A5B2C5"/>
                </a:solidFill>
                <a:latin typeface="Arial MT"/>
                <a:cs typeface="Arial MT"/>
              </a:rPr>
              <a:t> </a:t>
            </a:r>
            <a:r>
              <a:rPr sz="1100" spc="-40" dirty="0">
                <a:solidFill>
                  <a:srgbClr val="A5B2C5"/>
                </a:solidFill>
                <a:latin typeface="Arial MT"/>
                <a:cs typeface="Arial MT"/>
              </a:rPr>
              <a:t>inflow </a:t>
            </a:r>
            <a:r>
              <a:rPr sz="1100" spc="-65" dirty="0">
                <a:solidFill>
                  <a:srgbClr val="A5B2C5"/>
                </a:solidFill>
                <a:latin typeface="Arial MT"/>
                <a:cs typeface="Arial MT"/>
              </a:rPr>
              <a:t>Income</a:t>
            </a:r>
            <a:r>
              <a:rPr sz="1100" spc="20" dirty="0">
                <a:solidFill>
                  <a:srgbClr val="A5B2C5"/>
                </a:solidFill>
                <a:latin typeface="Arial MT"/>
                <a:cs typeface="Arial MT"/>
              </a:rPr>
              <a:t> </a:t>
            </a:r>
            <a:r>
              <a:rPr sz="1100" spc="-20" dirty="0">
                <a:solidFill>
                  <a:srgbClr val="A5B2C5"/>
                </a:solidFill>
                <a:latin typeface="Arial MT"/>
                <a:cs typeface="Arial MT"/>
              </a:rPr>
              <a:t>trends </a:t>
            </a:r>
            <a:r>
              <a:rPr sz="1100" dirty="0">
                <a:solidFill>
                  <a:srgbClr val="A5B2C5"/>
                </a:solidFill>
                <a:latin typeface="Arial MT"/>
                <a:cs typeface="Arial MT"/>
              </a:rPr>
              <a:t>Net</a:t>
            </a:r>
            <a:r>
              <a:rPr sz="1100" spc="-45" dirty="0">
                <a:solidFill>
                  <a:srgbClr val="A5B2C5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A5B2C5"/>
                </a:solidFill>
                <a:latin typeface="Arial MT"/>
                <a:cs typeface="Arial MT"/>
              </a:rPr>
              <a:t>impact</a:t>
            </a:r>
            <a:endParaRPr sz="1100">
              <a:latin typeface="Arial MT"/>
              <a:cs typeface="Arial MT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742272" y="672731"/>
            <a:ext cx="276225" cy="279400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2392337" y="962911"/>
            <a:ext cx="975994" cy="822325"/>
          </a:xfrm>
          <a:prstGeom prst="rect">
            <a:avLst/>
          </a:prstGeom>
        </p:spPr>
        <p:txBody>
          <a:bodyPr vert="horz" wrap="square" lIns="0" tIns="7112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560"/>
              </a:spcBef>
            </a:pPr>
            <a:r>
              <a:rPr sz="1100" b="1" spc="-10" dirty="0">
                <a:solidFill>
                  <a:srgbClr val="F4F8FC"/>
                </a:solidFill>
                <a:latin typeface="Arial"/>
                <a:cs typeface="Arial"/>
              </a:rPr>
              <a:t>Expenses</a:t>
            </a:r>
            <a:endParaRPr sz="1100">
              <a:latin typeface="Arial"/>
              <a:cs typeface="Arial"/>
            </a:endParaRPr>
          </a:p>
          <a:p>
            <a:pPr marL="12700" marR="5080" algn="ctr">
              <a:lnSpc>
                <a:spcPct val="102600"/>
              </a:lnSpc>
              <a:spcBef>
                <a:spcPts val="425"/>
              </a:spcBef>
            </a:pPr>
            <a:r>
              <a:rPr sz="1100" dirty="0">
                <a:solidFill>
                  <a:srgbClr val="A5B2C5"/>
                </a:solidFill>
                <a:latin typeface="Arial MT"/>
                <a:cs typeface="Arial MT"/>
              </a:rPr>
              <a:t>Monthly</a:t>
            </a:r>
            <a:r>
              <a:rPr sz="1100" spc="-65" dirty="0">
                <a:solidFill>
                  <a:srgbClr val="A5B2C5"/>
                </a:solidFill>
                <a:latin typeface="Arial MT"/>
                <a:cs typeface="Arial MT"/>
              </a:rPr>
              <a:t> </a:t>
            </a:r>
            <a:r>
              <a:rPr sz="1100" spc="-25" dirty="0">
                <a:solidFill>
                  <a:srgbClr val="A5B2C5"/>
                </a:solidFill>
                <a:latin typeface="Arial MT"/>
                <a:cs typeface="Arial MT"/>
              </a:rPr>
              <a:t>outflow </a:t>
            </a:r>
            <a:r>
              <a:rPr sz="1100" spc="-10" dirty="0">
                <a:solidFill>
                  <a:srgbClr val="A5B2C5"/>
                </a:solidFill>
                <a:latin typeface="Arial MT"/>
                <a:cs typeface="Arial MT"/>
              </a:rPr>
              <a:t>Categories </a:t>
            </a:r>
            <a:r>
              <a:rPr sz="1100" spc="-65" dirty="0">
                <a:solidFill>
                  <a:srgbClr val="A5B2C5"/>
                </a:solidFill>
                <a:latin typeface="Arial MT"/>
                <a:cs typeface="Arial MT"/>
              </a:rPr>
              <a:t>Vendor</a:t>
            </a:r>
            <a:r>
              <a:rPr sz="1100" spc="25" dirty="0">
                <a:solidFill>
                  <a:srgbClr val="A5B2C5"/>
                </a:solidFill>
                <a:latin typeface="Arial MT"/>
                <a:cs typeface="Arial MT"/>
              </a:rPr>
              <a:t> </a:t>
            </a:r>
            <a:r>
              <a:rPr sz="1100" spc="-70" dirty="0">
                <a:solidFill>
                  <a:srgbClr val="A5B2C5"/>
                </a:solidFill>
                <a:latin typeface="Arial MT"/>
                <a:cs typeface="Arial MT"/>
              </a:rPr>
              <a:t>spending</a:t>
            </a:r>
            <a:endParaRPr sz="1100">
              <a:latin typeface="Arial MT"/>
              <a:cs typeface="Arial MT"/>
            </a:endParaRPr>
          </a:p>
        </p:txBody>
      </p: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553203" y="671944"/>
            <a:ext cx="317500" cy="238125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4104627" y="943086"/>
            <a:ext cx="1212215" cy="821690"/>
          </a:xfrm>
          <a:prstGeom prst="rect">
            <a:avLst/>
          </a:prstGeom>
        </p:spPr>
        <p:txBody>
          <a:bodyPr vert="horz" wrap="square" lIns="0" tIns="7112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560"/>
              </a:spcBef>
            </a:pPr>
            <a:r>
              <a:rPr sz="1100" b="1" spc="-50" dirty="0">
                <a:solidFill>
                  <a:srgbClr val="F4F8FC"/>
                </a:solidFill>
                <a:latin typeface="Arial"/>
                <a:cs typeface="Arial"/>
              </a:rPr>
              <a:t>Cash</a:t>
            </a:r>
            <a:r>
              <a:rPr sz="1100" b="1" spc="-10" dirty="0">
                <a:solidFill>
                  <a:srgbClr val="F4F8FC"/>
                </a:solidFill>
                <a:latin typeface="Arial"/>
                <a:cs typeface="Arial"/>
              </a:rPr>
              <a:t> </a:t>
            </a:r>
            <a:r>
              <a:rPr sz="1100" b="1" spc="-20" dirty="0">
                <a:solidFill>
                  <a:srgbClr val="F4F8FC"/>
                </a:solidFill>
                <a:latin typeface="Arial"/>
                <a:cs typeface="Arial"/>
              </a:rPr>
              <a:t>Flow</a:t>
            </a:r>
            <a:endParaRPr sz="1100">
              <a:latin typeface="Arial"/>
              <a:cs typeface="Arial"/>
            </a:endParaRPr>
          </a:p>
          <a:p>
            <a:pPr marL="12700" marR="5080" indent="-635" algn="ctr">
              <a:lnSpc>
                <a:spcPct val="102600"/>
              </a:lnSpc>
              <a:spcBef>
                <a:spcPts val="425"/>
              </a:spcBef>
            </a:pPr>
            <a:r>
              <a:rPr sz="1100" dirty="0">
                <a:solidFill>
                  <a:srgbClr val="A5B2C5"/>
                </a:solidFill>
                <a:latin typeface="Arial MT"/>
                <a:cs typeface="Arial MT"/>
              </a:rPr>
              <a:t>Net</a:t>
            </a:r>
            <a:r>
              <a:rPr sz="1100" spc="-30" dirty="0">
                <a:solidFill>
                  <a:srgbClr val="A5B2C5"/>
                </a:solidFill>
                <a:latin typeface="Arial MT"/>
                <a:cs typeface="Arial MT"/>
              </a:rPr>
              <a:t> </a:t>
            </a:r>
            <a:r>
              <a:rPr sz="1100" spc="-90" dirty="0">
                <a:solidFill>
                  <a:srgbClr val="A5B2C5"/>
                </a:solidFill>
                <a:latin typeface="Arial MT"/>
                <a:cs typeface="Arial MT"/>
              </a:rPr>
              <a:t>cash</a:t>
            </a:r>
            <a:r>
              <a:rPr sz="1100" spc="15" dirty="0">
                <a:solidFill>
                  <a:srgbClr val="A5B2C5"/>
                </a:solidFill>
                <a:latin typeface="Arial MT"/>
                <a:cs typeface="Arial MT"/>
              </a:rPr>
              <a:t> </a:t>
            </a:r>
            <a:r>
              <a:rPr sz="1100" spc="-20" dirty="0">
                <a:solidFill>
                  <a:srgbClr val="A5B2C5"/>
                </a:solidFill>
                <a:latin typeface="Arial MT"/>
                <a:cs typeface="Arial MT"/>
              </a:rPr>
              <a:t>flow </a:t>
            </a:r>
            <a:r>
              <a:rPr sz="1100" spc="-75" dirty="0">
                <a:solidFill>
                  <a:srgbClr val="A5B2C5"/>
                </a:solidFill>
                <a:latin typeface="Arial MT"/>
                <a:cs typeface="Arial MT"/>
              </a:rPr>
              <a:t>Savings</a:t>
            </a:r>
            <a:r>
              <a:rPr sz="1100" dirty="0">
                <a:solidFill>
                  <a:srgbClr val="A5B2C5"/>
                </a:solidFill>
                <a:latin typeface="Arial MT"/>
                <a:cs typeface="Arial MT"/>
              </a:rPr>
              <a:t> </a:t>
            </a:r>
            <a:r>
              <a:rPr sz="1100" spc="-20" dirty="0">
                <a:solidFill>
                  <a:srgbClr val="A5B2C5"/>
                </a:solidFill>
                <a:latin typeface="Arial MT"/>
                <a:cs typeface="Arial MT"/>
              </a:rPr>
              <a:t>rate </a:t>
            </a:r>
            <a:r>
              <a:rPr sz="1100" spc="-35" dirty="0">
                <a:solidFill>
                  <a:srgbClr val="A5B2C5"/>
                </a:solidFill>
                <a:latin typeface="Arial MT"/>
                <a:cs typeface="Arial MT"/>
              </a:rPr>
              <a:t>Committed</a:t>
            </a:r>
            <a:r>
              <a:rPr sz="1100" spc="10" dirty="0">
                <a:solidFill>
                  <a:srgbClr val="A5B2C5"/>
                </a:solidFill>
                <a:latin typeface="Arial MT"/>
                <a:cs typeface="Arial MT"/>
              </a:rPr>
              <a:t> </a:t>
            </a:r>
            <a:r>
              <a:rPr sz="1100" spc="-65" dirty="0">
                <a:solidFill>
                  <a:srgbClr val="A5B2C5"/>
                </a:solidFill>
                <a:latin typeface="Arial MT"/>
                <a:cs typeface="Arial MT"/>
              </a:rPr>
              <a:t>spending</a:t>
            </a:r>
            <a:endParaRPr sz="1100">
              <a:latin typeface="Arial MT"/>
              <a:cs typeface="Arial MT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951447" y="2149649"/>
            <a:ext cx="3857625" cy="530860"/>
            <a:chOff x="951447" y="2149649"/>
            <a:chExt cx="3857625" cy="530860"/>
          </a:xfrm>
        </p:grpSpPr>
        <p:sp>
          <p:nvSpPr>
            <p:cNvPr id="10" name="object 10"/>
            <p:cNvSpPr/>
            <p:nvPr/>
          </p:nvSpPr>
          <p:spPr>
            <a:xfrm>
              <a:off x="953977" y="2152180"/>
              <a:ext cx="3852545" cy="525780"/>
            </a:xfrm>
            <a:custGeom>
              <a:avLst/>
              <a:gdLst/>
              <a:ahLst/>
              <a:cxnLst/>
              <a:rect l="l" t="t" r="r" b="b"/>
              <a:pathLst>
                <a:path w="3852545" h="525780">
                  <a:moveTo>
                    <a:pt x="3776137" y="0"/>
                  </a:moveTo>
                  <a:lnTo>
                    <a:pt x="75916" y="0"/>
                  </a:lnTo>
                  <a:lnTo>
                    <a:pt x="46365" y="5965"/>
                  </a:lnTo>
                  <a:lnTo>
                    <a:pt x="22235" y="22235"/>
                  </a:lnTo>
                  <a:lnTo>
                    <a:pt x="5965" y="46365"/>
                  </a:lnTo>
                  <a:lnTo>
                    <a:pt x="0" y="75916"/>
                  </a:lnTo>
                  <a:lnTo>
                    <a:pt x="0" y="449279"/>
                  </a:lnTo>
                  <a:lnTo>
                    <a:pt x="5965" y="478829"/>
                  </a:lnTo>
                  <a:lnTo>
                    <a:pt x="22235" y="502960"/>
                  </a:lnTo>
                  <a:lnTo>
                    <a:pt x="46365" y="519229"/>
                  </a:lnTo>
                  <a:lnTo>
                    <a:pt x="75916" y="525195"/>
                  </a:lnTo>
                  <a:lnTo>
                    <a:pt x="3776137" y="525195"/>
                  </a:lnTo>
                  <a:lnTo>
                    <a:pt x="3805687" y="519229"/>
                  </a:lnTo>
                  <a:lnTo>
                    <a:pt x="3829818" y="502960"/>
                  </a:lnTo>
                  <a:lnTo>
                    <a:pt x="3846087" y="478829"/>
                  </a:lnTo>
                  <a:lnTo>
                    <a:pt x="3852053" y="449279"/>
                  </a:lnTo>
                  <a:lnTo>
                    <a:pt x="3852053" y="75916"/>
                  </a:lnTo>
                  <a:lnTo>
                    <a:pt x="3846087" y="46365"/>
                  </a:lnTo>
                  <a:lnTo>
                    <a:pt x="3829818" y="22235"/>
                  </a:lnTo>
                  <a:lnTo>
                    <a:pt x="3805687" y="5965"/>
                  </a:lnTo>
                  <a:lnTo>
                    <a:pt x="3776137" y="0"/>
                  </a:lnTo>
                  <a:close/>
                </a:path>
              </a:pathLst>
            </a:custGeom>
            <a:solidFill>
              <a:srgbClr val="0C18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953977" y="2152180"/>
              <a:ext cx="3852545" cy="525780"/>
            </a:xfrm>
            <a:custGeom>
              <a:avLst/>
              <a:gdLst/>
              <a:ahLst/>
              <a:cxnLst/>
              <a:rect l="l" t="t" r="r" b="b"/>
              <a:pathLst>
                <a:path w="3852545" h="525780">
                  <a:moveTo>
                    <a:pt x="3776137" y="0"/>
                  </a:moveTo>
                  <a:lnTo>
                    <a:pt x="75916" y="0"/>
                  </a:lnTo>
                  <a:lnTo>
                    <a:pt x="46365" y="5965"/>
                  </a:lnTo>
                  <a:lnTo>
                    <a:pt x="22235" y="22235"/>
                  </a:lnTo>
                  <a:lnTo>
                    <a:pt x="5965" y="46365"/>
                  </a:lnTo>
                  <a:lnTo>
                    <a:pt x="0" y="75916"/>
                  </a:lnTo>
                  <a:lnTo>
                    <a:pt x="0" y="449279"/>
                  </a:lnTo>
                  <a:lnTo>
                    <a:pt x="5965" y="478829"/>
                  </a:lnTo>
                  <a:lnTo>
                    <a:pt x="22235" y="502960"/>
                  </a:lnTo>
                  <a:lnTo>
                    <a:pt x="46365" y="519229"/>
                  </a:lnTo>
                  <a:lnTo>
                    <a:pt x="75916" y="525195"/>
                  </a:lnTo>
                  <a:lnTo>
                    <a:pt x="3776137" y="525195"/>
                  </a:lnTo>
                  <a:lnTo>
                    <a:pt x="3805687" y="519229"/>
                  </a:lnTo>
                  <a:lnTo>
                    <a:pt x="3829818" y="502960"/>
                  </a:lnTo>
                  <a:lnTo>
                    <a:pt x="3846087" y="478829"/>
                  </a:lnTo>
                  <a:lnTo>
                    <a:pt x="3852053" y="449279"/>
                  </a:lnTo>
                  <a:lnTo>
                    <a:pt x="3852053" y="75916"/>
                  </a:lnTo>
                  <a:lnTo>
                    <a:pt x="3846087" y="46365"/>
                  </a:lnTo>
                  <a:lnTo>
                    <a:pt x="3829818" y="22235"/>
                  </a:lnTo>
                  <a:lnTo>
                    <a:pt x="3805687" y="5965"/>
                  </a:lnTo>
                  <a:lnTo>
                    <a:pt x="3776137" y="0"/>
                  </a:lnTo>
                  <a:close/>
                </a:path>
              </a:pathLst>
            </a:custGeom>
            <a:ln w="5060">
              <a:solidFill>
                <a:srgbClr val="308C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1586128" y="2228061"/>
            <a:ext cx="2588260" cy="36385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0"/>
              </a:spcBef>
            </a:pPr>
            <a:r>
              <a:rPr sz="1100" spc="-10" dirty="0">
                <a:solidFill>
                  <a:srgbClr val="A5B2C5"/>
                </a:solidFill>
                <a:latin typeface="Arial MT"/>
                <a:cs typeface="Arial MT"/>
              </a:rPr>
              <a:t>FinPilot</a:t>
            </a:r>
            <a:r>
              <a:rPr sz="1100" spc="-15" dirty="0">
                <a:solidFill>
                  <a:srgbClr val="A5B2C5"/>
                </a:solidFill>
                <a:latin typeface="Arial MT"/>
                <a:cs typeface="Arial MT"/>
              </a:rPr>
              <a:t> </a:t>
            </a:r>
            <a:r>
              <a:rPr sz="1100" spc="-50" dirty="0">
                <a:solidFill>
                  <a:srgbClr val="A5B2C5"/>
                </a:solidFill>
                <a:latin typeface="Arial MT"/>
                <a:cs typeface="Arial MT"/>
              </a:rPr>
              <a:t>converts</a:t>
            </a:r>
            <a:r>
              <a:rPr sz="1100" spc="-10" dirty="0">
                <a:solidFill>
                  <a:srgbClr val="A5B2C5"/>
                </a:solidFill>
                <a:latin typeface="Arial MT"/>
                <a:cs typeface="Arial MT"/>
              </a:rPr>
              <a:t> </a:t>
            </a:r>
            <a:r>
              <a:rPr sz="1100" spc="-35" dirty="0">
                <a:solidFill>
                  <a:srgbClr val="A5B2C5"/>
                </a:solidFill>
                <a:latin typeface="Arial MT"/>
                <a:cs typeface="Arial MT"/>
              </a:rPr>
              <a:t>individual</a:t>
            </a:r>
            <a:r>
              <a:rPr sz="1100" spc="-10" dirty="0">
                <a:solidFill>
                  <a:srgbClr val="A5B2C5"/>
                </a:solidFill>
                <a:latin typeface="Arial MT"/>
                <a:cs typeface="Arial MT"/>
              </a:rPr>
              <a:t> </a:t>
            </a:r>
            <a:r>
              <a:rPr sz="1100" spc="-45" dirty="0">
                <a:solidFill>
                  <a:srgbClr val="A5B2C5"/>
                </a:solidFill>
                <a:latin typeface="Arial MT"/>
                <a:cs typeface="Arial MT"/>
              </a:rPr>
              <a:t>transactions</a:t>
            </a:r>
            <a:r>
              <a:rPr sz="1100" spc="-10" dirty="0">
                <a:solidFill>
                  <a:srgbClr val="A5B2C5"/>
                </a:solidFill>
                <a:latin typeface="Arial MT"/>
                <a:cs typeface="Arial MT"/>
              </a:rPr>
              <a:t> </a:t>
            </a:r>
            <a:r>
              <a:rPr sz="1100" spc="-20" dirty="0">
                <a:solidFill>
                  <a:srgbClr val="A5B2C5"/>
                </a:solidFill>
                <a:latin typeface="Arial MT"/>
                <a:cs typeface="Arial MT"/>
              </a:rPr>
              <a:t>into</a:t>
            </a:r>
            <a:endParaRPr sz="1100">
              <a:latin typeface="Arial MT"/>
              <a:cs typeface="Arial MT"/>
            </a:endParaRPr>
          </a:p>
          <a:p>
            <a:pPr algn="ctr">
              <a:lnSpc>
                <a:spcPct val="100000"/>
              </a:lnSpc>
              <a:spcBef>
                <a:spcPts val="35"/>
              </a:spcBef>
            </a:pPr>
            <a:r>
              <a:rPr sz="1100" b="1" spc="-45" dirty="0">
                <a:solidFill>
                  <a:srgbClr val="27D2DC"/>
                </a:solidFill>
                <a:latin typeface="Arial"/>
                <a:cs typeface="Arial"/>
              </a:rPr>
              <a:t>financial-</a:t>
            </a:r>
            <a:r>
              <a:rPr sz="1100" b="1" spc="-20" dirty="0">
                <a:solidFill>
                  <a:srgbClr val="27D2DC"/>
                </a:solidFill>
                <a:latin typeface="Arial"/>
                <a:cs typeface="Arial"/>
              </a:rPr>
              <a:t>level</a:t>
            </a:r>
            <a:r>
              <a:rPr sz="1100" b="1" spc="15" dirty="0">
                <a:solidFill>
                  <a:srgbClr val="27D2DC"/>
                </a:solidFill>
                <a:latin typeface="Arial"/>
                <a:cs typeface="Arial"/>
              </a:rPr>
              <a:t> </a:t>
            </a:r>
            <a:r>
              <a:rPr sz="1100" b="1" spc="-10" dirty="0">
                <a:solidFill>
                  <a:srgbClr val="27D2DC"/>
                </a:solidFill>
                <a:latin typeface="Arial"/>
                <a:cs typeface="Arial"/>
              </a:rPr>
              <a:t>indicators</a:t>
            </a:r>
            <a:r>
              <a:rPr sz="1100" spc="-10" dirty="0">
                <a:solidFill>
                  <a:srgbClr val="27D2DC"/>
                </a:solidFill>
                <a:latin typeface="Arial MT"/>
                <a:cs typeface="Arial MT"/>
              </a:rPr>
              <a:t>.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/>
              <a:t>FinPilot</a:t>
            </a:r>
            <a:r>
              <a:rPr spc="45" dirty="0"/>
              <a:t> </a:t>
            </a:r>
            <a:r>
              <a:rPr dirty="0"/>
              <a:t>—</a:t>
            </a:r>
            <a:r>
              <a:rPr spc="50" dirty="0"/>
              <a:t> </a:t>
            </a:r>
            <a:r>
              <a:rPr dirty="0"/>
              <a:t>AI</a:t>
            </a:r>
            <a:r>
              <a:rPr spc="55" dirty="0"/>
              <a:t> </a:t>
            </a:r>
            <a:r>
              <a:rPr spc="-20" dirty="0"/>
              <a:t>Personal</a:t>
            </a:r>
            <a:r>
              <a:rPr spc="50" dirty="0"/>
              <a:t> </a:t>
            </a:r>
            <a:r>
              <a:rPr spc="-20" dirty="0"/>
              <a:t>Finance</a:t>
            </a:r>
            <a:r>
              <a:rPr spc="55" dirty="0"/>
              <a:t> </a:t>
            </a:r>
            <a:r>
              <a:rPr spc="-10" dirty="0"/>
              <a:t>Decision</a:t>
            </a:r>
            <a:r>
              <a:rPr spc="50" dirty="0"/>
              <a:t> </a:t>
            </a:r>
            <a:r>
              <a:rPr dirty="0"/>
              <a:t>Support</a:t>
            </a:r>
            <a:r>
              <a:rPr spc="45" dirty="0"/>
              <a:t> </a:t>
            </a:r>
            <a:r>
              <a:rPr spc="-10" dirty="0"/>
              <a:t>Agent</a:t>
            </a:r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pc="-25" dirty="0"/>
              <a:t>11</a:t>
            </a:r>
          </a:p>
        </p:txBody>
      </p:sp>
    </p:spTree>
  </p:cSld>
  <p:clrMapOvr>
    <a:masterClrMapping/>
  </p:clrMapOvr>
  <p:transition>
    <p:cut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Transaction</a:t>
            </a:r>
            <a:r>
              <a:rPr spc="175" dirty="0"/>
              <a:t> </a:t>
            </a:r>
            <a:r>
              <a:rPr spc="-10" dirty="0"/>
              <a:t>Intelligence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659833" y="507333"/>
            <a:ext cx="4440555" cy="2021205"/>
            <a:chOff x="659833" y="507333"/>
            <a:chExt cx="4440555" cy="2021205"/>
          </a:xfrm>
        </p:grpSpPr>
        <p:sp>
          <p:nvSpPr>
            <p:cNvPr id="4" name="object 4"/>
            <p:cNvSpPr/>
            <p:nvPr/>
          </p:nvSpPr>
          <p:spPr>
            <a:xfrm>
              <a:off x="662363" y="509864"/>
              <a:ext cx="4435475" cy="2016125"/>
            </a:xfrm>
            <a:custGeom>
              <a:avLst/>
              <a:gdLst/>
              <a:ahLst/>
              <a:cxnLst/>
              <a:rect l="l" t="t" r="r" b="b"/>
              <a:pathLst>
                <a:path w="4435475" h="2016125">
                  <a:moveTo>
                    <a:pt x="4334059" y="0"/>
                  </a:moveTo>
                  <a:lnTo>
                    <a:pt x="101221" y="0"/>
                  </a:lnTo>
                  <a:lnTo>
                    <a:pt x="61821" y="7954"/>
                  </a:lnTo>
                  <a:lnTo>
                    <a:pt x="29646" y="29646"/>
                  </a:lnTo>
                  <a:lnTo>
                    <a:pt x="7954" y="61821"/>
                  </a:lnTo>
                  <a:lnTo>
                    <a:pt x="0" y="101221"/>
                  </a:lnTo>
                  <a:lnTo>
                    <a:pt x="0" y="1914806"/>
                  </a:lnTo>
                  <a:lnTo>
                    <a:pt x="7954" y="1954206"/>
                  </a:lnTo>
                  <a:lnTo>
                    <a:pt x="29646" y="1986381"/>
                  </a:lnTo>
                  <a:lnTo>
                    <a:pt x="61821" y="2008073"/>
                  </a:lnTo>
                  <a:lnTo>
                    <a:pt x="101221" y="2016028"/>
                  </a:lnTo>
                  <a:lnTo>
                    <a:pt x="4334059" y="2016028"/>
                  </a:lnTo>
                  <a:lnTo>
                    <a:pt x="4373460" y="2008073"/>
                  </a:lnTo>
                  <a:lnTo>
                    <a:pt x="4405634" y="1986381"/>
                  </a:lnTo>
                  <a:lnTo>
                    <a:pt x="4427327" y="1954206"/>
                  </a:lnTo>
                  <a:lnTo>
                    <a:pt x="4435281" y="1914806"/>
                  </a:lnTo>
                  <a:lnTo>
                    <a:pt x="4435281" y="101221"/>
                  </a:lnTo>
                  <a:lnTo>
                    <a:pt x="4427327" y="61821"/>
                  </a:lnTo>
                  <a:lnTo>
                    <a:pt x="4405634" y="29646"/>
                  </a:lnTo>
                  <a:lnTo>
                    <a:pt x="4373460" y="7954"/>
                  </a:lnTo>
                  <a:lnTo>
                    <a:pt x="4334059" y="0"/>
                  </a:lnTo>
                  <a:close/>
                </a:path>
              </a:pathLst>
            </a:custGeom>
            <a:solidFill>
              <a:srgbClr val="0C18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62363" y="509864"/>
              <a:ext cx="4435475" cy="2016125"/>
            </a:xfrm>
            <a:custGeom>
              <a:avLst/>
              <a:gdLst/>
              <a:ahLst/>
              <a:cxnLst/>
              <a:rect l="l" t="t" r="r" b="b"/>
              <a:pathLst>
                <a:path w="4435475" h="2016125">
                  <a:moveTo>
                    <a:pt x="4334059" y="0"/>
                  </a:moveTo>
                  <a:lnTo>
                    <a:pt x="101221" y="0"/>
                  </a:lnTo>
                  <a:lnTo>
                    <a:pt x="61821" y="7954"/>
                  </a:lnTo>
                  <a:lnTo>
                    <a:pt x="29646" y="29646"/>
                  </a:lnTo>
                  <a:lnTo>
                    <a:pt x="7954" y="61821"/>
                  </a:lnTo>
                  <a:lnTo>
                    <a:pt x="0" y="101221"/>
                  </a:lnTo>
                  <a:lnTo>
                    <a:pt x="0" y="1914806"/>
                  </a:lnTo>
                  <a:lnTo>
                    <a:pt x="7954" y="1954206"/>
                  </a:lnTo>
                  <a:lnTo>
                    <a:pt x="29646" y="1986381"/>
                  </a:lnTo>
                  <a:lnTo>
                    <a:pt x="61821" y="2008073"/>
                  </a:lnTo>
                  <a:lnTo>
                    <a:pt x="101221" y="2016028"/>
                  </a:lnTo>
                  <a:lnTo>
                    <a:pt x="4334059" y="2016028"/>
                  </a:lnTo>
                  <a:lnTo>
                    <a:pt x="4373460" y="2008073"/>
                  </a:lnTo>
                  <a:lnTo>
                    <a:pt x="4405634" y="1986381"/>
                  </a:lnTo>
                  <a:lnTo>
                    <a:pt x="4427327" y="1954206"/>
                  </a:lnTo>
                  <a:lnTo>
                    <a:pt x="4435281" y="1914806"/>
                  </a:lnTo>
                  <a:lnTo>
                    <a:pt x="4435281" y="101221"/>
                  </a:lnTo>
                  <a:lnTo>
                    <a:pt x="4427327" y="61821"/>
                  </a:lnTo>
                  <a:lnTo>
                    <a:pt x="4405634" y="29646"/>
                  </a:lnTo>
                  <a:lnTo>
                    <a:pt x="4373460" y="7954"/>
                  </a:lnTo>
                  <a:lnTo>
                    <a:pt x="4334059" y="0"/>
                  </a:lnTo>
                  <a:close/>
                </a:path>
              </a:pathLst>
            </a:custGeom>
            <a:ln w="5060">
              <a:solidFill>
                <a:srgbClr val="64728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1476743" y="1139382"/>
            <a:ext cx="2806700" cy="588645"/>
          </a:xfrm>
          <a:prstGeom prst="rect">
            <a:avLst/>
          </a:prstGeom>
        </p:spPr>
        <p:txBody>
          <a:bodyPr vert="horz" wrap="square" lIns="0" tIns="13017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25"/>
              </a:spcBef>
            </a:pPr>
            <a:r>
              <a:rPr sz="1400" spc="-85" dirty="0">
                <a:solidFill>
                  <a:srgbClr val="A5B2C5"/>
                </a:solidFill>
                <a:latin typeface="Arial MT"/>
                <a:cs typeface="Arial MT"/>
              </a:rPr>
              <a:t>Screenshot</a:t>
            </a:r>
            <a:r>
              <a:rPr sz="1400" spc="-5" dirty="0">
                <a:solidFill>
                  <a:srgbClr val="A5B2C5"/>
                </a:solidFill>
                <a:latin typeface="Arial MT"/>
                <a:cs typeface="Arial MT"/>
              </a:rPr>
              <a:t> </a:t>
            </a:r>
            <a:r>
              <a:rPr sz="1400" spc="-10" dirty="0">
                <a:solidFill>
                  <a:srgbClr val="A5B2C5"/>
                </a:solidFill>
                <a:latin typeface="Arial MT"/>
                <a:cs typeface="Arial MT"/>
              </a:rPr>
              <a:t>Placeholder</a:t>
            </a:r>
            <a:endParaRPr sz="1400">
              <a:latin typeface="Arial MT"/>
              <a:cs typeface="Arial MT"/>
            </a:endParaRPr>
          </a:p>
          <a:p>
            <a:pPr algn="ctr">
              <a:lnSpc>
                <a:spcPct val="100000"/>
              </a:lnSpc>
              <a:spcBef>
                <a:spcPts val="625"/>
              </a:spcBef>
            </a:pPr>
            <a:r>
              <a:rPr sz="1000" dirty="0">
                <a:solidFill>
                  <a:srgbClr val="A5B2C5"/>
                </a:solidFill>
                <a:latin typeface="Arial MT"/>
                <a:cs typeface="Arial MT"/>
              </a:rPr>
              <a:t>Add</a:t>
            </a:r>
            <a:r>
              <a:rPr sz="1000" spc="-50" dirty="0">
                <a:solidFill>
                  <a:srgbClr val="A5B2C5"/>
                </a:solidFill>
                <a:latin typeface="Arial MT"/>
                <a:cs typeface="Arial MT"/>
              </a:rPr>
              <a:t> </a:t>
            </a:r>
            <a:r>
              <a:rPr sz="1000" spc="-30" dirty="0">
                <a:solidFill>
                  <a:srgbClr val="A5B2C5"/>
                </a:solidFill>
                <a:latin typeface="Arial MT"/>
                <a:cs typeface="Arial MT"/>
              </a:rPr>
              <a:t>image:</a:t>
            </a:r>
            <a:r>
              <a:rPr sz="1000" spc="30" dirty="0">
                <a:solidFill>
                  <a:srgbClr val="A5B2C5"/>
                </a:solidFill>
                <a:latin typeface="Arial MT"/>
                <a:cs typeface="Arial MT"/>
              </a:rPr>
              <a:t> </a:t>
            </a:r>
            <a:r>
              <a:rPr sz="1000" spc="50" dirty="0">
                <a:solidFill>
                  <a:srgbClr val="A5B2C5"/>
                </a:solidFill>
                <a:latin typeface="Cambria"/>
                <a:cs typeface="Cambria"/>
              </a:rPr>
              <a:t>screenshots/03\_transactions.png</a:t>
            </a:r>
            <a:endParaRPr sz="1000">
              <a:latin typeface="Cambria"/>
              <a:cs typeface="Cambria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/>
              <a:t>FinPilot</a:t>
            </a:r>
            <a:r>
              <a:rPr spc="45" dirty="0"/>
              <a:t> </a:t>
            </a:r>
            <a:r>
              <a:rPr dirty="0"/>
              <a:t>—</a:t>
            </a:r>
            <a:r>
              <a:rPr spc="50" dirty="0"/>
              <a:t> </a:t>
            </a:r>
            <a:r>
              <a:rPr dirty="0"/>
              <a:t>AI</a:t>
            </a:r>
            <a:r>
              <a:rPr spc="55" dirty="0"/>
              <a:t> </a:t>
            </a:r>
            <a:r>
              <a:rPr spc="-20" dirty="0"/>
              <a:t>Personal</a:t>
            </a:r>
            <a:r>
              <a:rPr spc="50" dirty="0"/>
              <a:t> </a:t>
            </a:r>
            <a:r>
              <a:rPr spc="-20" dirty="0"/>
              <a:t>Finance</a:t>
            </a:r>
            <a:r>
              <a:rPr spc="55" dirty="0"/>
              <a:t> </a:t>
            </a:r>
            <a:r>
              <a:rPr spc="-10" dirty="0"/>
              <a:t>Decision</a:t>
            </a:r>
            <a:r>
              <a:rPr spc="50" dirty="0"/>
              <a:t> </a:t>
            </a:r>
            <a:r>
              <a:rPr dirty="0"/>
              <a:t>Support</a:t>
            </a:r>
            <a:r>
              <a:rPr spc="45" dirty="0"/>
              <a:t> </a:t>
            </a:r>
            <a:r>
              <a:rPr spc="-10" dirty="0"/>
              <a:t>Agent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pc="-25" dirty="0"/>
              <a:t>12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539178" y="2763620"/>
            <a:ext cx="468249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90" dirty="0">
                <a:solidFill>
                  <a:srgbClr val="A5B2C5"/>
                </a:solidFill>
                <a:latin typeface="Arial MT"/>
                <a:cs typeface="Arial MT"/>
              </a:rPr>
              <a:t>Users</a:t>
            </a:r>
            <a:r>
              <a:rPr sz="1100" spc="15" dirty="0">
                <a:solidFill>
                  <a:srgbClr val="A5B2C5"/>
                </a:solidFill>
                <a:latin typeface="Arial MT"/>
                <a:cs typeface="Arial MT"/>
              </a:rPr>
              <a:t> </a:t>
            </a:r>
            <a:r>
              <a:rPr sz="1100" spc="-65" dirty="0">
                <a:solidFill>
                  <a:srgbClr val="A5B2C5"/>
                </a:solidFill>
                <a:latin typeface="Arial MT"/>
                <a:cs typeface="Arial MT"/>
              </a:rPr>
              <a:t>can</a:t>
            </a:r>
            <a:r>
              <a:rPr sz="1100" spc="5" dirty="0">
                <a:solidFill>
                  <a:srgbClr val="A5B2C5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A5B2C5"/>
                </a:solidFill>
                <a:latin typeface="Arial MT"/>
                <a:cs typeface="Arial MT"/>
              </a:rPr>
              <a:t>filter,</a:t>
            </a:r>
            <a:r>
              <a:rPr sz="1100" spc="15" dirty="0">
                <a:solidFill>
                  <a:srgbClr val="A5B2C5"/>
                </a:solidFill>
                <a:latin typeface="Arial MT"/>
                <a:cs typeface="Arial MT"/>
              </a:rPr>
              <a:t> </a:t>
            </a:r>
            <a:r>
              <a:rPr sz="1100" spc="-20" dirty="0">
                <a:solidFill>
                  <a:srgbClr val="A5B2C5"/>
                </a:solidFill>
                <a:latin typeface="Arial MT"/>
                <a:cs typeface="Arial MT"/>
              </a:rPr>
              <a:t>sort</a:t>
            </a:r>
            <a:r>
              <a:rPr sz="1100" spc="10" dirty="0">
                <a:solidFill>
                  <a:srgbClr val="A5B2C5"/>
                </a:solidFill>
                <a:latin typeface="Arial MT"/>
                <a:cs typeface="Arial MT"/>
              </a:rPr>
              <a:t> </a:t>
            </a:r>
            <a:r>
              <a:rPr sz="1100" spc="-55" dirty="0">
                <a:solidFill>
                  <a:srgbClr val="A5B2C5"/>
                </a:solidFill>
                <a:latin typeface="Arial MT"/>
                <a:cs typeface="Arial MT"/>
              </a:rPr>
              <a:t>and</a:t>
            </a:r>
            <a:r>
              <a:rPr sz="1100" spc="15" dirty="0">
                <a:solidFill>
                  <a:srgbClr val="A5B2C5"/>
                </a:solidFill>
                <a:latin typeface="Arial MT"/>
                <a:cs typeface="Arial MT"/>
              </a:rPr>
              <a:t> </a:t>
            </a:r>
            <a:r>
              <a:rPr sz="1100" spc="-85" dirty="0">
                <a:solidFill>
                  <a:srgbClr val="A5B2C5"/>
                </a:solidFill>
                <a:latin typeface="Arial MT"/>
                <a:cs typeface="Arial MT"/>
              </a:rPr>
              <a:t>search</a:t>
            </a:r>
            <a:r>
              <a:rPr sz="1100" spc="10" dirty="0">
                <a:solidFill>
                  <a:srgbClr val="A5B2C5"/>
                </a:solidFill>
                <a:latin typeface="Arial MT"/>
                <a:cs typeface="Arial MT"/>
              </a:rPr>
              <a:t> </a:t>
            </a:r>
            <a:r>
              <a:rPr sz="1100" spc="-45" dirty="0">
                <a:solidFill>
                  <a:srgbClr val="A5B2C5"/>
                </a:solidFill>
                <a:latin typeface="Arial MT"/>
                <a:cs typeface="Arial MT"/>
              </a:rPr>
              <a:t>transactions</a:t>
            </a:r>
            <a:r>
              <a:rPr sz="1100" spc="15" dirty="0">
                <a:solidFill>
                  <a:srgbClr val="A5B2C5"/>
                </a:solidFill>
                <a:latin typeface="Arial MT"/>
                <a:cs typeface="Arial MT"/>
              </a:rPr>
              <a:t> </a:t>
            </a:r>
            <a:r>
              <a:rPr sz="1100" spc="-20" dirty="0">
                <a:solidFill>
                  <a:srgbClr val="A5B2C5"/>
                </a:solidFill>
                <a:latin typeface="Arial MT"/>
                <a:cs typeface="Arial MT"/>
              </a:rPr>
              <a:t>by</a:t>
            </a:r>
            <a:r>
              <a:rPr sz="1100" spc="10" dirty="0">
                <a:solidFill>
                  <a:srgbClr val="A5B2C5"/>
                </a:solidFill>
                <a:latin typeface="Arial MT"/>
                <a:cs typeface="Arial MT"/>
              </a:rPr>
              <a:t> </a:t>
            </a:r>
            <a:r>
              <a:rPr sz="1100" spc="-65" dirty="0">
                <a:solidFill>
                  <a:srgbClr val="A5B2C5"/>
                </a:solidFill>
                <a:latin typeface="Arial MT"/>
                <a:cs typeface="Arial MT"/>
              </a:rPr>
              <a:t>category,</a:t>
            </a:r>
            <a:r>
              <a:rPr sz="1100" spc="15" dirty="0">
                <a:solidFill>
                  <a:srgbClr val="A5B2C5"/>
                </a:solidFill>
                <a:latin typeface="Arial MT"/>
                <a:cs typeface="Arial MT"/>
              </a:rPr>
              <a:t> </a:t>
            </a:r>
            <a:r>
              <a:rPr sz="1100" spc="-70" dirty="0">
                <a:solidFill>
                  <a:srgbClr val="A5B2C5"/>
                </a:solidFill>
                <a:latin typeface="Arial MT"/>
                <a:cs typeface="Arial MT"/>
              </a:rPr>
              <a:t>vendor</a:t>
            </a:r>
            <a:r>
              <a:rPr sz="1100" spc="10" dirty="0">
                <a:solidFill>
                  <a:srgbClr val="A5B2C5"/>
                </a:solidFill>
                <a:latin typeface="Arial MT"/>
                <a:cs typeface="Arial MT"/>
              </a:rPr>
              <a:t> </a:t>
            </a:r>
            <a:r>
              <a:rPr sz="1100" spc="-55" dirty="0">
                <a:solidFill>
                  <a:srgbClr val="A5B2C5"/>
                </a:solidFill>
                <a:latin typeface="Arial MT"/>
                <a:cs typeface="Arial MT"/>
              </a:rPr>
              <a:t>and</a:t>
            </a:r>
            <a:r>
              <a:rPr sz="1100" spc="10" dirty="0">
                <a:solidFill>
                  <a:srgbClr val="A5B2C5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A5B2C5"/>
                </a:solidFill>
                <a:latin typeface="Arial MT"/>
                <a:cs typeface="Arial MT"/>
              </a:rPr>
              <a:t>description.</a:t>
            </a:r>
            <a:endParaRPr sz="1100">
              <a:latin typeface="Arial MT"/>
              <a:cs typeface="Arial MT"/>
            </a:endParaRPr>
          </a:p>
        </p:txBody>
      </p:sp>
    </p:spTree>
  </p:cSld>
  <p:clrMapOvr>
    <a:masterClrMapping/>
  </p:clrMapOvr>
  <p:transition>
    <p:cut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85305" y="4143"/>
            <a:ext cx="3225165" cy="70040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38430" marR="5080" indent="-126364">
              <a:lnSpc>
                <a:spcPct val="158100"/>
              </a:lnSpc>
              <a:spcBef>
                <a:spcPts val="90"/>
              </a:spcBef>
            </a:pPr>
            <a:r>
              <a:rPr dirty="0"/>
              <a:t>Recurring</a:t>
            </a:r>
            <a:r>
              <a:rPr spc="145" dirty="0"/>
              <a:t> </a:t>
            </a:r>
            <a:r>
              <a:rPr dirty="0"/>
              <a:t>Payments</a:t>
            </a:r>
            <a:r>
              <a:rPr spc="145" dirty="0"/>
              <a:t> </a:t>
            </a:r>
            <a:r>
              <a:rPr spc="229" dirty="0"/>
              <a:t>&amp;</a:t>
            </a:r>
            <a:r>
              <a:rPr spc="145" dirty="0"/>
              <a:t> </a:t>
            </a:r>
            <a:r>
              <a:rPr spc="-20" dirty="0"/>
              <a:t>Subscriptions </a:t>
            </a:r>
            <a:r>
              <a:rPr spc="-10" dirty="0">
                <a:solidFill>
                  <a:srgbClr val="27D2DC"/>
                </a:solidFill>
              </a:rPr>
              <a:t>Subscription</a:t>
            </a:r>
            <a:r>
              <a:rPr spc="50" dirty="0">
                <a:solidFill>
                  <a:srgbClr val="27D2DC"/>
                </a:solidFill>
              </a:rPr>
              <a:t> </a:t>
            </a:r>
            <a:r>
              <a:rPr spc="-10" dirty="0">
                <a:solidFill>
                  <a:srgbClr val="27D2DC"/>
                </a:solidFill>
              </a:rPr>
              <a:t>Tracker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11302" y="783906"/>
            <a:ext cx="2113915" cy="120396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5080">
              <a:lnSpc>
                <a:spcPct val="102600"/>
              </a:lnSpc>
              <a:spcBef>
                <a:spcPts val="55"/>
              </a:spcBef>
            </a:pPr>
            <a:r>
              <a:rPr sz="1100" spc="-10" dirty="0">
                <a:solidFill>
                  <a:srgbClr val="F4F8FC"/>
                </a:solidFill>
                <a:latin typeface="Arial MT"/>
                <a:cs typeface="Arial MT"/>
              </a:rPr>
              <a:t>FinPilot</a:t>
            </a:r>
            <a:r>
              <a:rPr sz="1100" spc="-15" dirty="0">
                <a:solidFill>
                  <a:srgbClr val="F4F8FC"/>
                </a:solidFill>
                <a:latin typeface="Arial MT"/>
                <a:cs typeface="Arial MT"/>
              </a:rPr>
              <a:t> </a:t>
            </a:r>
            <a:r>
              <a:rPr sz="1100" spc="-40" dirty="0">
                <a:solidFill>
                  <a:srgbClr val="F4F8FC"/>
                </a:solidFill>
                <a:latin typeface="Arial MT"/>
                <a:cs typeface="Arial MT"/>
              </a:rPr>
              <a:t>identifies</a:t>
            </a:r>
            <a:r>
              <a:rPr sz="1100" spc="-15" dirty="0">
                <a:solidFill>
                  <a:srgbClr val="F4F8FC"/>
                </a:solidFill>
                <a:latin typeface="Arial MT"/>
                <a:cs typeface="Arial MT"/>
              </a:rPr>
              <a:t> </a:t>
            </a:r>
            <a:r>
              <a:rPr sz="1100" spc="-40" dirty="0">
                <a:solidFill>
                  <a:srgbClr val="F4F8FC"/>
                </a:solidFill>
                <a:latin typeface="Arial MT"/>
                <a:cs typeface="Arial MT"/>
              </a:rPr>
              <a:t>recurring</a:t>
            </a:r>
            <a:r>
              <a:rPr sz="1100" spc="-15" dirty="0">
                <a:solidFill>
                  <a:srgbClr val="F4F8FC"/>
                </a:solidFill>
                <a:latin typeface="Arial MT"/>
                <a:cs typeface="Arial MT"/>
              </a:rPr>
              <a:t> </a:t>
            </a:r>
            <a:r>
              <a:rPr sz="1100" spc="-35" dirty="0">
                <a:solidFill>
                  <a:srgbClr val="F4F8FC"/>
                </a:solidFill>
                <a:latin typeface="Arial MT"/>
                <a:cs typeface="Arial MT"/>
              </a:rPr>
              <a:t>payment </a:t>
            </a:r>
            <a:r>
              <a:rPr sz="1100" spc="-55" dirty="0">
                <a:solidFill>
                  <a:srgbClr val="F4F8FC"/>
                </a:solidFill>
                <a:latin typeface="Arial MT"/>
                <a:cs typeface="Arial MT"/>
              </a:rPr>
              <a:t>behavior</a:t>
            </a:r>
            <a:r>
              <a:rPr sz="1100" spc="-10" dirty="0">
                <a:solidFill>
                  <a:srgbClr val="F4F8FC"/>
                </a:solidFill>
                <a:latin typeface="Arial MT"/>
                <a:cs typeface="Arial MT"/>
              </a:rPr>
              <a:t> using:</a:t>
            </a:r>
            <a:endParaRPr sz="1100">
              <a:latin typeface="Arial MT"/>
              <a:cs typeface="Arial MT"/>
            </a:endParaRPr>
          </a:p>
          <a:p>
            <a:pPr marL="287020" indent="-207645">
              <a:lnSpc>
                <a:spcPct val="100000"/>
              </a:lnSpc>
              <a:spcBef>
                <a:spcPts val="335"/>
              </a:spcBef>
              <a:buClr>
                <a:srgbClr val="27D2DC"/>
              </a:buClr>
              <a:buSzPct val="90909"/>
              <a:buFont typeface="Lucida Sans Unicode"/>
              <a:buChar char="►"/>
              <a:tabLst>
                <a:tab pos="287020" algn="l"/>
              </a:tabLst>
            </a:pPr>
            <a:r>
              <a:rPr sz="1100" spc="-40" dirty="0">
                <a:solidFill>
                  <a:srgbClr val="F4F8FC"/>
                </a:solidFill>
                <a:latin typeface="Arial MT"/>
                <a:cs typeface="Arial MT"/>
              </a:rPr>
              <a:t>Approximately</a:t>
            </a:r>
            <a:r>
              <a:rPr sz="1100" spc="5" dirty="0">
                <a:solidFill>
                  <a:srgbClr val="F4F8FC"/>
                </a:solidFill>
                <a:latin typeface="Arial MT"/>
                <a:cs typeface="Arial MT"/>
              </a:rPr>
              <a:t> </a:t>
            </a:r>
            <a:r>
              <a:rPr sz="1100" spc="-65" dirty="0">
                <a:solidFill>
                  <a:srgbClr val="F4F8FC"/>
                </a:solidFill>
                <a:latin typeface="Arial MT"/>
                <a:cs typeface="Arial MT"/>
              </a:rPr>
              <a:t>30-</a:t>
            </a:r>
            <a:r>
              <a:rPr sz="1100" spc="-50" dirty="0">
                <a:solidFill>
                  <a:srgbClr val="F4F8FC"/>
                </a:solidFill>
                <a:latin typeface="Arial MT"/>
                <a:cs typeface="Arial MT"/>
              </a:rPr>
              <a:t>day</a:t>
            </a:r>
            <a:r>
              <a:rPr sz="1100" spc="5" dirty="0">
                <a:solidFill>
                  <a:srgbClr val="F4F8FC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F4F8FC"/>
                </a:solidFill>
                <a:latin typeface="Arial MT"/>
                <a:cs typeface="Arial MT"/>
              </a:rPr>
              <a:t>cycles</a:t>
            </a:r>
            <a:endParaRPr sz="1100">
              <a:latin typeface="Arial MT"/>
              <a:cs typeface="Arial MT"/>
            </a:endParaRPr>
          </a:p>
          <a:p>
            <a:pPr marL="287020" indent="-207645">
              <a:lnSpc>
                <a:spcPct val="100000"/>
              </a:lnSpc>
              <a:spcBef>
                <a:spcPts val="334"/>
              </a:spcBef>
              <a:buClr>
                <a:srgbClr val="27D2DC"/>
              </a:buClr>
              <a:buSzPct val="90909"/>
              <a:buFont typeface="Lucida Sans Unicode"/>
              <a:buChar char="►"/>
              <a:tabLst>
                <a:tab pos="287020" algn="l"/>
              </a:tabLst>
            </a:pPr>
            <a:r>
              <a:rPr sz="1100" spc="-35" dirty="0">
                <a:solidFill>
                  <a:srgbClr val="F4F8FC"/>
                </a:solidFill>
                <a:latin typeface="Arial MT"/>
                <a:cs typeface="Arial MT"/>
              </a:rPr>
              <a:t>Annual </a:t>
            </a:r>
            <a:r>
              <a:rPr sz="1100" spc="-10" dirty="0">
                <a:solidFill>
                  <a:srgbClr val="F4F8FC"/>
                </a:solidFill>
                <a:latin typeface="Arial MT"/>
                <a:cs typeface="Arial MT"/>
              </a:rPr>
              <a:t>cycles</a:t>
            </a:r>
            <a:endParaRPr sz="1100">
              <a:latin typeface="Arial MT"/>
              <a:cs typeface="Arial MT"/>
            </a:endParaRPr>
          </a:p>
          <a:p>
            <a:pPr marL="287020" indent="-207645">
              <a:lnSpc>
                <a:spcPct val="100000"/>
              </a:lnSpc>
              <a:spcBef>
                <a:spcPts val="330"/>
              </a:spcBef>
              <a:buClr>
                <a:srgbClr val="27D2DC"/>
              </a:buClr>
              <a:buSzPct val="90909"/>
              <a:buFont typeface="Lucida Sans Unicode"/>
              <a:buChar char="►"/>
              <a:tabLst>
                <a:tab pos="287020" algn="l"/>
              </a:tabLst>
            </a:pPr>
            <a:r>
              <a:rPr sz="1100" spc="-40" dirty="0">
                <a:solidFill>
                  <a:srgbClr val="F4F8FC"/>
                </a:solidFill>
                <a:latin typeface="Arial MT"/>
                <a:cs typeface="Arial MT"/>
              </a:rPr>
              <a:t>Low</a:t>
            </a:r>
            <a:r>
              <a:rPr sz="1100" spc="-25" dirty="0">
                <a:solidFill>
                  <a:srgbClr val="F4F8FC"/>
                </a:solidFill>
                <a:latin typeface="Arial MT"/>
                <a:cs typeface="Arial MT"/>
              </a:rPr>
              <a:t> </a:t>
            </a:r>
            <a:r>
              <a:rPr sz="1100" spc="-45" dirty="0">
                <a:solidFill>
                  <a:srgbClr val="F4F8FC"/>
                </a:solidFill>
                <a:latin typeface="Arial MT"/>
                <a:cs typeface="Arial MT"/>
              </a:rPr>
              <a:t>price</a:t>
            </a:r>
            <a:r>
              <a:rPr sz="1100" spc="-20" dirty="0">
                <a:solidFill>
                  <a:srgbClr val="F4F8FC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F4F8FC"/>
                </a:solidFill>
                <a:latin typeface="Arial MT"/>
                <a:cs typeface="Arial MT"/>
              </a:rPr>
              <a:t>variance</a:t>
            </a:r>
            <a:endParaRPr sz="1100">
              <a:latin typeface="Arial MT"/>
              <a:cs typeface="Arial MT"/>
            </a:endParaRPr>
          </a:p>
          <a:p>
            <a:pPr marL="287020" indent="-207645">
              <a:lnSpc>
                <a:spcPct val="100000"/>
              </a:lnSpc>
              <a:spcBef>
                <a:spcPts val="335"/>
              </a:spcBef>
              <a:buClr>
                <a:srgbClr val="27D2DC"/>
              </a:buClr>
              <a:buSzPct val="90909"/>
              <a:buFont typeface="Lucida Sans Unicode"/>
              <a:buChar char="►"/>
              <a:tabLst>
                <a:tab pos="287020" algn="l"/>
              </a:tabLst>
            </a:pPr>
            <a:r>
              <a:rPr sz="1100" spc="-80" dirty="0">
                <a:solidFill>
                  <a:srgbClr val="F4F8FC"/>
                </a:solidFill>
                <a:latin typeface="Arial MT"/>
                <a:cs typeface="Arial MT"/>
              </a:rPr>
              <a:t>Repeated</a:t>
            </a:r>
            <a:r>
              <a:rPr sz="1100" spc="45" dirty="0">
                <a:solidFill>
                  <a:srgbClr val="F4F8FC"/>
                </a:solidFill>
                <a:latin typeface="Arial MT"/>
                <a:cs typeface="Arial MT"/>
              </a:rPr>
              <a:t> </a:t>
            </a:r>
            <a:r>
              <a:rPr sz="1100" spc="-70" dirty="0">
                <a:solidFill>
                  <a:srgbClr val="F4F8FC"/>
                </a:solidFill>
                <a:latin typeface="Arial MT"/>
                <a:cs typeface="Arial MT"/>
              </a:rPr>
              <a:t>vendor</a:t>
            </a:r>
            <a:r>
              <a:rPr sz="1100" spc="50" dirty="0">
                <a:solidFill>
                  <a:srgbClr val="F4F8FC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F4F8FC"/>
                </a:solidFill>
                <a:latin typeface="Arial MT"/>
                <a:cs typeface="Arial MT"/>
              </a:rPr>
              <a:t>activity</a:t>
            </a:r>
            <a:endParaRPr sz="1100">
              <a:latin typeface="Arial MT"/>
              <a:cs typeface="Arial MT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323988" y="2114892"/>
            <a:ext cx="2201545" cy="901700"/>
            <a:chOff x="323988" y="2114892"/>
            <a:chExt cx="2201545" cy="901700"/>
          </a:xfrm>
        </p:grpSpPr>
        <p:sp>
          <p:nvSpPr>
            <p:cNvPr id="5" name="object 5"/>
            <p:cNvSpPr/>
            <p:nvPr/>
          </p:nvSpPr>
          <p:spPr>
            <a:xfrm>
              <a:off x="326518" y="2117423"/>
              <a:ext cx="2196465" cy="896619"/>
            </a:xfrm>
            <a:custGeom>
              <a:avLst/>
              <a:gdLst/>
              <a:ahLst/>
              <a:cxnLst/>
              <a:rect l="l" t="t" r="r" b="b"/>
              <a:pathLst>
                <a:path w="2196465" h="896619">
                  <a:moveTo>
                    <a:pt x="2120113" y="0"/>
                  </a:moveTo>
                  <a:lnTo>
                    <a:pt x="75916" y="0"/>
                  </a:lnTo>
                  <a:lnTo>
                    <a:pt x="46366" y="5965"/>
                  </a:lnTo>
                  <a:lnTo>
                    <a:pt x="22235" y="22235"/>
                  </a:lnTo>
                  <a:lnTo>
                    <a:pt x="5965" y="46365"/>
                  </a:lnTo>
                  <a:lnTo>
                    <a:pt x="0" y="75916"/>
                  </a:lnTo>
                  <a:lnTo>
                    <a:pt x="0" y="820189"/>
                  </a:lnTo>
                  <a:lnTo>
                    <a:pt x="5965" y="849739"/>
                  </a:lnTo>
                  <a:lnTo>
                    <a:pt x="22235" y="873870"/>
                  </a:lnTo>
                  <a:lnTo>
                    <a:pt x="46366" y="890139"/>
                  </a:lnTo>
                  <a:lnTo>
                    <a:pt x="75916" y="896105"/>
                  </a:lnTo>
                  <a:lnTo>
                    <a:pt x="2120113" y="896105"/>
                  </a:lnTo>
                  <a:lnTo>
                    <a:pt x="2149663" y="890139"/>
                  </a:lnTo>
                  <a:lnTo>
                    <a:pt x="2173794" y="873870"/>
                  </a:lnTo>
                  <a:lnTo>
                    <a:pt x="2190064" y="849739"/>
                  </a:lnTo>
                  <a:lnTo>
                    <a:pt x="2196029" y="820189"/>
                  </a:lnTo>
                  <a:lnTo>
                    <a:pt x="2196029" y="75916"/>
                  </a:lnTo>
                  <a:lnTo>
                    <a:pt x="2190064" y="46365"/>
                  </a:lnTo>
                  <a:lnTo>
                    <a:pt x="2173794" y="22235"/>
                  </a:lnTo>
                  <a:lnTo>
                    <a:pt x="2149663" y="5965"/>
                  </a:lnTo>
                  <a:lnTo>
                    <a:pt x="2120113" y="0"/>
                  </a:lnTo>
                  <a:close/>
                </a:path>
              </a:pathLst>
            </a:custGeom>
            <a:solidFill>
              <a:srgbClr val="0C18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26518" y="2117423"/>
              <a:ext cx="2196465" cy="896619"/>
            </a:xfrm>
            <a:custGeom>
              <a:avLst/>
              <a:gdLst/>
              <a:ahLst/>
              <a:cxnLst/>
              <a:rect l="l" t="t" r="r" b="b"/>
              <a:pathLst>
                <a:path w="2196465" h="896619">
                  <a:moveTo>
                    <a:pt x="2120113" y="0"/>
                  </a:moveTo>
                  <a:lnTo>
                    <a:pt x="75916" y="0"/>
                  </a:lnTo>
                  <a:lnTo>
                    <a:pt x="46366" y="5965"/>
                  </a:lnTo>
                  <a:lnTo>
                    <a:pt x="22235" y="22235"/>
                  </a:lnTo>
                  <a:lnTo>
                    <a:pt x="5965" y="46365"/>
                  </a:lnTo>
                  <a:lnTo>
                    <a:pt x="0" y="75916"/>
                  </a:lnTo>
                  <a:lnTo>
                    <a:pt x="0" y="820189"/>
                  </a:lnTo>
                  <a:lnTo>
                    <a:pt x="5965" y="849739"/>
                  </a:lnTo>
                  <a:lnTo>
                    <a:pt x="22235" y="873870"/>
                  </a:lnTo>
                  <a:lnTo>
                    <a:pt x="46366" y="890139"/>
                  </a:lnTo>
                  <a:lnTo>
                    <a:pt x="75916" y="896105"/>
                  </a:lnTo>
                  <a:lnTo>
                    <a:pt x="2120113" y="896105"/>
                  </a:lnTo>
                  <a:lnTo>
                    <a:pt x="2149663" y="890139"/>
                  </a:lnTo>
                  <a:lnTo>
                    <a:pt x="2173794" y="873870"/>
                  </a:lnTo>
                  <a:lnTo>
                    <a:pt x="2190064" y="849739"/>
                  </a:lnTo>
                  <a:lnTo>
                    <a:pt x="2196029" y="820189"/>
                  </a:lnTo>
                  <a:lnTo>
                    <a:pt x="2196029" y="75916"/>
                  </a:lnTo>
                  <a:lnTo>
                    <a:pt x="2190064" y="46365"/>
                  </a:lnTo>
                  <a:lnTo>
                    <a:pt x="2173794" y="22235"/>
                  </a:lnTo>
                  <a:lnTo>
                    <a:pt x="2149663" y="5965"/>
                  </a:lnTo>
                  <a:lnTo>
                    <a:pt x="2120113" y="0"/>
                  </a:lnTo>
                  <a:close/>
                </a:path>
              </a:pathLst>
            </a:custGeom>
            <a:ln w="5060">
              <a:solidFill>
                <a:srgbClr val="32CC8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421830" y="2133305"/>
            <a:ext cx="1756410" cy="786130"/>
          </a:xfrm>
          <a:prstGeom prst="rect">
            <a:avLst/>
          </a:prstGeom>
        </p:spPr>
        <p:txBody>
          <a:bodyPr vert="horz" wrap="square" lIns="0" tIns="533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20"/>
              </a:spcBef>
            </a:pPr>
            <a:r>
              <a:rPr sz="1100" b="1" spc="-10" dirty="0">
                <a:solidFill>
                  <a:srgbClr val="A5B2C5"/>
                </a:solidFill>
                <a:latin typeface="Arial"/>
                <a:cs typeface="Arial"/>
              </a:rPr>
              <a:t>Result</a:t>
            </a:r>
            <a:endParaRPr sz="1100">
              <a:latin typeface="Arial"/>
              <a:cs typeface="Arial"/>
            </a:endParaRPr>
          </a:p>
          <a:p>
            <a:pPr marL="12700" marR="5080" algn="just">
              <a:lnSpc>
                <a:spcPct val="102600"/>
              </a:lnSpc>
              <a:spcBef>
                <a:spcPts val="284"/>
              </a:spcBef>
            </a:pPr>
            <a:r>
              <a:rPr sz="1100" spc="-50" dirty="0">
                <a:solidFill>
                  <a:srgbClr val="A5B2C5"/>
                </a:solidFill>
                <a:latin typeface="Arial MT"/>
                <a:cs typeface="Arial MT"/>
              </a:rPr>
              <a:t>Recurring</a:t>
            </a:r>
            <a:r>
              <a:rPr sz="1100" spc="-5" dirty="0">
                <a:solidFill>
                  <a:srgbClr val="A5B2C5"/>
                </a:solidFill>
                <a:latin typeface="Arial MT"/>
                <a:cs typeface="Arial MT"/>
              </a:rPr>
              <a:t> </a:t>
            </a:r>
            <a:r>
              <a:rPr sz="1100" spc="-35" dirty="0">
                <a:solidFill>
                  <a:srgbClr val="A5B2C5"/>
                </a:solidFill>
                <a:latin typeface="Arial MT"/>
                <a:cs typeface="Arial MT"/>
              </a:rPr>
              <a:t>financial</a:t>
            </a:r>
            <a:r>
              <a:rPr sz="1100" spc="-5" dirty="0">
                <a:solidFill>
                  <a:srgbClr val="A5B2C5"/>
                </a:solidFill>
                <a:latin typeface="Arial MT"/>
                <a:cs typeface="Arial MT"/>
              </a:rPr>
              <a:t> </a:t>
            </a:r>
            <a:r>
              <a:rPr sz="1100" spc="-40" dirty="0">
                <a:solidFill>
                  <a:srgbClr val="A5B2C5"/>
                </a:solidFill>
                <a:latin typeface="Arial MT"/>
                <a:cs typeface="Arial MT"/>
              </a:rPr>
              <a:t>obligations </a:t>
            </a:r>
            <a:r>
              <a:rPr sz="1100" spc="-80" dirty="0">
                <a:solidFill>
                  <a:srgbClr val="A5B2C5"/>
                </a:solidFill>
                <a:latin typeface="Arial MT"/>
                <a:cs typeface="Arial MT"/>
              </a:rPr>
              <a:t>become</a:t>
            </a:r>
            <a:r>
              <a:rPr sz="1100" spc="5" dirty="0">
                <a:solidFill>
                  <a:srgbClr val="A5B2C5"/>
                </a:solidFill>
                <a:latin typeface="Arial MT"/>
                <a:cs typeface="Arial MT"/>
              </a:rPr>
              <a:t> </a:t>
            </a:r>
            <a:r>
              <a:rPr sz="1100" spc="-45" dirty="0">
                <a:solidFill>
                  <a:srgbClr val="A5B2C5"/>
                </a:solidFill>
                <a:latin typeface="Arial MT"/>
                <a:cs typeface="Arial MT"/>
              </a:rPr>
              <a:t>visible</a:t>
            </a:r>
            <a:r>
              <a:rPr sz="1100" spc="-10" dirty="0">
                <a:solidFill>
                  <a:srgbClr val="A5B2C5"/>
                </a:solidFill>
                <a:latin typeface="Arial MT"/>
                <a:cs typeface="Arial MT"/>
              </a:rPr>
              <a:t> </a:t>
            </a:r>
            <a:r>
              <a:rPr sz="1100" spc="-60" dirty="0">
                <a:solidFill>
                  <a:srgbClr val="A5B2C5"/>
                </a:solidFill>
                <a:latin typeface="Arial MT"/>
                <a:cs typeface="Arial MT"/>
              </a:rPr>
              <a:t>before</a:t>
            </a:r>
            <a:r>
              <a:rPr sz="1100" dirty="0">
                <a:solidFill>
                  <a:srgbClr val="A5B2C5"/>
                </a:solidFill>
                <a:latin typeface="Arial MT"/>
                <a:cs typeface="Arial MT"/>
              </a:rPr>
              <a:t> </a:t>
            </a:r>
            <a:r>
              <a:rPr sz="1100" spc="-20" dirty="0">
                <a:solidFill>
                  <a:srgbClr val="A5B2C5"/>
                </a:solidFill>
                <a:latin typeface="Arial MT"/>
                <a:cs typeface="Arial MT"/>
              </a:rPr>
              <a:t>they</a:t>
            </a:r>
            <a:r>
              <a:rPr sz="1100" dirty="0">
                <a:solidFill>
                  <a:srgbClr val="A5B2C5"/>
                </a:solidFill>
                <a:latin typeface="Arial MT"/>
                <a:cs typeface="Arial MT"/>
              </a:rPr>
              <a:t> </a:t>
            </a:r>
            <a:r>
              <a:rPr sz="1100" spc="-55" dirty="0">
                <a:solidFill>
                  <a:srgbClr val="A5B2C5"/>
                </a:solidFill>
                <a:latin typeface="Arial MT"/>
                <a:cs typeface="Arial MT"/>
              </a:rPr>
              <a:t>are </a:t>
            </a:r>
            <a:r>
              <a:rPr sz="1100" spc="-10" dirty="0">
                <a:solidFill>
                  <a:srgbClr val="A5B2C5"/>
                </a:solidFill>
                <a:latin typeface="Arial MT"/>
                <a:cs typeface="Arial MT"/>
              </a:rPr>
              <a:t>forgotten.</a:t>
            </a:r>
            <a:endParaRPr sz="1100">
              <a:latin typeface="Arial MT"/>
              <a:cs typeface="Arial MT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3301536" y="701383"/>
            <a:ext cx="2001520" cy="1553210"/>
            <a:chOff x="3301536" y="701383"/>
            <a:chExt cx="2001520" cy="1553210"/>
          </a:xfrm>
        </p:grpSpPr>
        <p:sp>
          <p:nvSpPr>
            <p:cNvPr id="9" name="object 9"/>
            <p:cNvSpPr/>
            <p:nvPr/>
          </p:nvSpPr>
          <p:spPr>
            <a:xfrm>
              <a:off x="3304066" y="703913"/>
              <a:ext cx="1996439" cy="1548130"/>
            </a:xfrm>
            <a:custGeom>
              <a:avLst/>
              <a:gdLst/>
              <a:ahLst/>
              <a:cxnLst/>
              <a:rect l="l" t="t" r="r" b="b"/>
              <a:pathLst>
                <a:path w="1996439" h="1548130">
                  <a:moveTo>
                    <a:pt x="1894641" y="0"/>
                  </a:moveTo>
                  <a:lnTo>
                    <a:pt x="101221" y="0"/>
                  </a:lnTo>
                  <a:lnTo>
                    <a:pt x="61821" y="7954"/>
                  </a:lnTo>
                  <a:lnTo>
                    <a:pt x="29646" y="29646"/>
                  </a:lnTo>
                  <a:lnTo>
                    <a:pt x="7954" y="61821"/>
                  </a:lnTo>
                  <a:lnTo>
                    <a:pt x="0" y="101221"/>
                  </a:lnTo>
                  <a:lnTo>
                    <a:pt x="0" y="1446798"/>
                  </a:lnTo>
                  <a:lnTo>
                    <a:pt x="7954" y="1486199"/>
                  </a:lnTo>
                  <a:lnTo>
                    <a:pt x="29646" y="1518373"/>
                  </a:lnTo>
                  <a:lnTo>
                    <a:pt x="61821" y="1540066"/>
                  </a:lnTo>
                  <a:lnTo>
                    <a:pt x="101221" y="1548020"/>
                  </a:lnTo>
                  <a:lnTo>
                    <a:pt x="1894641" y="1548020"/>
                  </a:lnTo>
                  <a:lnTo>
                    <a:pt x="1934041" y="1540066"/>
                  </a:lnTo>
                  <a:lnTo>
                    <a:pt x="1966216" y="1518373"/>
                  </a:lnTo>
                  <a:lnTo>
                    <a:pt x="1987908" y="1486199"/>
                  </a:lnTo>
                  <a:lnTo>
                    <a:pt x="1995863" y="1446798"/>
                  </a:lnTo>
                  <a:lnTo>
                    <a:pt x="1995863" y="101221"/>
                  </a:lnTo>
                  <a:lnTo>
                    <a:pt x="1987908" y="61821"/>
                  </a:lnTo>
                  <a:lnTo>
                    <a:pt x="1966216" y="29646"/>
                  </a:lnTo>
                  <a:lnTo>
                    <a:pt x="1934041" y="7954"/>
                  </a:lnTo>
                  <a:lnTo>
                    <a:pt x="1894641" y="0"/>
                  </a:lnTo>
                  <a:close/>
                </a:path>
              </a:pathLst>
            </a:custGeom>
            <a:solidFill>
              <a:srgbClr val="0C18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304066" y="703913"/>
              <a:ext cx="1996439" cy="1548130"/>
            </a:xfrm>
            <a:custGeom>
              <a:avLst/>
              <a:gdLst/>
              <a:ahLst/>
              <a:cxnLst/>
              <a:rect l="l" t="t" r="r" b="b"/>
              <a:pathLst>
                <a:path w="1996439" h="1548130">
                  <a:moveTo>
                    <a:pt x="1894641" y="0"/>
                  </a:moveTo>
                  <a:lnTo>
                    <a:pt x="101221" y="0"/>
                  </a:lnTo>
                  <a:lnTo>
                    <a:pt x="61821" y="7954"/>
                  </a:lnTo>
                  <a:lnTo>
                    <a:pt x="29646" y="29646"/>
                  </a:lnTo>
                  <a:lnTo>
                    <a:pt x="7954" y="61821"/>
                  </a:lnTo>
                  <a:lnTo>
                    <a:pt x="0" y="101221"/>
                  </a:lnTo>
                  <a:lnTo>
                    <a:pt x="0" y="1446798"/>
                  </a:lnTo>
                  <a:lnTo>
                    <a:pt x="7954" y="1486199"/>
                  </a:lnTo>
                  <a:lnTo>
                    <a:pt x="29646" y="1518373"/>
                  </a:lnTo>
                  <a:lnTo>
                    <a:pt x="61821" y="1540066"/>
                  </a:lnTo>
                  <a:lnTo>
                    <a:pt x="101221" y="1548020"/>
                  </a:lnTo>
                  <a:lnTo>
                    <a:pt x="1894641" y="1548020"/>
                  </a:lnTo>
                  <a:lnTo>
                    <a:pt x="1934041" y="1540066"/>
                  </a:lnTo>
                  <a:lnTo>
                    <a:pt x="1966216" y="1518373"/>
                  </a:lnTo>
                  <a:lnTo>
                    <a:pt x="1987908" y="1486199"/>
                  </a:lnTo>
                  <a:lnTo>
                    <a:pt x="1995863" y="1446798"/>
                  </a:lnTo>
                  <a:lnTo>
                    <a:pt x="1995863" y="101221"/>
                  </a:lnTo>
                  <a:lnTo>
                    <a:pt x="1987908" y="61821"/>
                  </a:lnTo>
                  <a:lnTo>
                    <a:pt x="1966216" y="29646"/>
                  </a:lnTo>
                  <a:lnTo>
                    <a:pt x="1934041" y="7954"/>
                  </a:lnTo>
                  <a:lnTo>
                    <a:pt x="1894641" y="0"/>
                  </a:lnTo>
                  <a:close/>
                </a:path>
              </a:pathLst>
            </a:custGeom>
            <a:ln w="5060">
              <a:solidFill>
                <a:srgbClr val="64728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3404793" y="1023520"/>
            <a:ext cx="1951355" cy="740410"/>
          </a:xfrm>
          <a:prstGeom prst="rect">
            <a:avLst/>
          </a:prstGeom>
        </p:spPr>
        <p:txBody>
          <a:bodyPr vert="horz" wrap="square" lIns="0" tIns="130175" rIns="0" bIns="0" rtlCol="0">
            <a:spAutoFit/>
          </a:bodyPr>
          <a:lstStyle/>
          <a:p>
            <a:pPr marR="149225" algn="ctr">
              <a:lnSpc>
                <a:spcPct val="100000"/>
              </a:lnSpc>
              <a:spcBef>
                <a:spcPts val="1025"/>
              </a:spcBef>
            </a:pPr>
            <a:r>
              <a:rPr sz="1400" spc="-85" dirty="0">
                <a:solidFill>
                  <a:srgbClr val="A5B2C5"/>
                </a:solidFill>
                <a:latin typeface="Arial MT"/>
                <a:cs typeface="Arial MT"/>
              </a:rPr>
              <a:t>Screenshot</a:t>
            </a:r>
            <a:r>
              <a:rPr sz="1400" spc="-5" dirty="0">
                <a:solidFill>
                  <a:srgbClr val="A5B2C5"/>
                </a:solidFill>
                <a:latin typeface="Arial MT"/>
                <a:cs typeface="Arial MT"/>
              </a:rPr>
              <a:t> </a:t>
            </a:r>
            <a:r>
              <a:rPr sz="1400" spc="-10" dirty="0">
                <a:solidFill>
                  <a:srgbClr val="A5B2C5"/>
                </a:solidFill>
                <a:latin typeface="Arial MT"/>
                <a:cs typeface="Arial MT"/>
              </a:rPr>
              <a:t>Placeholder</a:t>
            </a:r>
            <a:endParaRPr sz="1400">
              <a:latin typeface="Arial MT"/>
              <a:cs typeface="Arial MT"/>
            </a:endParaRPr>
          </a:p>
          <a:p>
            <a:pPr marR="149225" algn="ctr">
              <a:lnSpc>
                <a:spcPts val="1200"/>
              </a:lnSpc>
              <a:spcBef>
                <a:spcPts val="625"/>
              </a:spcBef>
            </a:pPr>
            <a:r>
              <a:rPr sz="1000" dirty="0">
                <a:solidFill>
                  <a:srgbClr val="A5B2C5"/>
                </a:solidFill>
                <a:latin typeface="Arial MT"/>
                <a:cs typeface="Arial MT"/>
              </a:rPr>
              <a:t>Add</a:t>
            </a:r>
            <a:r>
              <a:rPr sz="1000" spc="-65" dirty="0">
                <a:solidFill>
                  <a:srgbClr val="A5B2C5"/>
                </a:solidFill>
                <a:latin typeface="Arial MT"/>
                <a:cs typeface="Arial MT"/>
              </a:rPr>
              <a:t> </a:t>
            </a:r>
            <a:r>
              <a:rPr sz="1000" spc="-10" dirty="0">
                <a:solidFill>
                  <a:srgbClr val="A5B2C5"/>
                </a:solidFill>
                <a:latin typeface="Arial MT"/>
                <a:cs typeface="Arial MT"/>
              </a:rPr>
              <a:t>image:</a:t>
            </a:r>
            <a:endParaRPr sz="1000">
              <a:latin typeface="Arial MT"/>
              <a:cs typeface="Arial MT"/>
            </a:endParaRPr>
          </a:p>
          <a:p>
            <a:pPr marL="12700">
              <a:lnSpc>
                <a:spcPts val="1200"/>
              </a:lnSpc>
            </a:pPr>
            <a:r>
              <a:rPr sz="1000" spc="-10" dirty="0">
                <a:solidFill>
                  <a:srgbClr val="A5B2C5"/>
                </a:solidFill>
                <a:latin typeface="Cambria"/>
                <a:cs typeface="Cambria"/>
              </a:rPr>
              <a:t>screenshots/04\_anomalies.png</a:t>
            </a:r>
            <a:endParaRPr sz="1000">
              <a:latin typeface="Cambria"/>
              <a:cs typeface="Cambria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/>
              <a:t>FinPilot</a:t>
            </a:r>
            <a:r>
              <a:rPr spc="45" dirty="0"/>
              <a:t> </a:t>
            </a:r>
            <a:r>
              <a:rPr dirty="0"/>
              <a:t>—</a:t>
            </a:r>
            <a:r>
              <a:rPr spc="50" dirty="0"/>
              <a:t> </a:t>
            </a:r>
            <a:r>
              <a:rPr dirty="0"/>
              <a:t>AI</a:t>
            </a:r>
            <a:r>
              <a:rPr spc="55" dirty="0"/>
              <a:t> </a:t>
            </a:r>
            <a:r>
              <a:rPr spc="-20" dirty="0"/>
              <a:t>Personal</a:t>
            </a:r>
            <a:r>
              <a:rPr spc="50" dirty="0"/>
              <a:t> </a:t>
            </a:r>
            <a:r>
              <a:rPr spc="-20" dirty="0"/>
              <a:t>Finance</a:t>
            </a:r>
            <a:r>
              <a:rPr spc="55" dirty="0"/>
              <a:t> </a:t>
            </a:r>
            <a:r>
              <a:rPr spc="-10" dirty="0"/>
              <a:t>Decision</a:t>
            </a:r>
            <a:r>
              <a:rPr spc="50" dirty="0"/>
              <a:t> </a:t>
            </a:r>
            <a:r>
              <a:rPr dirty="0"/>
              <a:t>Support</a:t>
            </a:r>
            <a:r>
              <a:rPr spc="45" dirty="0"/>
              <a:t> </a:t>
            </a:r>
            <a:r>
              <a:rPr spc="-10" dirty="0"/>
              <a:t>Agent</a:t>
            </a: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pc="-25" dirty="0"/>
              <a:t>13</a:t>
            </a:r>
          </a:p>
        </p:txBody>
      </p:sp>
    </p:spTree>
  </p:cSld>
  <p:clrMapOvr>
    <a:masterClrMapping/>
  </p:clrMapOvr>
  <p:transition>
    <p:cut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Anomaly</a:t>
            </a:r>
            <a:r>
              <a:rPr spc="125" dirty="0"/>
              <a:t> </a:t>
            </a:r>
            <a:r>
              <a:rPr spc="229" dirty="0"/>
              <a:t>&amp;</a:t>
            </a:r>
            <a:r>
              <a:rPr spc="130" dirty="0"/>
              <a:t> </a:t>
            </a:r>
            <a:r>
              <a:rPr dirty="0"/>
              <a:t>Spending</a:t>
            </a:r>
            <a:r>
              <a:rPr spc="130" dirty="0"/>
              <a:t> </a:t>
            </a:r>
            <a:r>
              <a:rPr dirty="0"/>
              <a:t>Spike</a:t>
            </a:r>
            <a:r>
              <a:rPr spc="130" dirty="0"/>
              <a:t> </a:t>
            </a:r>
            <a:r>
              <a:rPr spc="-10" dirty="0"/>
              <a:t>Detection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279390" y="671304"/>
            <a:ext cx="851535" cy="365125"/>
            <a:chOff x="1279390" y="671304"/>
            <a:chExt cx="851535" cy="365125"/>
          </a:xfrm>
        </p:grpSpPr>
        <p:sp>
          <p:nvSpPr>
            <p:cNvPr id="4" name="object 4"/>
            <p:cNvSpPr/>
            <p:nvPr/>
          </p:nvSpPr>
          <p:spPr>
            <a:xfrm>
              <a:off x="1281930" y="673844"/>
              <a:ext cx="846455" cy="360045"/>
            </a:xfrm>
            <a:custGeom>
              <a:avLst/>
              <a:gdLst/>
              <a:ahLst/>
              <a:cxnLst/>
              <a:rect l="l" t="t" r="r" b="b"/>
              <a:pathLst>
                <a:path w="846455" h="360044">
                  <a:moveTo>
                    <a:pt x="782749" y="0"/>
                  </a:moveTo>
                  <a:lnTo>
                    <a:pt x="63263" y="0"/>
                  </a:lnTo>
                  <a:lnTo>
                    <a:pt x="38638" y="4971"/>
                  </a:lnTo>
                  <a:lnTo>
                    <a:pt x="18529" y="18529"/>
                  </a:lnTo>
                  <a:lnTo>
                    <a:pt x="4971" y="38638"/>
                  </a:lnTo>
                  <a:lnTo>
                    <a:pt x="0" y="63263"/>
                  </a:lnTo>
                  <a:lnTo>
                    <a:pt x="0" y="296740"/>
                  </a:lnTo>
                  <a:lnTo>
                    <a:pt x="4971" y="321365"/>
                  </a:lnTo>
                  <a:lnTo>
                    <a:pt x="18529" y="341474"/>
                  </a:lnTo>
                  <a:lnTo>
                    <a:pt x="38638" y="355032"/>
                  </a:lnTo>
                  <a:lnTo>
                    <a:pt x="63263" y="360004"/>
                  </a:lnTo>
                  <a:lnTo>
                    <a:pt x="782749" y="360004"/>
                  </a:lnTo>
                  <a:lnTo>
                    <a:pt x="807374" y="355032"/>
                  </a:lnTo>
                  <a:lnTo>
                    <a:pt x="827483" y="341474"/>
                  </a:lnTo>
                  <a:lnTo>
                    <a:pt x="841041" y="321365"/>
                  </a:lnTo>
                  <a:lnTo>
                    <a:pt x="846012" y="296740"/>
                  </a:lnTo>
                  <a:lnTo>
                    <a:pt x="846012" y="63263"/>
                  </a:lnTo>
                  <a:lnTo>
                    <a:pt x="841041" y="38638"/>
                  </a:lnTo>
                  <a:lnTo>
                    <a:pt x="827483" y="18529"/>
                  </a:lnTo>
                  <a:lnTo>
                    <a:pt x="807374" y="4971"/>
                  </a:lnTo>
                  <a:lnTo>
                    <a:pt x="782749" y="0"/>
                  </a:lnTo>
                  <a:close/>
                </a:path>
              </a:pathLst>
            </a:custGeom>
            <a:solidFill>
              <a:srgbClr val="0C18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281930" y="673844"/>
              <a:ext cx="846455" cy="360045"/>
            </a:xfrm>
            <a:custGeom>
              <a:avLst/>
              <a:gdLst/>
              <a:ahLst/>
              <a:cxnLst/>
              <a:rect l="l" t="t" r="r" b="b"/>
              <a:pathLst>
                <a:path w="846455" h="360044">
                  <a:moveTo>
                    <a:pt x="782749" y="0"/>
                  </a:moveTo>
                  <a:lnTo>
                    <a:pt x="63263" y="0"/>
                  </a:lnTo>
                  <a:lnTo>
                    <a:pt x="38638" y="4971"/>
                  </a:lnTo>
                  <a:lnTo>
                    <a:pt x="18529" y="18529"/>
                  </a:lnTo>
                  <a:lnTo>
                    <a:pt x="4971" y="38638"/>
                  </a:lnTo>
                  <a:lnTo>
                    <a:pt x="0" y="63263"/>
                  </a:lnTo>
                  <a:lnTo>
                    <a:pt x="0" y="296740"/>
                  </a:lnTo>
                  <a:lnTo>
                    <a:pt x="4971" y="321365"/>
                  </a:lnTo>
                  <a:lnTo>
                    <a:pt x="18529" y="341474"/>
                  </a:lnTo>
                  <a:lnTo>
                    <a:pt x="38638" y="355032"/>
                  </a:lnTo>
                  <a:lnTo>
                    <a:pt x="63263" y="360004"/>
                  </a:lnTo>
                  <a:lnTo>
                    <a:pt x="782749" y="360004"/>
                  </a:lnTo>
                  <a:lnTo>
                    <a:pt x="807374" y="355032"/>
                  </a:lnTo>
                  <a:lnTo>
                    <a:pt x="827483" y="341474"/>
                  </a:lnTo>
                  <a:lnTo>
                    <a:pt x="841041" y="321365"/>
                  </a:lnTo>
                  <a:lnTo>
                    <a:pt x="846012" y="296740"/>
                  </a:lnTo>
                  <a:lnTo>
                    <a:pt x="846012" y="63263"/>
                  </a:lnTo>
                  <a:lnTo>
                    <a:pt x="841041" y="38638"/>
                  </a:lnTo>
                  <a:lnTo>
                    <a:pt x="827483" y="18529"/>
                  </a:lnTo>
                  <a:lnTo>
                    <a:pt x="807374" y="4971"/>
                  </a:lnTo>
                  <a:lnTo>
                    <a:pt x="782749" y="0"/>
                  </a:lnTo>
                  <a:close/>
                </a:path>
              </a:pathLst>
            </a:custGeom>
            <a:ln w="5060">
              <a:solidFill>
                <a:srgbClr val="308C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1445044" y="672089"/>
            <a:ext cx="520065" cy="3295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7145" marR="5080" indent="-5080">
              <a:lnSpc>
                <a:spcPct val="100000"/>
              </a:lnSpc>
              <a:spcBef>
                <a:spcPts val="95"/>
              </a:spcBef>
            </a:pPr>
            <a:r>
              <a:rPr sz="1000" spc="-35" dirty="0">
                <a:solidFill>
                  <a:srgbClr val="F4F8FC"/>
                </a:solidFill>
                <a:latin typeface="Arial MT"/>
                <a:cs typeface="Arial MT"/>
              </a:rPr>
              <a:t>Historical </a:t>
            </a:r>
            <a:r>
              <a:rPr sz="1000" spc="-55" dirty="0">
                <a:solidFill>
                  <a:srgbClr val="F4F8FC"/>
                </a:solidFill>
                <a:latin typeface="Arial MT"/>
                <a:cs typeface="Arial MT"/>
              </a:rPr>
              <a:t>Spending</a:t>
            </a:r>
            <a:endParaRPr sz="1000">
              <a:latin typeface="Arial MT"/>
              <a:cs typeface="Arial MT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2454466" y="671304"/>
            <a:ext cx="851535" cy="365125"/>
            <a:chOff x="2454466" y="671304"/>
            <a:chExt cx="851535" cy="365125"/>
          </a:xfrm>
        </p:grpSpPr>
        <p:sp>
          <p:nvSpPr>
            <p:cNvPr id="8" name="object 8"/>
            <p:cNvSpPr/>
            <p:nvPr/>
          </p:nvSpPr>
          <p:spPr>
            <a:xfrm>
              <a:off x="2457006" y="673844"/>
              <a:ext cx="846455" cy="360045"/>
            </a:xfrm>
            <a:custGeom>
              <a:avLst/>
              <a:gdLst/>
              <a:ahLst/>
              <a:cxnLst/>
              <a:rect l="l" t="t" r="r" b="b"/>
              <a:pathLst>
                <a:path w="846454" h="360044">
                  <a:moveTo>
                    <a:pt x="782749" y="0"/>
                  </a:moveTo>
                  <a:lnTo>
                    <a:pt x="63263" y="0"/>
                  </a:lnTo>
                  <a:lnTo>
                    <a:pt x="38638" y="4971"/>
                  </a:lnTo>
                  <a:lnTo>
                    <a:pt x="18529" y="18529"/>
                  </a:lnTo>
                  <a:lnTo>
                    <a:pt x="4971" y="38638"/>
                  </a:lnTo>
                  <a:lnTo>
                    <a:pt x="0" y="63263"/>
                  </a:lnTo>
                  <a:lnTo>
                    <a:pt x="0" y="296740"/>
                  </a:lnTo>
                  <a:lnTo>
                    <a:pt x="4971" y="321365"/>
                  </a:lnTo>
                  <a:lnTo>
                    <a:pt x="18529" y="341474"/>
                  </a:lnTo>
                  <a:lnTo>
                    <a:pt x="38638" y="355032"/>
                  </a:lnTo>
                  <a:lnTo>
                    <a:pt x="63263" y="360004"/>
                  </a:lnTo>
                  <a:lnTo>
                    <a:pt x="782749" y="360004"/>
                  </a:lnTo>
                  <a:lnTo>
                    <a:pt x="807374" y="355032"/>
                  </a:lnTo>
                  <a:lnTo>
                    <a:pt x="827483" y="341474"/>
                  </a:lnTo>
                  <a:lnTo>
                    <a:pt x="841041" y="321365"/>
                  </a:lnTo>
                  <a:lnTo>
                    <a:pt x="846012" y="296740"/>
                  </a:lnTo>
                  <a:lnTo>
                    <a:pt x="846012" y="63263"/>
                  </a:lnTo>
                  <a:lnTo>
                    <a:pt x="841041" y="38638"/>
                  </a:lnTo>
                  <a:lnTo>
                    <a:pt x="827483" y="18529"/>
                  </a:lnTo>
                  <a:lnTo>
                    <a:pt x="807374" y="4971"/>
                  </a:lnTo>
                  <a:lnTo>
                    <a:pt x="782749" y="0"/>
                  </a:lnTo>
                  <a:close/>
                </a:path>
              </a:pathLst>
            </a:custGeom>
            <a:solidFill>
              <a:srgbClr val="0C18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457006" y="673844"/>
              <a:ext cx="846455" cy="360045"/>
            </a:xfrm>
            <a:custGeom>
              <a:avLst/>
              <a:gdLst/>
              <a:ahLst/>
              <a:cxnLst/>
              <a:rect l="l" t="t" r="r" b="b"/>
              <a:pathLst>
                <a:path w="846454" h="360044">
                  <a:moveTo>
                    <a:pt x="782749" y="0"/>
                  </a:moveTo>
                  <a:lnTo>
                    <a:pt x="63263" y="0"/>
                  </a:lnTo>
                  <a:lnTo>
                    <a:pt x="38638" y="4971"/>
                  </a:lnTo>
                  <a:lnTo>
                    <a:pt x="18529" y="18529"/>
                  </a:lnTo>
                  <a:lnTo>
                    <a:pt x="4971" y="38638"/>
                  </a:lnTo>
                  <a:lnTo>
                    <a:pt x="0" y="63263"/>
                  </a:lnTo>
                  <a:lnTo>
                    <a:pt x="0" y="296740"/>
                  </a:lnTo>
                  <a:lnTo>
                    <a:pt x="4971" y="321365"/>
                  </a:lnTo>
                  <a:lnTo>
                    <a:pt x="18529" y="341474"/>
                  </a:lnTo>
                  <a:lnTo>
                    <a:pt x="38638" y="355032"/>
                  </a:lnTo>
                  <a:lnTo>
                    <a:pt x="63263" y="360004"/>
                  </a:lnTo>
                  <a:lnTo>
                    <a:pt x="782749" y="360004"/>
                  </a:lnTo>
                  <a:lnTo>
                    <a:pt x="807374" y="355032"/>
                  </a:lnTo>
                  <a:lnTo>
                    <a:pt x="827483" y="341474"/>
                  </a:lnTo>
                  <a:lnTo>
                    <a:pt x="841041" y="321365"/>
                  </a:lnTo>
                  <a:lnTo>
                    <a:pt x="846012" y="296740"/>
                  </a:lnTo>
                  <a:lnTo>
                    <a:pt x="846012" y="63263"/>
                  </a:lnTo>
                  <a:lnTo>
                    <a:pt x="841041" y="38638"/>
                  </a:lnTo>
                  <a:lnTo>
                    <a:pt x="827483" y="18529"/>
                  </a:lnTo>
                  <a:lnTo>
                    <a:pt x="807374" y="4971"/>
                  </a:lnTo>
                  <a:lnTo>
                    <a:pt x="782749" y="0"/>
                  </a:lnTo>
                  <a:close/>
                </a:path>
              </a:pathLst>
            </a:custGeom>
            <a:ln w="5060">
              <a:solidFill>
                <a:srgbClr val="308C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2605176" y="684382"/>
            <a:ext cx="549275" cy="3295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9685" marR="5080" indent="-7620">
              <a:lnSpc>
                <a:spcPct val="100000"/>
              </a:lnSpc>
              <a:spcBef>
                <a:spcPts val="95"/>
              </a:spcBef>
            </a:pPr>
            <a:r>
              <a:rPr sz="1000" spc="-25" dirty="0">
                <a:solidFill>
                  <a:srgbClr val="F4F8FC"/>
                </a:solidFill>
                <a:latin typeface="Arial MT"/>
                <a:cs typeface="Arial MT"/>
              </a:rPr>
              <a:t>Statistical Detection</a:t>
            </a:r>
            <a:endParaRPr sz="1000">
              <a:latin typeface="Arial MT"/>
              <a:cs typeface="Arial MT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3629542" y="671304"/>
            <a:ext cx="851535" cy="365125"/>
            <a:chOff x="3629542" y="671304"/>
            <a:chExt cx="851535" cy="365125"/>
          </a:xfrm>
        </p:grpSpPr>
        <p:sp>
          <p:nvSpPr>
            <p:cNvPr id="12" name="object 12"/>
            <p:cNvSpPr/>
            <p:nvPr/>
          </p:nvSpPr>
          <p:spPr>
            <a:xfrm>
              <a:off x="3632082" y="673844"/>
              <a:ext cx="846455" cy="360045"/>
            </a:xfrm>
            <a:custGeom>
              <a:avLst/>
              <a:gdLst/>
              <a:ahLst/>
              <a:cxnLst/>
              <a:rect l="l" t="t" r="r" b="b"/>
              <a:pathLst>
                <a:path w="846454" h="360044">
                  <a:moveTo>
                    <a:pt x="782749" y="0"/>
                  </a:moveTo>
                  <a:lnTo>
                    <a:pt x="63263" y="0"/>
                  </a:lnTo>
                  <a:lnTo>
                    <a:pt x="38638" y="4971"/>
                  </a:lnTo>
                  <a:lnTo>
                    <a:pt x="18529" y="18529"/>
                  </a:lnTo>
                  <a:lnTo>
                    <a:pt x="4971" y="38638"/>
                  </a:lnTo>
                  <a:lnTo>
                    <a:pt x="0" y="63263"/>
                  </a:lnTo>
                  <a:lnTo>
                    <a:pt x="0" y="296740"/>
                  </a:lnTo>
                  <a:lnTo>
                    <a:pt x="4971" y="321365"/>
                  </a:lnTo>
                  <a:lnTo>
                    <a:pt x="18529" y="341474"/>
                  </a:lnTo>
                  <a:lnTo>
                    <a:pt x="38638" y="355032"/>
                  </a:lnTo>
                  <a:lnTo>
                    <a:pt x="63263" y="360004"/>
                  </a:lnTo>
                  <a:lnTo>
                    <a:pt x="782749" y="360004"/>
                  </a:lnTo>
                  <a:lnTo>
                    <a:pt x="807374" y="355032"/>
                  </a:lnTo>
                  <a:lnTo>
                    <a:pt x="827483" y="341474"/>
                  </a:lnTo>
                  <a:lnTo>
                    <a:pt x="841041" y="321365"/>
                  </a:lnTo>
                  <a:lnTo>
                    <a:pt x="846012" y="296740"/>
                  </a:lnTo>
                  <a:lnTo>
                    <a:pt x="846012" y="63263"/>
                  </a:lnTo>
                  <a:lnTo>
                    <a:pt x="841041" y="38638"/>
                  </a:lnTo>
                  <a:lnTo>
                    <a:pt x="827483" y="18529"/>
                  </a:lnTo>
                  <a:lnTo>
                    <a:pt x="807374" y="4971"/>
                  </a:lnTo>
                  <a:lnTo>
                    <a:pt x="782749" y="0"/>
                  </a:lnTo>
                  <a:close/>
                </a:path>
              </a:pathLst>
            </a:custGeom>
            <a:solidFill>
              <a:srgbClr val="0C18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632082" y="673844"/>
              <a:ext cx="846455" cy="360045"/>
            </a:xfrm>
            <a:custGeom>
              <a:avLst/>
              <a:gdLst/>
              <a:ahLst/>
              <a:cxnLst/>
              <a:rect l="l" t="t" r="r" b="b"/>
              <a:pathLst>
                <a:path w="846454" h="360044">
                  <a:moveTo>
                    <a:pt x="782749" y="0"/>
                  </a:moveTo>
                  <a:lnTo>
                    <a:pt x="63263" y="0"/>
                  </a:lnTo>
                  <a:lnTo>
                    <a:pt x="38638" y="4971"/>
                  </a:lnTo>
                  <a:lnTo>
                    <a:pt x="18529" y="18529"/>
                  </a:lnTo>
                  <a:lnTo>
                    <a:pt x="4971" y="38638"/>
                  </a:lnTo>
                  <a:lnTo>
                    <a:pt x="0" y="63263"/>
                  </a:lnTo>
                  <a:lnTo>
                    <a:pt x="0" y="296740"/>
                  </a:lnTo>
                  <a:lnTo>
                    <a:pt x="4971" y="321365"/>
                  </a:lnTo>
                  <a:lnTo>
                    <a:pt x="18529" y="341474"/>
                  </a:lnTo>
                  <a:lnTo>
                    <a:pt x="38638" y="355032"/>
                  </a:lnTo>
                  <a:lnTo>
                    <a:pt x="63263" y="360004"/>
                  </a:lnTo>
                  <a:lnTo>
                    <a:pt x="782749" y="360004"/>
                  </a:lnTo>
                  <a:lnTo>
                    <a:pt x="807374" y="355032"/>
                  </a:lnTo>
                  <a:lnTo>
                    <a:pt x="827483" y="341474"/>
                  </a:lnTo>
                  <a:lnTo>
                    <a:pt x="841041" y="321365"/>
                  </a:lnTo>
                  <a:lnTo>
                    <a:pt x="846012" y="296740"/>
                  </a:lnTo>
                  <a:lnTo>
                    <a:pt x="846012" y="63263"/>
                  </a:lnTo>
                  <a:lnTo>
                    <a:pt x="841041" y="38638"/>
                  </a:lnTo>
                  <a:lnTo>
                    <a:pt x="827483" y="18529"/>
                  </a:lnTo>
                  <a:lnTo>
                    <a:pt x="807374" y="4971"/>
                  </a:lnTo>
                  <a:lnTo>
                    <a:pt x="782749" y="0"/>
                  </a:lnTo>
                  <a:close/>
                </a:path>
              </a:pathLst>
            </a:custGeom>
            <a:ln w="5060">
              <a:solidFill>
                <a:srgbClr val="308C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3810977" y="672089"/>
            <a:ext cx="488315" cy="3295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30810" marR="5080" indent="-118745">
              <a:lnSpc>
                <a:spcPct val="100000"/>
              </a:lnSpc>
              <a:spcBef>
                <a:spcPts val="95"/>
              </a:spcBef>
            </a:pPr>
            <a:r>
              <a:rPr sz="1000" spc="-45" dirty="0">
                <a:solidFill>
                  <a:srgbClr val="F4F8FC"/>
                </a:solidFill>
                <a:latin typeface="Arial MT"/>
                <a:cs typeface="Arial MT"/>
              </a:rPr>
              <a:t>Anomaly </a:t>
            </a:r>
            <a:r>
              <a:rPr sz="1000" spc="-20" dirty="0">
                <a:solidFill>
                  <a:srgbClr val="F4F8FC"/>
                </a:solidFill>
                <a:latin typeface="Arial MT"/>
                <a:cs typeface="Arial MT"/>
              </a:rPr>
              <a:t>Flag</a:t>
            </a:r>
            <a:endParaRPr sz="1000">
              <a:latin typeface="Arial MT"/>
              <a:cs typeface="Arial MT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2130473" y="819616"/>
            <a:ext cx="1475740" cy="68580"/>
            <a:chOff x="2130473" y="819616"/>
            <a:chExt cx="1475740" cy="68580"/>
          </a:xfrm>
        </p:grpSpPr>
        <p:pic>
          <p:nvPicPr>
            <p:cNvPr id="16" name="object 1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130473" y="819616"/>
              <a:ext cx="300292" cy="68460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305549" y="819616"/>
              <a:ext cx="300292" cy="68460"/>
            </a:xfrm>
            <a:prstGeom prst="rect">
              <a:avLst/>
            </a:prstGeom>
          </p:spPr>
        </p:pic>
      </p:grpSp>
      <p:sp>
        <p:nvSpPr>
          <p:cNvPr id="18" name="object 18"/>
          <p:cNvSpPr txBox="1"/>
          <p:nvPr/>
        </p:nvSpPr>
        <p:spPr>
          <a:xfrm>
            <a:off x="496100" y="1262047"/>
            <a:ext cx="2052320" cy="993775"/>
          </a:xfrm>
          <a:prstGeom prst="rect">
            <a:avLst/>
          </a:prstGeom>
        </p:spPr>
        <p:txBody>
          <a:bodyPr vert="horz" wrap="square" lIns="0" tIns="711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60"/>
              </a:spcBef>
            </a:pPr>
            <a:r>
              <a:rPr sz="1100" b="1" spc="-45" dirty="0">
                <a:solidFill>
                  <a:srgbClr val="F0505F"/>
                </a:solidFill>
                <a:latin typeface="Arial"/>
                <a:cs typeface="Arial"/>
              </a:rPr>
              <a:t>Transaction-</a:t>
            </a:r>
            <a:r>
              <a:rPr sz="1100" b="1" spc="-20" dirty="0">
                <a:solidFill>
                  <a:srgbClr val="F0505F"/>
                </a:solidFill>
                <a:latin typeface="Arial"/>
                <a:cs typeface="Arial"/>
              </a:rPr>
              <a:t>level</a:t>
            </a:r>
            <a:r>
              <a:rPr sz="1100" b="1" spc="105" dirty="0">
                <a:solidFill>
                  <a:srgbClr val="F0505F"/>
                </a:solidFill>
                <a:latin typeface="Arial"/>
                <a:cs typeface="Arial"/>
              </a:rPr>
              <a:t> </a:t>
            </a:r>
            <a:r>
              <a:rPr sz="1100" b="1" spc="-10" dirty="0">
                <a:solidFill>
                  <a:srgbClr val="F0505F"/>
                </a:solidFill>
                <a:latin typeface="Arial"/>
                <a:cs typeface="Arial"/>
              </a:rPr>
              <a:t>anomaly</a:t>
            </a:r>
            <a:endParaRPr sz="1100">
              <a:latin typeface="Arial"/>
              <a:cs typeface="Arial"/>
            </a:endParaRPr>
          </a:p>
          <a:p>
            <a:pPr marL="12700" marR="5080">
              <a:lnSpc>
                <a:spcPct val="102600"/>
              </a:lnSpc>
              <a:spcBef>
                <a:spcPts val="425"/>
              </a:spcBef>
            </a:pPr>
            <a:r>
              <a:rPr sz="1100" spc="-55" dirty="0">
                <a:solidFill>
                  <a:srgbClr val="F4F8FC"/>
                </a:solidFill>
                <a:latin typeface="Arial MT"/>
                <a:cs typeface="Arial MT"/>
              </a:rPr>
              <a:t>Transactions</a:t>
            </a:r>
            <a:r>
              <a:rPr sz="1100" spc="-10" dirty="0">
                <a:solidFill>
                  <a:srgbClr val="F4F8FC"/>
                </a:solidFill>
                <a:latin typeface="Arial MT"/>
                <a:cs typeface="Arial MT"/>
              </a:rPr>
              <a:t> </a:t>
            </a:r>
            <a:r>
              <a:rPr sz="1100" spc="-65" dirty="0">
                <a:solidFill>
                  <a:srgbClr val="F4F8FC"/>
                </a:solidFill>
                <a:latin typeface="Arial MT"/>
                <a:cs typeface="Arial MT"/>
              </a:rPr>
              <a:t>can</a:t>
            </a:r>
            <a:r>
              <a:rPr sz="1100" spc="-5" dirty="0">
                <a:solidFill>
                  <a:srgbClr val="F4F8FC"/>
                </a:solidFill>
                <a:latin typeface="Arial MT"/>
                <a:cs typeface="Arial MT"/>
              </a:rPr>
              <a:t> </a:t>
            </a:r>
            <a:r>
              <a:rPr sz="1100" spc="-40" dirty="0">
                <a:solidFill>
                  <a:srgbClr val="F4F8FC"/>
                </a:solidFill>
                <a:latin typeface="Arial MT"/>
                <a:cs typeface="Arial MT"/>
              </a:rPr>
              <a:t>be</a:t>
            </a:r>
            <a:r>
              <a:rPr sz="1100" spc="-5" dirty="0">
                <a:solidFill>
                  <a:srgbClr val="F4F8FC"/>
                </a:solidFill>
                <a:latin typeface="Arial MT"/>
                <a:cs typeface="Arial MT"/>
              </a:rPr>
              <a:t> </a:t>
            </a:r>
            <a:r>
              <a:rPr sz="1100" spc="-50" dirty="0">
                <a:solidFill>
                  <a:srgbClr val="F4F8FC"/>
                </a:solidFill>
                <a:latin typeface="Arial MT"/>
                <a:cs typeface="Arial MT"/>
              </a:rPr>
              <a:t>flagged</a:t>
            </a:r>
            <a:r>
              <a:rPr sz="1100" spc="-10" dirty="0">
                <a:solidFill>
                  <a:srgbClr val="F4F8FC"/>
                </a:solidFill>
                <a:latin typeface="Arial MT"/>
                <a:cs typeface="Arial MT"/>
              </a:rPr>
              <a:t> </a:t>
            </a:r>
            <a:r>
              <a:rPr sz="1100" spc="-20" dirty="0">
                <a:solidFill>
                  <a:srgbClr val="F4F8FC"/>
                </a:solidFill>
                <a:latin typeface="Arial MT"/>
                <a:cs typeface="Arial MT"/>
              </a:rPr>
              <a:t>when </a:t>
            </a:r>
            <a:r>
              <a:rPr sz="1100" spc="-45" dirty="0">
                <a:solidFill>
                  <a:srgbClr val="F4F8FC"/>
                </a:solidFill>
                <a:latin typeface="Arial MT"/>
                <a:cs typeface="Arial MT"/>
              </a:rPr>
              <a:t>vendor/category</a:t>
            </a:r>
            <a:r>
              <a:rPr sz="1100" spc="45" dirty="0">
                <a:solidFill>
                  <a:srgbClr val="F4F8FC"/>
                </a:solidFill>
                <a:latin typeface="Arial MT"/>
                <a:cs typeface="Arial MT"/>
              </a:rPr>
              <a:t> </a:t>
            </a:r>
            <a:r>
              <a:rPr sz="1100" spc="-70" dirty="0">
                <a:solidFill>
                  <a:srgbClr val="F4F8FC"/>
                </a:solidFill>
                <a:latin typeface="Arial MT"/>
                <a:cs typeface="Arial MT"/>
              </a:rPr>
              <a:t>spending</a:t>
            </a:r>
            <a:r>
              <a:rPr sz="1100" spc="50" dirty="0">
                <a:solidFill>
                  <a:srgbClr val="F4F8FC"/>
                </a:solidFill>
                <a:latin typeface="Arial MT"/>
                <a:cs typeface="Arial MT"/>
              </a:rPr>
              <a:t> </a:t>
            </a:r>
            <a:r>
              <a:rPr sz="1100" spc="-60" dirty="0">
                <a:solidFill>
                  <a:srgbClr val="F4F8FC"/>
                </a:solidFill>
                <a:latin typeface="Arial MT"/>
                <a:cs typeface="Arial MT"/>
              </a:rPr>
              <a:t>becomes </a:t>
            </a:r>
            <a:r>
              <a:rPr sz="1100" spc="-50" dirty="0">
                <a:solidFill>
                  <a:srgbClr val="F4F8FC"/>
                </a:solidFill>
                <a:latin typeface="Arial MT"/>
                <a:cs typeface="Arial MT"/>
              </a:rPr>
              <a:t>unusually</a:t>
            </a:r>
            <a:r>
              <a:rPr sz="1100" spc="10" dirty="0">
                <a:solidFill>
                  <a:srgbClr val="F4F8FC"/>
                </a:solidFill>
                <a:latin typeface="Arial MT"/>
                <a:cs typeface="Arial MT"/>
              </a:rPr>
              <a:t> </a:t>
            </a:r>
            <a:r>
              <a:rPr sz="1100" spc="-60" dirty="0">
                <a:solidFill>
                  <a:srgbClr val="F4F8FC"/>
                </a:solidFill>
                <a:latin typeface="Arial MT"/>
                <a:cs typeface="Arial MT"/>
              </a:rPr>
              <a:t>large</a:t>
            </a:r>
            <a:r>
              <a:rPr sz="1100" spc="15" dirty="0">
                <a:solidFill>
                  <a:srgbClr val="F4F8FC"/>
                </a:solidFill>
                <a:latin typeface="Arial MT"/>
                <a:cs typeface="Arial MT"/>
              </a:rPr>
              <a:t> </a:t>
            </a:r>
            <a:r>
              <a:rPr sz="1100" spc="-35" dirty="0">
                <a:solidFill>
                  <a:srgbClr val="F4F8FC"/>
                </a:solidFill>
                <a:latin typeface="Arial MT"/>
                <a:cs typeface="Arial MT"/>
              </a:rPr>
              <a:t>relative</a:t>
            </a:r>
            <a:r>
              <a:rPr sz="1100" spc="15" dirty="0">
                <a:solidFill>
                  <a:srgbClr val="F4F8FC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F4F8FC"/>
                </a:solidFill>
                <a:latin typeface="Arial MT"/>
                <a:cs typeface="Arial MT"/>
              </a:rPr>
              <a:t>to</a:t>
            </a:r>
            <a:r>
              <a:rPr sz="1100" spc="10" dirty="0">
                <a:solidFill>
                  <a:srgbClr val="F4F8FC"/>
                </a:solidFill>
                <a:latin typeface="Arial MT"/>
                <a:cs typeface="Arial MT"/>
              </a:rPr>
              <a:t> </a:t>
            </a:r>
            <a:r>
              <a:rPr sz="1100" spc="-30" dirty="0">
                <a:solidFill>
                  <a:srgbClr val="F4F8FC"/>
                </a:solidFill>
                <a:latin typeface="Arial MT"/>
                <a:cs typeface="Arial MT"/>
              </a:rPr>
              <a:t>historical </a:t>
            </a:r>
            <a:r>
              <a:rPr sz="1100" spc="-10" dirty="0">
                <a:solidFill>
                  <a:srgbClr val="F4F8FC"/>
                </a:solidFill>
                <a:latin typeface="Arial MT"/>
                <a:cs typeface="Arial MT"/>
              </a:rPr>
              <a:t>behavior.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21" name="object 2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/>
              <a:t>FinPilot</a:t>
            </a:r>
            <a:r>
              <a:rPr spc="45" dirty="0"/>
              <a:t> </a:t>
            </a:r>
            <a:r>
              <a:rPr dirty="0"/>
              <a:t>—</a:t>
            </a:r>
            <a:r>
              <a:rPr spc="50" dirty="0"/>
              <a:t> </a:t>
            </a:r>
            <a:r>
              <a:rPr dirty="0"/>
              <a:t>AI</a:t>
            </a:r>
            <a:r>
              <a:rPr spc="55" dirty="0"/>
              <a:t> </a:t>
            </a:r>
            <a:r>
              <a:rPr spc="-20" dirty="0"/>
              <a:t>Personal</a:t>
            </a:r>
            <a:r>
              <a:rPr spc="50" dirty="0"/>
              <a:t> </a:t>
            </a:r>
            <a:r>
              <a:rPr spc="-20" dirty="0"/>
              <a:t>Finance</a:t>
            </a:r>
            <a:r>
              <a:rPr spc="55" dirty="0"/>
              <a:t> </a:t>
            </a:r>
            <a:r>
              <a:rPr spc="-10" dirty="0"/>
              <a:t>Decision</a:t>
            </a:r>
            <a:r>
              <a:rPr spc="50" dirty="0"/>
              <a:t> </a:t>
            </a:r>
            <a:r>
              <a:rPr dirty="0"/>
              <a:t>Support</a:t>
            </a:r>
            <a:r>
              <a:rPr spc="45" dirty="0"/>
              <a:t> </a:t>
            </a:r>
            <a:r>
              <a:rPr spc="-10" dirty="0"/>
              <a:t>Agent</a:t>
            </a:r>
          </a:p>
        </p:txBody>
      </p:sp>
      <p:sp>
        <p:nvSpPr>
          <p:cNvPr id="22" name="object 2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pc="-25" dirty="0"/>
              <a:t>14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3121698" y="1334615"/>
            <a:ext cx="1852295" cy="821690"/>
          </a:xfrm>
          <a:prstGeom prst="rect">
            <a:avLst/>
          </a:prstGeom>
        </p:spPr>
        <p:txBody>
          <a:bodyPr vert="horz" wrap="square" lIns="0" tIns="711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60"/>
              </a:spcBef>
            </a:pPr>
            <a:r>
              <a:rPr sz="1100" b="1" spc="-35" dirty="0">
                <a:solidFill>
                  <a:srgbClr val="F4BE3B"/>
                </a:solidFill>
                <a:latin typeface="Arial"/>
                <a:cs typeface="Arial"/>
              </a:rPr>
              <a:t>Category</a:t>
            </a:r>
            <a:r>
              <a:rPr sz="1100" b="1" dirty="0">
                <a:solidFill>
                  <a:srgbClr val="F4BE3B"/>
                </a:solidFill>
                <a:latin typeface="Arial"/>
                <a:cs typeface="Arial"/>
              </a:rPr>
              <a:t> </a:t>
            </a:r>
            <a:r>
              <a:rPr sz="1100" b="1" spc="-60" dirty="0">
                <a:solidFill>
                  <a:srgbClr val="F4BE3B"/>
                </a:solidFill>
                <a:latin typeface="Arial"/>
                <a:cs typeface="Arial"/>
              </a:rPr>
              <a:t>spending</a:t>
            </a:r>
            <a:r>
              <a:rPr sz="1100" b="1" spc="-5" dirty="0">
                <a:solidFill>
                  <a:srgbClr val="F4BE3B"/>
                </a:solidFill>
                <a:latin typeface="Arial"/>
                <a:cs typeface="Arial"/>
              </a:rPr>
              <a:t> </a:t>
            </a:r>
            <a:r>
              <a:rPr sz="1100" b="1" spc="-20" dirty="0">
                <a:solidFill>
                  <a:srgbClr val="F4BE3B"/>
                </a:solidFill>
                <a:latin typeface="Arial"/>
                <a:cs typeface="Arial"/>
              </a:rPr>
              <a:t>spike</a:t>
            </a:r>
            <a:endParaRPr sz="1100">
              <a:latin typeface="Arial"/>
              <a:cs typeface="Arial"/>
            </a:endParaRPr>
          </a:p>
          <a:p>
            <a:pPr marL="12700" marR="5080">
              <a:lnSpc>
                <a:spcPct val="102600"/>
              </a:lnSpc>
              <a:spcBef>
                <a:spcPts val="425"/>
              </a:spcBef>
            </a:pPr>
            <a:r>
              <a:rPr sz="1100" spc="-45" dirty="0">
                <a:solidFill>
                  <a:srgbClr val="F4F8FC"/>
                </a:solidFill>
                <a:latin typeface="Arial MT"/>
                <a:cs typeface="Arial MT"/>
              </a:rPr>
              <a:t>Month-</a:t>
            </a:r>
            <a:r>
              <a:rPr sz="1100" spc="-35" dirty="0">
                <a:solidFill>
                  <a:srgbClr val="F4F8FC"/>
                </a:solidFill>
                <a:latin typeface="Arial MT"/>
                <a:cs typeface="Arial MT"/>
              </a:rPr>
              <a:t>over-</a:t>
            </a:r>
            <a:r>
              <a:rPr sz="1100" spc="-25" dirty="0">
                <a:solidFill>
                  <a:srgbClr val="F4F8FC"/>
                </a:solidFill>
                <a:latin typeface="Arial MT"/>
                <a:cs typeface="Arial MT"/>
              </a:rPr>
              <a:t>month</a:t>
            </a:r>
            <a:r>
              <a:rPr sz="1100" spc="10" dirty="0">
                <a:solidFill>
                  <a:srgbClr val="F4F8FC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F4F8FC"/>
                </a:solidFill>
                <a:latin typeface="Arial MT"/>
                <a:cs typeface="Arial MT"/>
              </a:rPr>
              <a:t>category </a:t>
            </a:r>
            <a:r>
              <a:rPr sz="1100" spc="-70" dirty="0">
                <a:solidFill>
                  <a:srgbClr val="F4F8FC"/>
                </a:solidFill>
                <a:latin typeface="Arial MT"/>
                <a:cs typeface="Arial MT"/>
              </a:rPr>
              <a:t>spending</a:t>
            </a:r>
            <a:r>
              <a:rPr sz="1100" spc="15" dirty="0">
                <a:solidFill>
                  <a:srgbClr val="F4F8FC"/>
                </a:solidFill>
                <a:latin typeface="Arial MT"/>
                <a:cs typeface="Arial MT"/>
              </a:rPr>
              <a:t> </a:t>
            </a:r>
            <a:r>
              <a:rPr sz="1100" spc="-85" dirty="0">
                <a:solidFill>
                  <a:srgbClr val="F4F8FC"/>
                </a:solidFill>
                <a:latin typeface="Arial MT"/>
                <a:cs typeface="Arial MT"/>
              </a:rPr>
              <a:t>spikes</a:t>
            </a:r>
            <a:r>
              <a:rPr sz="1100" spc="20" dirty="0">
                <a:solidFill>
                  <a:srgbClr val="F4F8FC"/>
                </a:solidFill>
                <a:latin typeface="Arial MT"/>
                <a:cs typeface="Arial MT"/>
              </a:rPr>
              <a:t> </a:t>
            </a:r>
            <a:r>
              <a:rPr sz="1100" spc="-75" dirty="0">
                <a:solidFill>
                  <a:srgbClr val="F4F8FC"/>
                </a:solidFill>
                <a:latin typeface="Arial MT"/>
                <a:cs typeface="Arial MT"/>
              </a:rPr>
              <a:t>above</a:t>
            </a:r>
            <a:r>
              <a:rPr sz="1100" spc="15" dirty="0">
                <a:solidFill>
                  <a:srgbClr val="F4F8FC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F4F8FC"/>
                </a:solidFill>
                <a:latin typeface="Arial MT"/>
                <a:cs typeface="Arial MT"/>
              </a:rPr>
              <a:t>a</a:t>
            </a:r>
            <a:r>
              <a:rPr sz="1100" spc="20" dirty="0">
                <a:solidFill>
                  <a:srgbClr val="F4F8FC"/>
                </a:solidFill>
                <a:latin typeface="Arial MT"/>
                <a:cs typeface="Arial MT"/>
              </a:rPr>
              <a:t> </a:t>
            </a:r>
            <a:r>
              <a:rPr sz="1100" spc="-50" dirty="0">
                <a:solidFill>
                  <a:srgbClr val="F4F8FC"/>
                </a:solidFill>
                <a:latin typeface="Arial MT"/>
                <a:cs typeface="Arial MT"/>
              </a:rPr>
              <a:t>defined </a:t>
            </a:r>
            <a:r>
              <a:rPr sz="1100" spc="-45" dirty="0">
                <a:solidFill>
                  <a:srgbClr val="F4F8FC"/>
                </a:solidFill>
                <a:latin typeface="Arial MT"/>
                <a:cs typeface="Arial MT"/>
              </a:rPr>
              <a:t>threshold</a:t>
            </a:r>
            <a:r>
              <a:rPr sz="1100" spc="-5" dirty="0">
                <a:solidFill>
                  <a:srgbClr val="F4F8FC"/>
                </a:solidFill>
                <a:latin typeface="Arial MT"/>
                <a:cs typeface="Arial MT"/>
              </a:rPr>
              <a:t> </a:t>
            </a:r>
            <a:r>
              <a:rPr sz="1100" spc="-65" dirty="0">
                <a:solidFill>
                  <a:srgbClr val="F4F8FC"/>
                </a:solidFill>
                <a:latin typeface="Arial MT"/>
                <a:cs typeface="Arial MT"/>
              </a:rPr>
              <a:t>can</a:t>
            </a:r>
            <a:r>
              <a:rPr sz="1100" spc="-5" dirty="0">
                <a:solidFill>
                  <a:srgbClr val="F4F8FC"/>
                </a:solidFill>
                <a:latin typeface="Arial MT"/>
                <a:cs typeface="Arial MT"/>
              </a:rPr>
              <a:t> </a:t>
            </a:r>
            <a:r>
              <a:rPr sz="1100" spc="-35" dirty="0">
                <a:solidFill>
                  <a:srgbClr val="F4F8FC"/>
                </a:solidFill>
                <a:latin typeface="Arial MT"/>
                <a:cs typeface="Arial MT"/>
              </a:rPr>
              <a:t>be</a:t>
            </a:r>
            <a:r>
              <a:rPr sz="1100" spc="-5" dirty="0">
                <a:solidFill>
                  <a:srgbClr val="F4F8FC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F4F8FC"/>
                </a:solidFill>
                <a:latin typeface="Arial MT"/>
                <a:cs typeface="Arial MT"/>
              </a:rPr>
              <a:t>highlighted.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539953" y="2357918"/>
            <a:ext cx="4680585" cy="36385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2069464" marR="5080" indent="-2057400">
              <a:lnSpc>
                <a:spcPct val="102600"/>
              </a:lnSpc>
              <a:spcBef>
                <a:spcPts val="55"/>
              </a:spcBef>
            </a:pPr>
            <a:r>
              <a:rPr sz="1100" spc="-10" dirty="0">
                <a:solidFill>
                  <a:srgbClr val="A5B2C5"/>
                </a:solidFill>
                <a:latin typeface="Arial MT"/>
                <a:cs typeface="Arial MT"/>
              </a:rPr>
              <a:t>The</a:t>
            </a:r>
            <a:r>
              <a:rPr sz="1100" spc="-15" dirty="0">
                <a:solidFill>
                  <a:srgbClr val="A5B2C5"/>
                </a:solidFill>
                <a:latin typeface="Arial MT"/>
                <a:cs typeface="Arial MT"/>
              </a:rPr>
              <a:t> </a:t>
            </a:r>
            <a:r>
              <a:rPr sz="1100" spc="-40" dirty="0">
                <a:solidFill>
                  <a:srgbClr val="A5B2C5"/>
                </a:solidFill>
                <a:latin typeface="Arial MT"/>
                <a:cs typeface="Arial MT"/>
              </a:rPr>
              <a:t>goal</a:t>
            </a:r>
            <a:r>
              <a:rPr sz="1100" dirty="0">
                <a:solidFill>
                  <a:srgbClr val="A5B2C5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A5B2C5"/>
                </a:solidFill>
                <a:latin typeface="Arial MT"/>
                <a:cs typeface="Arial MT"/>
              </a:rPr>
              <a:t>is</a:t>
            </a:r>
            <a:r>
              <a:rPr sz="1100" spc="-5" dirty="0">
                <a:solidFill>
                  <a:srgbClr val="A5B2C5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A5B2C5"/>
                </a:solidFill>
                <a:latin typeface="Arial MT"/>
                <a:cs typeface="Arial MT"/>
              </a:rPr>
              <a:t>not </a:t>
            </a:r>
            <a:r>
              <a:rPr sz="1100" spc="-40" dirty="0">
                <a:solidFill>
                  <a:srgbClr val="A5B2C5"/>
                </a:solidFill>
                <a:latin typeface="Arial MT"/>
                <a:cs typeface="Arial MT"/>
              </a:rPr>
              <a:t>simply</a:t>
            </a:r>
            <a:r>
              <a:rPr sz="1100" dirty="0">
                <a:solidFill>
                  <a:srgbClr val="A5B2C5"/>
                </a:solidFill>
                <a:latin typeface="Arial MT"/>
                <a:cs typeface="Arial MT"/>
              </a:rPr>
              <a:t> to </a:t>
            </a:r>
            <a:r>
              <a:rPr sz="1100" spc="-85" dirty="0">
                <a:solidFill>
                  <a:srgbClr val="A5B2C5"/>
                </a:solidFill>
                <a:latin typeface="Arial MT"/>
                <a:cs typeface="Arial MT"/>
              </a:rPr>
              <a:t>show</a:t>
            </a:r>
            <a:r>
              <a:rPr sz="1100" spc="10" dirty="0">
                <a:solidFill>
                  <a:srgbClr val="A5B2C5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A5B2C5"/>
                </a:solidFill>
                <a:latin typeface="Arial MT"/>
                <a:cs typeface="Arial MT"/>
              </a:rPr>
              <a:t>a</a:t>
            </a:r>
            <a:r>
              <a:rPr sz="1100" spc="-5" dirty="0">
                <a:solidFill>
                  <a:srgbClr val="A5B2C5"/>
                </a:solidFill>
                <a:latin typeface="Arial MT"/>
                <a:cs typeface="Arial MT"/>
              </a:rPr>
              <a:t> </a:t>
            </a:r>
            <a:r>
              <a:rPr sz="1100" spc="-45" dirty="0">
                <a:solidFill>
                  <a:srgbClr val="A5B2C5"/>
                </a:solidFill>
                <a:latin typeface="Arial MT"/>
                <a:cs typeface="Arial MT"/>
              </a:rPr>
              <a:t>warning,</a:t>
            </a:r>
            <a:r>
              <a:rPr sz="1100" dirty="0">
                <a:solidFill>
                  <a:srgbClr val="A5B2C5"/>
                </a:solidFill>
                <a:latin typeface="Arial MT"/>
                <a:cs typeface="Arial MT"/>
              </a:rPr>
              <a:t> but to </a:t>
            </a:r>
            <a:r>
              <a:rPr sz="1100" spc="-50" dirty="0">
                <a:solidFill>
                  <a:srgbClr val="A5B2C5"/>
                </a:solidFill>
                <a:latin typeface="Arial MT"/>
                <a:cs typeface="Arial MT"/>
              </a:rPr>
              <a:t>provide</a:t>
            </a:r>
            <a:r>
              <a:rPr sz="1100" spc="-5" dirty="0">
                <a:solidFill>
                  <a:srgbClr val="A5B2C5"/>
                </a:solidFill>
                <a:latin typeface="Arial MT"/>
                <a:cs typeface="Arial MT"/>
              </a:rPr>
              <a:t> </a:t>
            </a:r>
            <a:r>
              <a:rPr sz="1100" spc="-25" dirty="0">
                <a:solidFill>
                  <a:srgbClr val="A5B2C5"/>
                </a:solidFill>
                <a:latin typeface="Arial MT"/>
                <a:cs typeface="Arial MT"/>
              </a:rPr>
              <a:t>context</a:t>
            </a:r>
            <a:r>
              <a:rPr sz="1100" dirty="0">
                <a:solidFill>
                  <a:srgbClr val="A5B2C5"/>
                </a:solidFill>
                <a:latin typeface="Arial MT"/>
                <a:cs typeface="Arial MT"/>
              </a:rPr>
              <a:t> </a:t>
            </a:r>
            <a:r>
              <a:rPr sz="1100" spc="-65" dirty="0">
                <a:solidFill>
                  <a:srgbClr val="A5B2C5"/>
                </a:solidFill>
                <a:latin typeface="Arial MT"/>
                <a:cs typeface="Arial MT"/>
              </a:rPr>
              <a:t>around</a:t>
            </a:r>
            <a:r>
              <a:rPr sz="1100" dirty="0">
                <a:solidFill>
                  <a:srgbClr val="A5B2C5"/>
                </a:solidFill>
                <a:latin typeface="Arial MT"/>
                <a:cs typeface="Arial MT"/>
              </a:rPr>
              <a:t> </a:t>
            </a:r>
            <a:r>
              <a:rPr sz="1100" spc="-20" dirty="0">
                <a:solidFill>
                  <a:srgbClr val="A5B2C5"/>
                </a:solidFill>
                <a:latin typeface="Arial MT"/>
                <a:cs typeface="Arial MT"/>
              </a:rPr>
              <a:t>unusual </a:t>
            </a:r>
            <a:r>
              <a:rPr sz="1100" spc="-10" dirty="0">
                <a:solidFill>
                  <a:srgbClr val="A5B2C5"/>
                </a:solidFill>
                <a:latin typeface="Arial MT"/>
                <a:cs typeface="Arial MT"/>
              </a:rPr>
              <a:t>spending.</a:t>
            </a:r>
            <a:endParaRPr sz="1100">
              <a:latin typeface="Arial MT"/>
              <a:cs typeface="Arial MT"/>
            </a:endParaRPr>
          </a:p>
        </p:txBody>
      </p:sp>
    </p:spTree>
  </p:cSld>
  <p:clrMapOvr>
    <a:masterClrMapping/>
  </p:clrMapOvr>
  <p:transition>
    <p:cut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Budget</a:t>
            </a:r>
            <a:r>
              <a:rPr spc="275" dirty="0"/>
              <a:t> </a:t>
            </a:r>
            <a:r>
              <a:rPr spc="-10" dirty="0"/>
              <a:t>Tracking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11302" y="711324"/>
            <a:ext cx="2019300" cy="68770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b="1" dirty="0">
                <a:solidFill>
                  <a:srgbClr val="27D2DC"/>
                </a:solidFill>
                <a:latin typeface="Arial"/>
                <a:cs typeface="Arial"/>
              </a:rPr>
              <a:t>Budget</a:t>
            </a:r>
            <a:r>
              <a:rPr sz="1400" b="1" spc="130" dirty="0">
                <a:solidFill>
                  <a:srgbClr val="27D2DC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27D2DC"/>
                </a:solidFill>
                <a:latin typeface="Arial"/>
                <a:cs typeface="Arial"/>
              </a:rPr>
              <a:t>vs</a:t>
            </a:r>
            <a:r>
              <a:rPr sz="1400" b="1" spc="135" dirty="0">
                <a:solidFill>
                  <a:srgbClr val="27D2DC"/>
                </a:solidFill>
                <a:latin typeface="Arial"/>
                <a:cs typeface="Arial"/>
              </a:rPr>
              <a:t> </a:t>
            </a:r>
            <a:r>
              <a:rPr sz="1400" b="1" spc="-10" dirty="0">
                <a:solidFill>
                  <a:srgbClr val="27D2DC"/>
                </a:solidFill>
                <a:latin typeface="Arial"/>
                <a:cs typeface="Arial"/>
              </a:rPr>
              <a:t>Actual</a:t>
            </a:r>
            <a:endParaRPr sz="1400">
              <a:latin typeface="Arial"/>
              <a:cs typeface="Arial"/>
            </a:endParaRPr>
          </a:p>
          <a:p>
            <a:pPr marL="12700" marR="5080">
              <a:lnSpc>
                <a:spcPct val="102600"/>
              </a:lnSpc>
              <a:spcBef>
                <a:spcPts val="790"/>
              </a:spcBef>
            </a:pPr>
            <a:r>
              <a:rPr sz="1100" spc="-90" dirty="0">
                <a:solidFill>
                  <a:srgbClr val="F4F8FC"/>
                </a:solidFill>
                <a:latin typeface="Arial MT"/>
                <a:cs typeface="Arial MT"/>
              </a:rPr>
              <a:t>Users</a:t>
            </a:r>
            <a:r>
              <a:rPr sz="1100" spc="15" dirty="0">
                <a:solidFill>
                  <a:srgbClr val="F4F8FC"/>
                </a:solidFill>
                <a:latin typeface="Arial MT"/>
                <a:cs typeface="Arial MT"/>
              </a:rPr>
              <a:t> </a:t>
            </a:r>
            <a:r>
              <a:rPr sz="1100" spc="-65" dirty="0">
                <a:solidFill>
                  <a:srgbClr val="F4F8FC"/>
                </a:solidFill>
                <a:latin typeface="Arial MT"/>
                <a:cs typeface="Arial MT"/>
              </a:rPr>
              <a:t>can</a:t>
            </a:r>
            <a:r>
              <a:rPr sz="1100" spc="15" dirty="0">
                <a:solidFill>
                  <a:srgbClr val="F4F8FC"/>
                </a:solidFill>
                <a:latin typeface="Arial MT"/>
                <a:cs typeface="Arial MT"/>
              </a:rPr>
              <a:t> </a:t>
            </a:r>
            <a:r>
              <a:rPr sz="1100" spc="-60" dirty="0">
                <a:solidFill>
                  <a:srgbClr val="F4F8FC"/>
                </a:solidFill>
                <a:latin typeface="Arial MT"/>
                <a:cs typeface="Arial MT"/>
              </a:rPr>
              <a:t>define</a:t>
            </a:r>
            <a:r>
              <a:rPr sz="1100" spc="20" dirty="0">
                <a:solidFill>
                  <a:srgbClr val="F4F8FC"/>
                </a:solidFill>
                <a:latin typeface="Arial MT"/>
                <a:cs typeface="Arial MT"/>
              </a:rPr>
              <a:t> </a:t>
            </a:r>
            <a:r>
              <a:rPr sz="1100" spc="-20" dirty="0">
                <a:solidFill>
                  <a:srgbClr val="F4F8FC"/>
                </a:solidFill>
                <a:latin typeface="Arial MT"/>
                <a:cs typeface="Arial MT"/>
              </a:rPr>
              <a:t>monthly</a:t>
            </a:r>
            <a:r>
              <a:rPr sz="1100" spc="15" dirty="0">
                <a:solidFill>
                  <a:srgbClr val="F4F8FC"/>
                </a:solidFill>
                <a:latin typeface="Arial MT"/>
                <a:cs typeface="Arial MT"/>
              </a:rPr>
              <a:t> </a:t>
            </a:r>
            <a:r>
              <a:rPr sz="1100" spc="-60" dirty="0">
                <a:solidFill>
                  <a:srgbClr val="F4F8FC"/>
                </a:solidFill>
                <a:latin typeface="Arial MT"/>
                <a:cs typeface="Arial MT"/>
              </a:rPr>
              <a:t>spending </a:t>
            </a:r>
            <a:r>
              <a:rPr sz="1100" spc="-10" dirty="0">
                <a:solidFill>
                  <a:srgbClr val="F4F8FC"/>
                </a:solidFill>
                <a:latin typeface="Arial MT"/>
                <a:cs typeface="Arial MT"/>
              </a:rPr>
              <a:t>limits</a:t>
            </a:r>
            <a:r>
              <a:rPr sz="1100" spc="-20" dirty="0">
                <a:solidFill>
                  <a:srgbClr val="F4F8FC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F4F8FC"/>
                </a:solidFill>
                <a:latin typeface="Arial MT"/>
                <a:cs typeface="Arial MT"/>
              </a:rPr>
              <a:t>for</a:t>
            </a:r>
            <a:r>
              <a:rPr sz="1100" spc="-15" dirty="0">
                <a:solidFill>
                  <a:srgbClr val="F4F8FC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F4F8FC"/>
                </a:solidFill>
                <a:latin typeface="Arial MT"/>
                <a:cs typeface="Arial MT"/>
              </a:rPr>
              <a:t>categories.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78548" y="1517381"/>
            <a:ext cx="1316990" cy="1075690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220345" indent="-207645">
              <a:lnSpc>
                <a:spcPct val="100000"/>
              </a:lnSpc>
              <a:spcBef>
                <a:spcPts val="434"/>
              </a:spcBef>
              <a:buClr>
                <a:srgbClr val="27D2DC"/>
              </a:buClr>
              <a:buSzPct val="90909"/>
              <a:buFont typeface="Lucida Sans Unicode"/>
              <a:buChar char="►"/>
              <a:tabLst>
                <a:tab pos="220345" algn="l"/>
              </a:tabLst>
            </a:pPr>
            <a:r>
              <a:rPr sz="1100" spc="-20" dirty="0">
                <a:solidFill>
                  <a:srgbClr val="F4F8FC"/>
                </a:solidFill>
                <a:latin typeface="Arial MT"/>
                <a:cs typeface="Arial MT"/>
              </a:rPr>
              <a:t>Actual</a:t>
            </a:r>
            <a:r>
              <a:rPr sz="1100" spc="-40" dirty="0">
                <a:solidFill>
                  <a:srgbClr val="F4F8FC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F4F8FC"/>
                </a:solidFill>
                <a:latin typeface="Arial MT"/>
                <a:cs typeface="Arial MT"/>
              </a:rPr>
              <a:t>spending</a:t>
            </a:r>
            <a:endParaRPr sz="1100">
              <a:latin typeface="Arial MT"/>
              <a:cs typeface="Arial MT"/>
            </a:endParaRPr>
          </a:p>
          <a:p>
            <a:pPr marL="220345" indent="-207645">
              <a:lnSpc>
                <a:spcPct val="100000"/>
              </a:lnSpc>
              <a:spcBef>
                <a:spcPts val="334"/>
              </a:spcBef>
              <a:buClr>
                <a:srgbClr val="27D2DC"/>
              </a:buClr>
              <a:buSzPct val="90909"/>
              <a:buFont typeface="Lucida Sans Unicode"/>
              <a:buChar char="►"/>
              <a:tabLst>
                <a:tab pos="220345" algn="l"/>
              </a:tabLst>
            </a:pPr>
            <a:r>
              <a:rPr sz="1100" spc="-30" dirty="0">
                <a:solidFill>
                  <a:srgbClr val="F4F8FC"/>
                </a:solidFill>
                <a:latin typeface="Arial MT"/>
                <a:cs typeface="Arial MT"/>
              </a:rPr>
              <a:t>Budget</a:t>
            </a:r>
            <a:r>
              <a:rPr sz="1100" spc="-35" dirty="0">
                <a:solidFill>
                  <a:srgbClr val="F4F8FC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F4F8FC"/>
                </a:solidFill>
                <a:latin typeface="Arial MT"/>
                <a:cs typeface="Arial MT"/>
              </a:rPr>
              <a:t>amount</a:t>
            </a:r>
            <a:endParaRPr sz="1100">
              <a:latin typeface="Arial MT"/>
              <a:cs typeface="Arial MT"/>
            </a:endParaRPr>
          </a:p>
          <a:p>
            <a:pPr marL="220345" indent="-207645">
              <a:lnSpc>
                <a:spcPct val="100000"/>
              </a:lnSpc>
              <a:spcBef>
                <a:spcPts val="330"/>
              </a:spcBef>
              <a:buClr>
                <a:srgbClr val="27D2DC"/>
              </a:buClr>
              <a:buSzPct val="90909"/>
              <a:buFont typeface="Lucida Sans Unicode"/>
              <a:buChar char="►"/>
              <a:tabLst>
                <a:tab pos="220345" algn="l"/>
              </a:tabLst>
            </a:pPr>
            <a:r>
              <a:rPr sz="1100" spc="-65" dirty="0">
                <a:solidFill>
                  <a:srgbClr val="F4F8FC"/>
                </a:solidFill>
                <a:latin typeface="Arial MT"/>
                <a:cs typeface="Arial MT"/>
              </a:rPr>
              <a:t>Remaining</a:t>
            </a:r>
            <a:r>
              <a:rPr sz="1100" spc="15" dirty="0">
                <a:solidFill>
                  <a:srgbClr val="F4F8FC"/>
                </a:solidFill>
                <a:latin typeface="Arial MT"/>
                <a:cs typeface="Arial MT"/>
              </a:rPr>
              <a:t> </a:t>
            </a:r>
            <a:r>
              <a:rPr sz="1100" spc="-20" dirty="0">
                <a:solidFill>
                  <a:srgbClr val="F4F8FC"/>
                </a:solidFill>
                <a:latin typeface="Arial MT"/>
                <a:cs typeface="Arial MT"/>
              </a:rPr>
              <a:t>amount</a:t>
            </a:r>
            <a:endParaRPr sz="1100">
              <a:latin typeface="Arial MT"/>
              <a:cs typeface="Arial MT"/>
            </a:endParaRPr>
          </a:p>
          <a:p>
            <a:pPr marL="220345" indent="-207645">
              <a:lnSpc>
                <a:spcPct val="100000"/>
              </a:lnSpc>
              <a:spcBef>
                <a:spcPts val="335"/>
              </a:spcBef>
              <a:buClr>
                <a:srgbClr val="27D2DC"/>
              </a:buClr>
              <a:buSzPct val="90909"/>
              <a:buFont typeface="Lucida Sans Unicode"/>
              <a:buChar char="►"/>
              <a:tabLst>
                <a:tab pos="220345" algn="l"/>
              </a:tabLst>
            </a:pPr>
            <a:r>
              <a:rPr sz="1100" spc="-10" dirty="0">
                <a:solidFill>
                  <a:srgbClr val="F4F8FC"/>
                </a:solidFill>
                <a:latin typeface="Arial MT"/>
                <a:cs typeface="Arial MT"/>
              </a:rPr>
              <a:t>Variance</a:t>
            </a:r>
            <a:endParaRPr sz="1100">
              <a:latin typeface="Arial MT"/>
              <a:cs typeface="Arial MT"/>
            </a:endParaRPr>
          </a:p>
          <a:p>
            <a:pPr marL="220345" indent="-207645">
              <a:lnSpc>
                <a:spcPct val="100000"/>
              </a:lnSpc>
              <a:spcBef>
                <a:spcPts val="335"/>
              </a:spcBef>
              <a:buClr>
                <a:srgbClr val="27D2DC"/>
              </a:buClr>
              <a:buSzPct val="90909"/>
              <a:buFont typeface="Lucida Sans Unicode"/>
              <a:buChar char="►"/>
              <a:tabLst>
                <a:tab pos="220345" algn="l"/>
              </a:tabLst>
            </a:pPr>
            <a:r>
              <a:rPr sz="1100" spc="-10" dirty="0">
                <a:solidFill>
                  <a:srgbClr val="F4F8FC"/>
                </a:solidFill>
                <a:latin typeface="Arial MT"/>
                <a:cs typeface="Arial MT"/>
              </a:rPr>
              <a:t>Status</a:t>
            </a:r>
            <a:endParaRPr sz="1100">
              <a:latin typeface="Arial MT"/>
              <a:cs typeface="Arial MT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2915977" y="875351"/>
            <a:ext cx="2165350" cy="1553210"/>
            <a:chOff x="2915977" y="875351"/>
            <a:chExt cx="2165350" cy="1553210"/>
          </a:xfrm>
        </p:grpSpPr>
        <p:sp>
          <p:nvSpPr>
            <p:cNvPr id="6" name="object 6"/>
            <p:cNvSpPr/>
            <p:nvPr/>
          </p:nvSpPr>
          <p:spPr>
            <a:xfrm>
              <a:off x="2918517" y="877891"/>
              <a:ext cx="2160270" cy="1548130"/>
            </a:xfrm>
            <a:custGeom>
              <a:avLst/>
              <a:gdLst/>
              <a:ahLst/>
              <a:cxnLst/>
              <a:rect l="l" t="t" r="r" b="b"/>
              <a:pathLst>
                <a:path w="2160270" h="1548130">
                  <a:moveTo>
                    <a:pt x="2058805" y="0"/>
                  </a:moveTo>
                  <a:lnTo>
                    <a:pt x="101221" y="0"/>
                  </a:lnTo>
                  <a:lnTo>
                    <a:pt x="61821" y="7954"/>
                  </a:lnTo>
                  <a:lnTo>
                    <a:pt x="29646" y="29646"/>
                  </a:lnTo>
                  <a:lnTo>
                    <a:pt x="7954" y="61821"/>
                  </a:lnTo>
                  <a:lnTo>
                    <a:pt x="0" y="101221"/>
                  </a:lnTo>
                  <a:lnTo>
                    <a:pt x="0" y="1446798"/>
                  </a:lnTo>
                  <a:lnTo>
                    <a:pt x="7954" y="1486199"/>
                  </a:lnTo>
                  <a:lnTo>
                    <a:pt x="29646" y="1518373"/>
                  </a:lnTo>
                  <a:lnTo>
                    <a:pt x="61821" y="1540066"/>
                  </a:lnTo>
                  <a:lnTo>
                    <a:pt x="101221" y="1548020"/>
                  </a:lnTo>
                  <a:lnTo>
                    <a:pt x="2058805" y="1548020"/>
                  </a:lnTo>
                  <a:lnTo>
                    <a:pt x="2098206" y="1540066"/>
                  </a:lnTo>
                  <a:lnTo>
                    <a:pt x="2130380" y="1518373"/>
                  </a:lnTo>
                  <a:lnTo>
                    <a:pt x="2152073" y="1486199"/>
                  </a:lnTo>
                  <a:lnTo>
                    <a:pt x="2160027" y="1446798"/>
                  </a:lnTo>
                  <a:lnTo>
                    <a:pt x="2160027" y="101221"/>
                  </a:lnTo>
                  <a:lnTo>
                    <a:pt x="2152073" y="61821"/>
                  </a:lnTo>
                  <a:lnTo>
                    <a:pt x="2130380" y="29646"/>
                  </a:lnTo>
                  <a:lnTo>
                    <a:pt x="2098206" y="7954"/>
                  </a:lnTo>
                  <a:lnTo>
                    <a:pt x="2058805" y="0"/>
                  </a:lnTo>
                  <a:close/>
                </a:path>
              </a:pathLst>
            </a:custGeom>
            <a:solidFill>
              <a:srgbClr val="0C18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918517" y="877891"/>
              <a:ext cx="2160270" cy="1548130"/>
            </a:xfrm>
            <a:custGeom>
              <a:avLst/>
              <a:gdLst/>
              <a:ahLst/>
              <a:cxnLst/>
              <a:rect l="l" t="t" r="r" b="b"/>
              <a:pathLst>
                <a:path w="2160270" h="1548130">
                  <a:moveTo>
                    <a:pt x="2058805" y="0"/>
                  </a:moveTo>
                  <a:lnTo>
                    <a:pt x="101221" y="0"/>
                  </a:lnTo>
                  <a:lnTo>
                    <a:pt x="61821" y="7954"/>
                  </a:lnTo>
                  <a:lnTo>
                    <a:pt x="29646" y="29646"/>
                  </a:lnTo>
                  <a:lnTo>
                    <a:pt x="7954" y="61821"/>
                  </a:lnTo>
                  <a:lnTo>
                    <a:pt x="0" y="101221"/>
                  </a:lnTo>
                  <a:lnTo>
                    <a:pt x="0" y="1446798"/>
                  </a:lnTo>
                  <a:lnTo>
                    <a:pt x="7954" y="1486199"/>
                  </a:lnTo>
                  <a:lnTo>
                    <a:pt x="29646" y="1518373"/>
                  </a:lnTo>
                  <a:lnTo>
                    <a:pt x="61821" y="1540066"/>
                  </a:lnTo>
                  <a:lnTo>
                    <a:pt x="101221" y="1548020"/>
                  </a:lnTo>
                  <a:lnTo>
                    <a:pt x="2058805" y="1548020"/>
                  </a:lnTo>
                  <a:lnTo>
                    <a:pt x="2098206" y="1540066"/>
                  </a:lnTo>
                  <a:lnTo>
                    <a:pt x="2130380" y="1518373"/>
                  </a:lnTo>
                  <a:lnTo>
                    <a:pt x="2152073" y="1486199"/>
                  </a:lnTo>
                  <a:lnTo>
                    <a:pt x="2160027" y="1446798"/>
                  </a:lnTo>
                  <a:lnTo>
                    <a:pt x="2160027" y="101221"/>
                  </a:lnTo>
                  <a:lnTo>
                    <a:pt x="2152073" y="61821"/>
                  </a:lnTo>
                  <a:lnTo>
                    <a:pt x="2130380" y="29646"/>
                  </a:lnTo>
                  <a:lnTo>
                    <a:pt x="2098206" y="7954"/>
                  </a:lnTo>
                  <a:lnTo>
                    <a:pt x="2058805" y="0"/>
                  </a:lnTo>
                  <a:close/>
                </a:path>
              </a:pathLst>
            </a:custGeom>
            <a:ln w="5060">
              <a:solidFill>
                <a:srgbClr val="308C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3467430" y="1033727"/>
            <a:ext cx="106235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b="1" dirty="0">
                <a:solidFill>
                  <a:srgbClr val="F4F8FC"/>
                </a:solidFill>
                <a:latin typeface="Arial"/>
                <a:cs typeface="Arial"/>
              </a:rPr>
              <a:t>Monthly</a:t>
            </a:r>
            <a:r>
              <a:rPr sz="1100" b="1" spc="-25" dirty="0">
                <a:solidFill>
                  <a:srgbClr val="F4F8FC"/>
                </a:solidFill>
                <a:latin typeface="Arial"/>
                <a:cs typeface="Arial"/>
              </a:rPr>
              <a:t> </a:t>
            </a:r>
            <a:r>
              <a:rPr sz="1100" b="1" spc="-20" dirty="0">
                <a:solidFill>
                  <a:srgbClr val="F4F8FC"/>
                </a:solidFill>
                <a:latin typeface="Arial"/>
                <a:cs typeface="Arial"/>
              </a:rPr>
              <a:t>Budget</a:t>
            </a:r>
            <a:endParaRPr sz="1100">
              <a:latin typeface="Arial"/>
              <a:cs typeface="Arial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3278522" y="1385286"/>
            <a:ext cx="1440180" cy="101600"/>
            <a:chOff x="3278522" y="1385286"/>
            <a:chExt cx="1440180" cy="101600"/>
          </a:xfrm>
        </p:grpSpPr>
        <p:sp>
          <p:nvSpPr>
            <p:cNvPr id="10" name="object 10"/>
            <p:cNvSpPr/>
            <p:nvPr/>
          </p:nvSpPr>
          <p:spPr>
            <a:xfrm>
              <a:off x="4286535" y="1435897"/>
              <a:ext cx="432434" cy="0"/>
            </a:xfrm>
            <a:custGeom>
              <a:avLst/>
              <a:gdLst/>
              <a:ahLst/>
              <a:cxnLst/>
              <a:rect l="l" t="t" r="r" b="b"/>
              <a:pathLst>
                <a:path w="432435">
                  <a:moveTo>
                    <a:pt x="0" y="0"/>
                  </a:moveTo>
                  <a:lnTo>
                    <a:pt x="432004" y="0"/>
                  </a:lnTo>
                </a:path>
              </a:pathLst>
            </a:custGeom>
            <a:ln w="101221">
              <a:solidFill>
                <a:srgbClr val="64728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278522" y="1435897"/>
              <a:ext cx="1008380" cy="0"/>
            </a:xfrm>
            <a:custGeom>
              <a:avLst/>
              <a:gdLst/>
              <a:ahLst/>
              <a:cxnLst/>
              <a:rect l="l" t="t" r="r" b="b"/>
              <a:pathLst>
                <a:path w="1008379">
                  <a:moveTo>
                    <a:pt x="0" y="0"/>
                  </a:moveTo>
                  <a:lnTo>
                    <a:pt x="1008013" y="0"/>
                  </a:lnTo>
                </a:path>
              </a:pathLst>
            </a:custGeom>
            <a:ln w="101221">
              <a:solidFill>
                <a:srgbClr val="27D2D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3526980" y="1571039"/>
            <a:ext cx="943610" cy="6953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0"/>
              </a:spcBef>
            </a:pPr>
            <a:r>
              <a:rPr sz="1100" spc="-55" dirty="0">
                <a:solidFill>
                  <a:srgbClr val="A5B2C5"/>
                </a:solidFill>
                <a:latin typeface="Arial MT"/>
                <a:cs typeface="Arial MT"/>
              </a:rPr>
              <a:t>8,000</a:t>
            </a:r>
            <a:r>
              <a:rPr sz="1100" spc="30" dirty="0">
                <a:solidFill>
                  <a:srgbClr val="A5B2C5"/>
                </a:solidFill>
                <a:latin typeface="Arial MT"/>
                <a:cs typeface="Arial MT"/>
              </a:rPr>
              <a:t> </a:t>
            </a:r>
            <a:r>
              <a:rPr sz="1100" spc="240" dirty="0">
                <a:solidFill>
                  <a:srgbClr val="A5B2C5"/>
                </a:solidFill>
                <a:latin typeface="Arial MT"/>
                <a:cs typeface="Arial MT"/>
              </a:rPr>
              <a:t>/</a:t>
            </a:r>
            <a:r>
              <a:rPr sz="1100" spc="30" dirty="0">
                <a:solidFill>
                  <a:srgbClr val="A5B2C5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A5B2C5"/>
                </a:solidFill>
                <a:latin typeface="Arial MT"/>
                <a:cs typeface="Arial MT"/>
              </a:rPr>
              <a:t>12,000</a:t>
            </a:r>
            <a:endParaRPr sz="1100">
              <a:latin typeface="Arial MT"/>
              <a:cs typeface="Arial MT"/>
            </a:endParaRPr>
          </a:p>
          <a:p>
            <a:pPr algn="ctr">
              <a:lnSpc>
                <a:spcPct val="100000"/>
              </a:lnSpc>
              <a:spcBef>
                <a:spcPts val="770"/>
              </a:spcBef>
            </a:pPr>
            <a:r>
              <a:rPr sz="1100" b="1" spc="-10" dirty="0">
                <a:solidFill>
                  <a:srgbClr val="32CC81"/>
                </a:solidFill>
                <a:latin typeface="Arial"/>
                <a:cs typeface="Arial"/>
              </a:rPr>
              <a:t>NORMAL</a:t>
            </a:r>
            <a:endParaRPr sz="11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550"/>
              </a:spcBef>
            </a:pPr>
            <a:r>
              <a:rPr sz="1100" spc="-55" dirty="0">
                <a:solidFill>
                  <a:srgbClr val="A5B2C5"/>
                </a:solidFill>
                <a:latin typeface="Arial MT"/>
                <a:cs typeface="Arial MT"/>
              </a:rPr>
              <a:t>4,000</a:t>
            </a:r>
            <a:r>
              <a:rPr sz="1100" spc="5" dirty="0">
                <a:solidFill>
                  <a:srgbClr val="A5B2C5"/>
                </a:solidFill>
                <a:latin typeface="Arial MT"/>
                <a:cs typeface="Arial MT"/>
              </a:rPr>
              <a:t> </a:t>
            </a:r>
            <a:r>
              <a:rPr sz="1100" spc="-35" dirty="0">
                <a:solidFill>
                  <a:srgbClr val="A5B2C5"/>
                </a:solidFill>
                <a:latin typeface="Arial MT"/>
                <a:cs typeface="Arial MT"/>
              </a:rPr>
              <a:t>remaining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/>
              <a:t>FinPilot</a:t>
            </a:r>
            <a:r>
              <a:rPr spc="45" dirty="0"/>
              <a:t> </a:t>
            </a:r>
            <a:r>
              <a:rPr dirty="0"/>
              <a:t>—</a:t>
            </a:r>
            <a:r>
              <a:rPr spc="50" dirty="0"/>
              <a:t> </a:t>
            </a:r>
            <a:r>
              <a:rPr dirty="0"/>
              <a:t>AI</a:t>
            </a:r>
            <a:r>
              <a:rPr spc="55" dirty="0"/>
              <a:t> </a:t>
            </a:r>
            <a:r>
              <a:rPr spc="-20" dirty="0"/>
              <a:t>Personal</a:t>
            </a:r>
            <a:r>
              <a:rPr spc="50" dirty="0"/>
              <a:t> </a:t>
            </a:r>
            <a:r>
              <a:rPr spc="-20" dirty="0"/>
              <a:t>Finance</a:t>
            </a:r>
            <a:r>
              <a:rPr spc="55" dirty="0"/>
              <a:t> </a:t>
            </a:r>
            <a:r>
              <a:rPr spc="-10" dirty="0"/>
              <a:t>Decision</a:t>
            </a:r>
            <a:r>
              <a:rPr spc="50" dirty="0"/>
              <a:t> </a:t>
            </a:r>
            <a:r>
              <a:rPr dirty="0"/>
              <a:t>Support</a:t>
            </a:r>
            <a:r>
              <a:rPr spc="45" dirty="0"/>
              <a:t> </a:t>
            </a:r>
            <a:r>
              <a:rPr spc="-10" dirty="0"/>
              <a:t>Agent</a:t>
            </a:r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pc="-25" dirty="0"/>
              <a:t>15</a:t>
            </a:r>
          </a:p>
        </p:txBody>
      </p:sp>
    </p:spTree>
  </p:cSld>
  <p:clrMapOvr>
    <a:masterClrMapping/>
  </p:clrMapOvr>
  <p:transition>
    <p:cut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Financial</a:t>
            </a:r>
            <a:r>
              <a:rPr spc="160" dirty="0"/>
              <a:t> </a:t>
            </a:r>
            <a:r>
              <a:rPr dirty="0"/>
              <a:t>Goal</a:t>
            </a:r>
            <a:r>
              <a:rPr spc="165" dirty="0"/>
              <a:t> </a:t>
            </a:r>
            <a:r>
              <a:rPr spc="-10" dirty="0"/>
              <a:t>Planning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11302" y="459136"/>
            <a:ext cx="1760855" cy="2400300"/>
          </a:xfrm>
          <a:prstGeom prst="rect">
            <a:avLst/>
          </a:prstGeom>
        </p:spPr>
        <p:txBody>
          <a:bodyPr vert="horz" wrap="square" lIns="0" tIns="131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35"/>
              </a:spcBef>
            </a:pPr>
            <a:r>
              <a:rPr sz="1400" b="1" spc="-10" dirty="0">
                <a:solidFill>
                  <a:srgbClr val="27D2DC"/>
                </a:solidFill>
                <a:latin typeface="Arial"/>
                <a:cs typeface="Arial"/>
              </a:rPr>
              <a:t>User-</a:t>
            </a:r>
            <a:r>
              <a:rPr sz="1400" b="1" dirty="0">
                <a:solidFill>
                  <a:srgbClr val="27D2DC"/>
                </a:solidFill>
                <a:latin typeface="Arial"/>
                <a:cs typeface="Arial"/>
              </a:rPr>
              <a:t>defined</a:t>
            </a:r>
            <a:r>
              <a:rPr sz="1400" b="1" spc="155" dirty="0">
                <a:solidFill>
                  <a:srgbClr val="27D2DC"/>
                </a:solidFill>
                <a:latin typeface="Arial"/>
                <a:cs typeface="Arial"/>
              </a:rPr>
              <a:t> </a:t>
            </a:r>
            <a:r>
              <a:rPr sz="1400" b="1" spc="-20" dirty="0">
                <a:solidFill>
                  <a:srgbClr val="27D2DC"/>
                </a:solidFill>
                <a:latin typeface="Arial"/>
                <a:cs typeface="Arial"/>
              </a:rPr>
              <a:t>goals</a:t>
            </a:r>
            <a:endParaRPr sz="1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85"/>
              </a:spcBef>
            </a:pPr>
            <a:r>
              <a:rPr sz="1100" spc="-10" dirty="0">
                <a:solidFill>
                  <a:srgbClr val="F4F8FC"/>
                </a:solidFill>
                <a:latin typeface="Arial MT"/>
                <a:cs typeface="Arial MT"/>
              </a:rPr>
              <a:t>Examples:</a:t>
            </a:r>
            <a:endParaRPr sz="1100">
              <a:latin typeface="Arial MT"/>
              <a:cs typeface="Arial MT"/>
            </a:endParaRPr>
          </a:p>
          <a:p>
            <a:pPr marL="287020" indent="-207645">
              <a:lnSpc>
                <a:spcPct val="100000"/>
              </a:lnSpc>
              <a:spcBef>
                <a:spcPts val="330"/>
              </a:spcBef>
              <a:buClr>
                <a:srgbClr val="27D2DC"/>
              </a:buClr>
              <a:buSzPct val="90909"/>
              <a:buFont typeface="Lucida Sans Unicode"/>
              <a:buChar char="►"/>
              <a:tabLst>
                <a:tab pos="287020" algn="l"/>
              </a:tabLst>
            </a:pPr>
            <a:r>
              <a:rPr sz="1100" spc="-70" dirty="0">
                <a:solidFill>
                  <a:srgbClr val="F4F8FC"/>
                </a:solidFill>
                <a:latin typeface="Arial MT"/>
                <a:cs typeface="Arial MT"/>
              </a:rPr>
              <a:t>Emergency</a:t>
            </a:r>
            <a:r>
              <a:rPr sz="1100" spc="15" dirty="0">
                <a:solidFill>
                  <a:srgbClr val="F4F8FC"/>
                </a:solidFill>
                <a:latin typeface="Arial MT"/>
                <a:cs typeface="Arial MT"/>
              </a:rPr>
              <a:t> </a:t>
            </a:r>
            <a:r>
              <a:rPr sz="1100" spc="-20" dirty="0">
                <a:solidFill>
                  <a:srgbClr val="F4F8FC"/>
                </a:solidFill>
                <a:latin typeface="Arial MT"/>
                <a:cs typeface="Arial MT"/>
              </a:rPr>
              <a:t>fund</a:t>
            </a:r>
            <a:endParaRPr sz="1100">
              <a:latin typeface="Arial MT"/>
              <a:cs typeface="Arial MT"/>
            </a:endParaRPr>
          </a:p>
          <a:p>
            <a:pPr marL="287020" indent="-207645">
              <a:lnSpc>
                <a:spcPct val="100000"/>
              </a:lnSpc>
              <a:spcBef>
                <a:spcPts val="335"/>
              </a:spcBef>
              <a:buClr>
                <a:srgbClr val="27D2DC"/>
              </a:buClr>
              <a:buSzPct val="90909"/>
              <a:buFont typeface="Lucida Sans Unicode"/>
              <a:buChar char="►"/>
              <a:tabLst>
                <a:tab pos="287020" algn="l"/>
              </a:tabLst>
            </a:pPr>
            <a:r>
              <a:rPr sz="1100" spc="-30" dirty="0">
                <a:solidFill>
                  <a:srgbClr val="F4F8FC"/>
                </a:solidFill>
                <a:latin typeface="Arial MT"/>
                <a:cs typeface="Arial MT"/>
              </a:rPr>
              <a:t>Laptop </a:t>
            </a:r>
            <a:r>
              <a:rPr sz="1100" spc="-10" dirty="0">
                <a:solidFill>
                  <a:srgbClr val="F4F8FC"/>
                </a:solidFill>
                <a:latin typeface="Arial MT"/>
                <a:cs typeface="Arial MT"/>
              </a:rPr>
              <a:t>purchase</a:t>
            </a:r>
            <a:endParaRPr sz="1100">
              <a:latin typeface="Arial MT"/>
              <a:cs typeface="Arial MT"/>
            </a:endParaRPr>
          </a:p>
          <a:p>
            <a:pPr marL="287020" indent="-207645">
              <a:lnSpc>
                <a:spcPct val="100000"/>
              </a:lnSpc>
              <a:spcBef>
                <a:spcPts val="335"/>
              </a:spcBef>
              <a:buClr>
                <a:srgbClr val="27D2DC"/>
              </a:buClr>
              <a:buSzPct val="90909"/>
              <a:buFont typeface="Lucida Sans Unicode"/>
              <a:buChar char="►"/>
              <a:tabLst>
                <a:tab pos="287020" algn="l"/>
              </a:tabLst>
            </a:pPr>
            <a:r>
              <a:rPr sz="1100" spc="-45" dirty="0">
                <a:solidFill>
                  <a:srgbClr val="F4F8FC"/>
                </a:solidFill>
                <a:latin typeface="Arial MT"/>
                <a:cs typeface="Arial MT"/>
              </a:rPr>
              <a:t>Travel</a:t>
            </a:r>
            <a:r>
              <a:rPr sz="1100" spc="-15" dirty="0">
                <a:solidFill>
                  <a:srgbClr val="F4F8FC"/>
                </a:solidFill>
                <a:latin typeface="Arial MT"/>
                <a:cs typeface="Arial MT"/>
              </a:rPr>
              <a:t> </a:t>
            </a:r>
            <a:r>
              <a:rPr sz="1100" spc="-20" dirty="0">
                <a:solidFill>
                  <a:srgbClr val="F4F8FC"/>
                </a:solidFill>
                <a:latin typeface="Arial MT"/>
                <a:cs typeface="Arial MT"/>
              </a:rPr>
              <a:t>fund</a:t>
            </a:r>
            <a:endParaRPr sz="1100">
              <a:latin typeface="Arial MT"/>
              <a:cs typeface="Arial MT"/>
            </a:endParaRPr>
          </a:p>
          <a:p>
            <a:pPr marL="287020" indent="-207645">
              <a:lnSpc>
                <a:spcPct val="100000"/>
              </a:lnSpc>
              <a:spcBef>
                <a:spcPts val="335"/>
              </a:spcBef>
              <a:buClr>
                <a:srgbClr val="27D2DC"/>
              </a:buClr>
              <a:buSzPct val="90909"/>
              <a:buFont typeface="Lucida Sans Unicode"/>
              <a:buChar char="►"/>
              <a:tabLst>
                <a:tab pos="287020" algn="l"/>
              </a:tabLst>
            </a:pPr>
            <a:r>
              <a:rPr sz="1100" spc="-55" dirty="0">
                <a:solidFill>
                  <a:srgbClr val="F4F8FC"/>
                </a:solidFill>
                <a:latin typeface="Arial MT"/>
                <a:cs typeface="Arial MT"/>
              </a:rPr>
              <a:t>Short-</a:t>
            </a:r>
            <a:r>
              <a:rPr sz="1100" dirty="0">
                <a:solidFill>
                  <a:srgbClr val="F4F8FC"/>
                </a:solidFill>
                <a:latin typeface="Arial MT"/>
                <a:cs typeface="Arial MT"/>
              </a:rPr>
              <a:t>term</a:t>
            </a:r>
            <a:r>
              <a:rPr sz="1100" spc="45" dirty="0">
                <a:solidFill>
                  <a:srgbClr val="F4F8FC"/>
                </a:solidFill>
                <a:latin typeface="Arial MT"/>
                <a:cs typeface="Arial MT"/>
              </a:rPr>
              <a:t> </a:t>
            </a:r>
            <a:r>
              <a:rPr sz="1100" spc="-85" dirty="0">
                <a:solidFill>
                  <a:srgbClr val="F4F8FC"/>
                </a:solidFill>
                <a:latin typeface="Arial MT"/>
                <a:cs typeface="Arial MT"/>
              </a:rPr>
              <a:t>savings</a:t>
            </a:r>
            <a:r>
              <a:rPr sz="1100" spc="50" dirty="0">
                <a:solidFill>
                  <a:srgbClr val="F4F8FC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F4F8FC"/>
                </a:solidFill>
                <a:latin typeface="Arial MT"/>
                <a:cs typeface="Arial MT"/>
              </a:rPr>
              <a:t>target</a:t>
            </a:r>
            <a:endParaRPr sz="11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185"/>
              </a:spcBef>
            </a:pPr>
            <a:r>
              <a:rPr sz="1100" spc="-65" dirty="0">
                <a:solidFill>
                  <a:srgbClr val="F4F8FC"/>
                </a:solidFill>
                <a:latin typeface="Arial MT"/>
                <a:cs typeface="Arial MT"/>
              </a:rPr>
              <a:t>Goal</a:t>
            </a:r>
            <a:r>
              <a:rPr sz="1100" spc="5" dirty="0">
                <a:solidFill>
                  <a:srgbClr val="F4F8FC"/>
                </a:solidFill>
                <a:latin typeface="Arial MT"/>
                <a:cs typeface="Arial MT"/>
              </a:rPr>
              <a:t> </a:t>
            </a:r>
            <a:r>
              <a:rPr sz="1100" spc="-40" dirty="0">
                <a:solidFill>
                  <a:srgbClr val="F4F8FC"/>
                </a:solidFill>
                <a:latin typeface="Arial MT"/>
                <a:cs typeface="Arial MT"/>
              </a:rPr>
              <a:t>simulation</a:t>
            </a:r>
            <a:r>
              <a:rPr sz="1100" spc="5" dirty="0">
                <a:solidFill>
                  <a:srgbClr val="F4F8FC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F4F8FC"/>
                </a:solidFill>
                <a:latin typeface="Arial MT"/>
                <a:cs typeface="Arial MT"/>
              </a:rPr>
              <a:t>considers:</a:t>
            </a:r>
            <a:endParaRPr sz="1100">
              <a:latin typeface="Arial MT"/>
              <a:cs typeface="Arial MT"/>
            </a:endParaRPr>
          </a:p>
          <a:p>
            <a:pPr marL="287020" indent="-207645">
              <a:lnSpc>
                <a:spcPct val="100000"/>
              </a:lnSpc>
              <a:spcBef>
                <a:spcPts val="330"/>
              </a:spcBef>
              <a:buClr>
                <a:srgbClr val="27D2DC"/>
              </a:buClr>
              <a:buSzPct val="90909"/>
              <a:buFont typeface="Lucida Sans Unicode"/>
              <a:buChar char="►"/>
              <a:tabLst>
                <a:tab pos="287020" algn="l"/>
              </a:tabLst>
            </a:pPr>
            <a:r>
              <a:rPr sz="1100" spc="-35" dirty="0">
                <a:solidFill>
                  <a:srgbClr val="F4F8FC"/>
                </a:solidFill>
                <a:latin typeface="Arial MT"/>
                <a:cs typeface="Arial MT"/>
              </a:rPr>
              <a:t>Target</a:t>
            </a:r>
            <a:r>
              <a:rPr sz="1100" spc="-25" dirty="0">
                <a:solidFill>
                  <a:srgbClr val="F4F8FC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F4F8FC"/>
                </a:solidFill>
                <a:latin typeface="Arial MT"/>
                <a:cs typeface="Arial MT"/>
              </a:rPr>
              <a:t>amount</a:t>
            </a:r>
            <a:endParaRPr sz="1100">
              <a:latin typeface="Arial MT"/>
              <a:cs typeface="Arial MT"/>
            </a:endParaRPr>
          </a:p>
          <a:p>
            <a:pPr marL="287020" indent="-207645">
              <a:lnSpc>
                <a:spcPct val="100000"/>
              </a:lnSpc>
              <a:spcBef>
                <a:spcPts val="335"/>
              </a:spcBef>
              <a:buClr>
                <a:srgbClr val="27D2DC"/>
              </a:buClr>
              <a:buSzPct val="90909"/>
              <a:buFont typeface="Lucida Sans Unicode"/>
              <a:buChar char="►"/>
              <a:tabLst>
                <a:tab pos="287020" algn="l"/>
              </a:tabLst>
            </a:pPr>
            <a:r>
              <a:rPr sz="1100" spc="-30" dirty="0">
                <a:solidFill>
                  <a:srgbClr val="F4F8FC"/>
                </a:solidFill>
                <a:latin typeface="Arial MT"/>
                <a:cs typeface="Arial MT"/>
              </a:rPr>
              <a:t>Current</a:t>
            </a:r>
            <a:r>
              <a:rPr sz="1100" spc="-25" dirty="0">
                <a:solidFill>
                  <a:srgbClr val="F4F8FC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F4F8FC"/>
                </a:solidFill>
                <a:latin typeface="Arial MT"/>
                <a:cs typeface="Arial MT"/>
              </a:rPr>
              <a:t>savings</a:t>
            </a:r>
            <a:endParaRPr sz="1100">
              <a:latin typeface="Arial MT"/>
              <a:cs typeface="Arial MT"/>
            </a:endParaRPr>
          </a:p>
          <a:p>
            <a:pPr marL="287020" indent="-207645">
              <a:lnSpc>
                <a:spcPct val="100000"/>
              </a:lnSpc>
              <a:spcBef>
                <a:spcPts val="335"/>
              </a:spcBef>
              <a:buClr>
                <a:srgbClr val="27D2DC"/>
              </a:buClr>
              <a:buSzPct val="90909"/>
              <a:buFont typeface="Lucida Sans Unicode"/>
              <a:buChar char="►"/>
              <a:tabLst>
                <a:tab pos="287020" algn="l"/>
              </a:tabLst>
            </a:pPr>
            <a:r>
              <a:rPr sz="1100" dirty="0">
                <a:solidFill>
                  <a:srgbClr val="F4F8FC"/>
                </a:solidFill>
                <a:latin typeface="Arial MT"/>
                <a:cs typeface="Arial MT"/>
              </a:rPr>
              <a:t>Monthly</a:t>
            </a:r>
            <a:r>
              <a:rPr sz="1100" spc="-70" dirty="0">
                <a:solidFill>
                  <a:srgbClr val="F4F8FC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F4F8FC"/>
                </a:solidFill>
                <a:latin typeface="Arial MT"/>
                <a:cs typeface="Arial MT"/>
              </a:rPr>
              <a:t>net</a:t>
            </a:r>
            <a:r>
              <a:rPr sz="1100" spc="-40" dirty="0">
                <a:solidFill>
                  <a:srgbClr val="F4F8FC"/>
                </a:solidFill>
                <a:latin typeface="Arial MT"/>
                <a:cs typeface="Arial MT"/>
              </a:rPr>
              <a:t> </a:t>
            </a:r>
            <a:r>
              <a:rPr sz="1100" spc="-90" dirty="0">
                <a:solidFill>
                  <a:srgbClr val="F4F8FC"/>
                </a:solidFill>
                <a:latin typeface="Arial MT"/>
                <a:cs typeface="Arial MT"/>
              </a:rPr>
              <a:t>cash</a:t>
            </a:r>
            <a:r>
              <a:rPr sz="1100" spc="15" dirty="0">
                <a:solidFill>
                  <a:srgbClr val="F4F8FC"/>
                </a:solidFill>
                <a:latin typeface="Arial MT"/>
                <a:cs typeface="Arial MT"/>
              </a:rPr>
              <a:t> </a:t>
            </a:r>
            <a:r>
              <a:rPr sz="1100" spc="-20" dirty="0">
                <a:solidFill>
                  <a:srgbClr val="F4F8FC"/>
                </a:solidFill>
                <a:latin typeface="Arial MT"/>
                <a:cs typeface="Arial MT"/>
              </a:rPr>
              <a:t>flow</a:t>
            </a:r>
            <a:endParaRPr sz="1100">
              <a:latin typeface="Arial MT"/>
              <a:cs typeface="Arial MT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3067167" y="639420"/>
            <a:ext cx="1985645" cy="1589405"/>
            <a:chOff x="3067167" y="639420"/>
            <a:chExt cx="1985645" cy="1589405"/>
          </a:xfrm>
        </p:grpSpPr>
        <p:sp>
          <p:nvSpPr>
            <p:cNvPr id="5" name="object 5"/>
            <p:cNvSpPr/>
            <p:nvPr/>
          </p:nvSpPr>
          <p:spPr>
            <a:xfrm>
              <a:off x="3069707" y="641960"/>
              <a:ext cx="1980564" cy="1584325"/>
            </a:xfrm>
            <a:custGeom>
              <a:avLst/>
              <a:gdLst/>
              <a:ahLst/>
              <a:cxnLst/>
              <a:rect l="l" t="t" r="r" b="b"/>
              <a:pathLst>
                <a:path w="1980564" h="1584325">
                  <a:moveTo>
                    <a:pt x="1878803" y="0"/>
                  </a:moveTo>
                  <a:lnTo>
                    <a:pt x="101221" y="0"/>
                  </a:lnTo>
                  <a:lnTo>
                    <a:pt x="61821" y="7954"/>
                  </a:lnTo>
                  <a:lnTo>
                    <a:pt x="29646" y="29646"/>
                  </a:lnTo>
                  <a:lnTo>
                    <a:pt x="7954" y="61821"/>
                  </a:lnTo>
                  <a:lnTo>
                    <a:pt x="0" y="101221"/>
                  </a:lnTo>
                  <a:lnTo>
                    <a:pt x="0" y="1482795"/>
                  </a:lnTo>
                  <a:lnTo>
                    <a:pt x="7954" y="1522196"/>
                  </a:lnTo>
                  <a:lnTo>
                    <a:pt x="29646" y="1554370"/>
                  </a:lnTo>
                  <a:lnTo>
                    <a:pt x="61821" y="1576063"/>
                  </a:lnTo>
                  <a:lnTo>
                    <a:pt x="101221" y="1584017"/>
                  </a:lnTo>
                  <a:lnTo>
                    <a:pt x="1878803" y="1584017"/>
                  </a:lnTo>
                  <a:lnTo>
                    <a:pt x="1918203" y="1576063"/>
                  </a:lnTo>
                  <a:lnTo>
                    <a:pt x="1950378" y="1554370"/>
                  </a:lnTo>
                  <a:lnTo>
                    <a:pt x="1972070" y="1522196"/>
                  </a:lnTo>
                  <a:lnTo>
                    <a:pt x="1980025" y="1482795"/>
                  </a:lnTo>
                  <a:lnTo>
                    <a:pt x="1980025" y="101221"/>
                  </a:lnTo>
                  <a:lnTo>
                    <a:pt x="1972070" y="61821"/>
                  </a:lnTo>
                  <a:lnTo>
                    <a:pt x="1950378" y="29646"/>
                  </a:lnTo>
                  <a:lnTo>
                    <a:pt x="1918203" y="7954"/>
                  </a:lnTo>
                  <a:lnTo>
                    <a:pt x="1878803" y="0"/>
                  </a:lnTo>
                  <a:close/>
                </a:path>
              </a:pathLst>
            </a:custGeom>
            <a:solidFill>
              <a:srgbClr val="0C18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069707" y="641960"/>
              <a:ext cx="1980564" cy="1584325"/>
            </a:xfrm>
            <a:custGeom>
              <a:avLst/>
              <a:gdLst/>
              <a:ahLst/>
              <a:cxnLst/>
              <a:rect l="l" t="t" r="r" b="b"/>
              <a:pathLst>
                <a:path w="1980564" h="1584325">
                  <a:moveTo>
                    <a:pt x="1878803" y="0"/>
                  </a:moveTo>
                  <a:lnTo>
                    <a:pt x="101221" y="0"/>
                  </a:lnTo>
                  <a:lnTo>
                    <a:pt x="61821" y="7954"/>
                  </a:lnTo>
                  <a:lnTo>
                    <a:pt x="29646" y="29646"/>
                  </a:lnTo>
                  <a:lnTo>
                    <a:pt x="7954" y="61821"/>
                  </a:lnTo>
                  <a:lnTo>
                    <a:pt x="0" y="101221"/>
                  </a:lnTo>
                  <a:lnTo>
                    <a:pt x="0" y="1482795"/>
                  </a:lnTo>
                  <a:lnTo>
                    <a:pt x="7954" y="1522196"/>
                  </a:lnTo>
                  <a:lnTo>
                    <a:pt x="29646" y="1554370"/>
                  </a:lnTo>
                  <a:lnTo>
                    <a:pt x="61821" y="1576063"/>
                  </a:lnTo>
                  <a:lnTo>
                    <a:pt x="101221" y="1584017"/>
                  </a:lnTo>
                  <a:lnTo>
                    <a:pt x="1878803" y="1584017"/>
                  </a:lnTo>
                  <a:lnTo>
                    <a:pt x="1918203" y="1576063"/>
                  </a:lnTo>
                  <a:lnTo>
                    <a:pt x="1950378" y="1554370"/>
                  </a:lnTo>
                  <a:lnTo>
                    <a:pt x="1972070" y="1522196"/>
                  </a:lnTo>
                  <a:lnTo>
                    <a:pt x="1980025" y="1482795"/>
                  </a:lnTo>
                  <a:lnTo>
                    <a:pt x="1980025" y="101221"/>
                  </a:lnTo>
                  <a:lnTo>
                    <a:pt x="1972070" y="61821"/>
                  </a:lnTo>
                  <a:lnTo>
                    <a:pt x="1950378" y="29646"/>
                  </a:lnTo>
                  <a:lnTo>
                    <a:pt x="1918203" y="7954"/>
                  </a:lnTo>
                  <a:lnTo>
                    <a:pt x="1878803" y="0"/>
                  </a:lnTo>
                  <a:close/>
                </a:path>
              </a:pathLst>
            </a:custGeom>
            <a:ln w="5060">
              <a:solidFill>
                <a:srgbClr val="32CC8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3639781" y="732495"/>
            <a:ext cx="840105" cy="709295"/>
          </a:xfrm>
          <a:prstGeom prst="rect">
            <a:avLst/>
          </a:prstGeom>
        </p:spPr>
        <p:txBody>
          <a:bodyPr vert="horz" wrap="square" lIns="0" tIns="9461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745"/>
              </a:spcBef>
            </a:pPr>
            <a:r>
              <a:rPr sz="1100" b="1" spc="-60" dirty="0">
                <a:solidFill>
                  <a:srgbClr val="F4F8FC"/>
                </a:solidFill>
                <a:latin typeface="Arial"/>
                <a:cs typeface="Arial"/>
              </a:rPr>
              <a:t>Savings</a:t>
            </a:r>
            <a:r>
              <a:rPr sz="1100" b="1" spc="5" dirty="0">
                <a:solidFill>
                  <a:srgbClr val="F4F8FC"/>
                </a:solidFill>
                <a:latin typeface="Arial"/>
                <a:cs typeface="Arial"/>
              </a:rPr>
              <a:t> </a:t>
            </a:r>
            <a:r>
              <a:rPr sz="1100" b="1" spc="-20" dirty="0">
                <a:solidFill>
                  <a:srgbClr val="F4F8FC"/>
                </a:solidFill>
                <a:latin typeface="Arial"/>
                <a:cs typeface="Arial"/>
              </a:rPr>
              <a:t>Goal</a:t>
            </a:r>
            <a:endParaRPr sz="1100">
              <a:latin typeface="Arial"/>
              <a:cs typeface="Arial"/>
            </a:endParaRPr>
          </a:p>
          <a:p>
            <a:pPr algn="ctr">
              <a:lnSpc>
                <a:spcPts val="1200"/>
              </a:lnSpc>
              <a:spcBef>
                <a:spcPts val="645"/>
              </a:spcBef>
            </a:pPr>
            <a:r>
              <a:rPr sz="1100" spc="-10" dirty="0">
                <a:solidFill>
                  <a:srgbClr val="A5B2C5"/>
                </a:solidFill>
                <a:latin typeface="Arial MT"/>
                <a:cs typeface="Arial MT"/>
              </a:rPr>
              <a:t>Target</a:t>
            </a:r>
            <a:endParaRPr sz="1100">
              <a:latin typeface="Arial MT"/>
              <a:cs typeface="Arial MT"/>
            </a:endParaRPr>
          </a:p>
          <a:p>
            <a:pPr algn="ctr">
              <a:lnSpc>
                <a:spcPts val="1560"/>
              </a:lnSpc>
            </a:pPr>
            <a:r>
              <a:rPr sz="1400" spc="-10" dirty="0">
                <a:solidFill>
                  <a:srgbClr val="27D2DC"/>
                </a:solidFill>
                <a:latin typeface="Arial MT"/>
                <a:cs typeface="Arial MT"/>
              </a:rPr>
              <a:t>60,000</a:t>
            </a:r>
            <a:endParaRPr sz="1400">
              <a:latin typeface="Arial MT"/>
              <a:cs typeface="Arial MT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3411711" y="1527358"/>
            <a:ext cx="1296035" cy="101600"/>
            <a:chOff x="3411711" y="1527358"/>
            <a:chExt cx="1296035" cy="101600"/>
          </a:xfrm>
        </p:grpSpPr>
        <p:sp>
          <p:nvSpPr>
            <p:cNvPr id="9" name="object 9"/>
            <p:cNvSpPr/>
            <p:nvPr/>
          </p:nvSpPr>
          <p:spPr>
            <a:xfrm>
              <a:off x="4131719" y="1577969"/>
              <a:ext cx="576580" cy="0"/>
            </a:xfrm>
            <a:custGeom>
              <a:avLst/>
              <a:gdLst/>
              <a:ahLst/>
              <a:cxnLst/>
              <a:rect l="l" t="t" r="r" b="b"/>
              <a:pathLst>
                <a:path w="576579">
                  <a:moveTo>
                    <a:pt x="0" y="0"/>
                  </a:moveTo>
                  <a:lnTo>
                    <a:pt x="576009" y="0"/>
                  </a:lnTo>
                </a:path>
              </a:pathLst>
            </a:custGeom>
            <a:ln w="101221">
              <a:solidFill>
                <a:srgbClr val="64728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411711" y="1577969"/>
              <a:ext cx="720090" cy="0"/>
            </a:xfrm>
            <a:custGeom>
              <a:avLst/>
              <a:gdLst/>
              <a:ahLst/>
              <a:cxnLst/>
              <a:rect l="l" t="t" r="r" b="b"/>
              <a:pathLst>
                <a:path w="720089">
                  <a:moveTo>
                    <a:pt x="0" y="0"/>
                  </a:moveTo>
                  <a:lnTo>
                    <a:pt x="720008" y="0"/>
                  </a:lnTo>
                </a:path>
              </a:pathLst>
            </a:custGeom>
            <a:ln w="101221">
              <a:solidFill>
                <a:srgbClr val="32CC8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3574580" y="1677351"/>
            <a:ext cx="97091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30" dirty="0">
                <a:solidFill>
                  <a:srgbClr val="A5B2C5"/>
                </a:solidFill>
                <a:latin typeface="Arial MT"/>
                <a:cs typeface="Arial MT"/>
              </a:rPr>
              <a:t>Current</a:t>
            </a:r>
            <a:r>
              <a:rPr sz="1100" spc="-25" dirty="0">
                <a:solidFill>
                  <a:srgbClr val="A5B2C5"/>
                </a:solidFill>
                <a:latin typeface="Arial MT"/>
                <a:cs typeface="Arial MT"/>
              </a:rPr>
              <a:t> </a:t>
            </a:r>
            <a:r>
              <a:rPr sz="1100" spc="-70" dirty="0">
                <a:solidFill>
                  <a:srgbClr val="A5B2C5"/>
                </a:solidFill>
                <a:latin typeface="Arial MT"/>
                <a:cs typeface="Arial MT"/>
              </a:rPr>
              <a:t>progress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/>
              <a:t>FinPilot</a:t>
            </a:r>
            <a:r>
              <a:rPr spc="45" dirty="0"/>
              <a:t> </a:t>
            </a:r>
            <a:r>
              <a:rPr dirty="0"/>
              <a:t>—</a:t>
            </a:r>
            <a:r>
              <a:rPr spc="50" dirty="0"/>
              <a:t> </a:t>
            </a:r>
            <a:r>
              <a:rPr dirty="0"/>
              <a:t>AI</a:t>
            </a:r>
            <a:r>
              <a:rPr spc="55" dirty="0"/>
              <a:t> </a:t>
            </a:r>
            <a:r>
              <a:rPr spc="-20" dirty="0"/>
              <a:t>Personal</a:t>
            </a:r>
            <a:r>
              <a:rPr spc="50" dirty="0"/>
              <a:t> </a:t>
            </a:r>
            <a:r>
              <a:rPr spc="-20" dirty="0"/>
              <a:t>Finance</a:t>
            </a:r>
            <a:r>
              <a:rPr spc="55" dirty="0"/>
              <a:t> </a:t>
            </a:r>
            <a:r>
              <a:rPr spc="-10" dirty="0"/>
              <a:t>Decision</a:t>
            </a:r>
            <a:r>
              <a:rPr spc="50" dirty="0"/>
              <a:t> </a:t>
            </a:r>
            <a:r>
              <a:rPr dirty="0"/>
              <a:t>Support</a:t>
            </a:r>
            <a:r>
              <a:rPr spc="45" dirty="0"/>
              <a:t> </a:t>
            </a:r>
            <a:r>
              <a:rPr spc="-10" dirty="0"/>
              <a:t>Agent</a:t>
            </a: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pc="-25" dirty="0"/>
              <a:t>16</a:t>
            </a:r>
          </a:p>
        </p:txBody>
      </p:sp>
    </p:spTree>
  </p:cSld>
  <p:clrMapOvr>
    <a:masterClrMapping/>
  </p:clrMapOvr>
  <p:transition>
    <p:cut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90" dirty="0"/>
              <a:t>What-</a:t>
            </a:r>
            <a:r>
              <a:rPr spc="50" dirty="0"/>
              <a:t>If</a:t>
            </a:r>
            <a:r>
              <a:rPr spc="160" dirty="0"/>
              <a:t> </a:t>
            </a:r>
            <a:r>
              <a:rPr dirty="0"/>
              <a:t>Goal</a:t>
            </a:r>
            <a:r>
              <a:rPr spc="160" dirty="0"/>
              <a:t> </a:t>
            </a:r>
            <a:r>
              <a:rPr spc="-10" dirty="0"/>
              <a:t>Simulator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077441" y="651983"/>
            <a:ext cx="3605529" cy="1553210"/>
            <a:chOff x="1077441" y="651983"/>
            <a:chExt cx="3605529" cy="1553210"/>
          </a:xfrm>
        </p:grpSpPr>
        <p:sp>
          <p:nvSpPr>
            <p:cNvPr id="4" name="object 4"/>
            <p:cNvSpPr/>
            <p:nvPr/>
          </p:nvSpPr>
          <p:spPr>
            <a:xfrm>
              <a:off x="1079981" y="654523"/>
              <a:ext cx="3600450" cy="1548130"/>
            </a:xfrm>
            <a:custGeom>
              <a:avLst/>
              <a:gdLst/>
              <a:ahLst/>
              <a:cxnLst/>
              <a:rect l="l" t="t" r="r" b="b"/>
              <a:pathLst>
                <a:path w="3600450" h="1548130">
                  <a:moveTo>
                    <a:pt x="3498824" y="0"/>
                  </a:moveTo>
                  <a:lnTo>
                    <a:pt x="101221" y="0"/>
                  </a:lnTo>
                  <a:lnTo>
                    <a:pt x="61821" y="7954"/>
                  </a:lnTo>
                  <a:lnTo>
                    <a:pt x="29646" y="29646"/>
                  </a:lnTo>
                  <a:lnTo>
                    <a:pt x="7954" y="61821"/>
                  </a:lnTo>
                  <a:lnTo>
                    <a:pt x="0" y="101221"/>
                  </a:lnTo>
                  <a:lnTo>
                    <a:pt x="0" y="1446798"/>
                  </a:lnTo>
                  <a:lnTo>
                    <a:pt x="7954" y="1486199"/>
                  </a:lnTo>
                  <a:lnTo>
                    <a:pt x="29646" y="1518373"/>
                  </a:lnTo>
                  <a:lnTo>
                    <a:pt x="61821" y="1540066"/>
                  </a:lnTo>
                  <a:lnTo>
                    <a:pt x="101221" y="1548020"/>
                  </a:lnTo>
                  <a:lnTo>
                    <a:pt x="3498824" y="1548020"/>
                  </a:lnTo>
                  <a:lnTo>
                    <a:pt x="3538224" y="1540066"/>
                  </a:lnTo>
                  <a:lnTo>
                    <a:pt x="3570399" y="1518373"/>
                  </a:lnTo>
                  <a:lnTo>
                    <a:pt x="3592091" y="1486199"/>
                  </a:lnTo>
                  <a:lnTo>
                    <a:pt x="3600046" y="1446798"/>
                  </a:lnTo>
                  <a:lnTo>
                    <a:pt x="3600046" y="101221"/>
                  </a:lnTo>
                  <a:lnTo>
                    <a:pt x="3592091" y="61821"/>
                  </a:lnTo>
                  <a:lnTo>
                    <a:pt x="3570399" y="29646"/>
                  </a:lnTo>
                  <a:lnTo>
                    <a:pt x="3538224" y="7954"/>
                  </a:lnTo>
                  <a:lnTo>
                    <a:pt x="3498824" y="0"/>
                  </a:lnTo>
                  <a:close/>
                </a:path>
              </a:pathLst>
            </a:custGeom>
            <a:solidFill>
              <a:srgbClr val="0C18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079981" y="654523"/>
              <a:ext cx="3600450" cy="1548130"/>
            </a:xfrm>
            <a:custGeom>
              <a:avLst/>
              <a:gdLst/>
              <a:ahLst/>
              <a:cxnLst/>
              <a:rect l="l" t="t" r="r" b="b"/>
              <a:pathLst>
                <a:path w="3600450" h="1548130">
                  <a:moveTo>
                    <a:pt x="3498824" y="0"/>
                  </a:moveTo>
                  <a:lnTo>
                    <a:pt x="101221" y="0"/>
                  </a:lnTo>
                  <a:lnTo>
                    <a:pt x="61821" y="7954"/>
                  </a:lnTo>
                  <a:lnTo>
                    <a:pt x="29646" y="29646"/>
                  </a:lnTo>
                  <a:lnTo>
                    <a:pt x="7954" y="61821"/>
                  </a:lnTo>
                  <a:lnTo>
                    <a:pt x="0" y="101221"/>
                  </a:lnTo>
                  <a:lnTo>
                    <a:pt x="0" y="1446798"/>
                  </a:lnTo>
                  <a:lnTo>
                    <a:pt x="7954" y="1486199"/>
                  </a:lnTo>
                  <a:lnTo>
                    <a:pt x="29646" y="1518373"/>
                  </a:lnTo>
                  <a:lnTo>
                    <a:pt x="61821" y="1540066"/>
                  </a:lnTo>
                  <a:lnTo>
                    <a:pt x="101221" y="1548020"/>
                  </a:lnTo>
                  <a:lnTo>
                    <a:pt x="3498824" y="1548020"/>
                  </a:lnTo>
                  <a:lnTo>
                    <a:pt x="3538224" y="1540066"/>
                  </a:lnTo>
                  <a:lnTo>
                    <a:pt x="3570399" y="1518373"/>
                  </a:lnTo>
                  <a:lnTo>
                    <a:pt x="3592091" y="1486199"/>
                  </a:lnTo>
                  <a:lnTo>
                    <a:pt x="3600046" y="1446798"/>
                  </a:lnTo>
                  <a:lnTo>
                    <a:pt x="3600046" y="101221"/>
                  </a:lnTo>
                  <a:lnTo>
                    <a:pt x="3592091" y="61821"/>
                  </a:lnTo>
                  <a:lnTo>
                    <a:pt x="3570399" y="29646"/>
                  </a:lnTo>
                  <a:lnTo>
                    <a:pt x="3538224" y="7954"/>
                  </a:lnTo>
                  <a:lnTo>
                    <a:pt x="3498824" y="0"/>
                  </a:lnTo>
                  <a:close/>
                </a:path>
              </a:pathLst>
            </a:custGeom>
            <a:ln w="5060">
              <a:solidFill>
                <a:srgbClr val="9664F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2003018" y="794204"/>
            <a:ext cx="175387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b="1" dirty="0">
                <a:solidFill>
                  <a:srgbClr val="F4F8FC"/>
                </a:solidFill>
                <a:latin typeface="Arial"/>
                <a:cs typeface="Arial"/>
              </a:rPr>
              <a:t>Scenario</a:t>
            </a:r>
            <a:r>
              <a:rPr sz="1400" b="1" spc="-15" dirty="0">
                <a:solidFill>
                  <a:srgbClr val="F4F8FC"/>
                </a:solidFill>
                <a:latin typeface="Arial"/>
                <a:cs typeface="Arial"/>
              </a:rPr>
              <a:t> </a:t>
            </a:r>
            <a:r>
              <a:rPr sz="1400" b="1" spc="-10" dirty="0">
                <a:solidFill>
                  <a:srgbClr val="F4F8FC"/>
                </a:solidFill>
                <a:latin typeface="Arial"/>
                <a:cs typeface="Arial"/>
              </a:rPr>
              <a:t>Simulation</a:t>
            </a:r>
            <a:endParaRPr sz="14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169174" y="1111832"/>
            <a:ext cx="1261745" cy="39370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ts val="1270"/>
              </a:lnSpc>
              <a:spcBef>
                <a:spcPts val="90"/>
              </a:spcBef>
            </a:pPr>
            <a:r>
              <a:rPr sz="1100" spc="-30" dirty="0">
                <a:solidFill>
                  <a:srgbClr val="A5B2C5"/>
                </a:solidFill>
                <a:latin typeface="Arial MT"/>
                <a:cs typeface="Arial MT"/>
              </a:rPr>
              <a:t>Current</a:t>
            </a:r>
            <a:r>
              <a:rPr sz="1100" spc="-45" dirty="0">
                <a:solidFill>
                  <a:srgbClr val="A5B2C5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A5B2C5"/>
                </a:solidFill>
                <a:latin typeface="Arial MT"/>
                <a:cs typeface="Arial MT"/>
              </a:rPr>
              <a:t>net</a:t>
            </a:r>
            <a:r>
              <a:rPr sz="1100" spc="-30" dirty="0">
                <a:solidFill>
                  <a:srgbClr val="A5B2C5"/>
                </a:solidFill>
                <a:latin typeface="Arial MT"/>
                <a:cs typeface="Arial MT"/>
              </a:rPr>
              <a:t> </a:t>
            </a:r>
            <a:r>
              <a:rPr sz="1100" spc="-90" dirty="0">
                <a:solidFill>
                  <a:srgbClr val="A5B2C5"/>
                </a:solidFill>
                <a:latin typeface="Arial MT"/>
                <a:cs typeface="Arial MT"/>
              </a:rPr>
              <a:t>cash</a:t>
            </a:r>
            <a:r>
              <a:rPr sz="1100" spc="15" dirty="0">
                <a:solidFill>
                  <a:srgbClr val="A5B2C5"/>
                </a:solidFill>
                <a:latin typeface="Arial MT"/>
                <a:cs typeface="Arial MT"/>
              </a:rPr>
              <a:t> </a:t>
            </a:r>
            <a:r>
              <a:rPr sz="1100" spc="-20" dirty="0">
                <a:solidFill>
                  <a:srgbClr val="A5B2C5"/>
                </a:solidFill>
                <a:latin typeface="Arial MT"/>
                <a:cs typeface="Arial MT"/>
              </a:rPr>
              <a:t>flow</a:t>
            </a:r>
            <a:endParaRPr sz="1100">
              <a:latin typeface="Arial MT"/>
              <a:cs typeface="Arial MT"/>
            </a:endParaRPr>
          </a:p>
          <a:p>
            <a:pPr marL="54610">
              <a:lnSpc>
                <a:spcPts val="1630"/>
              </a:lnSpc>
            </a:pPr>
            <a:r>
              <a:rPr sz="1400" spc="-70" dirty="0">
                <a:solidFill>
                  <a:srgbClr val="27D2DC"/>
                </a:solidFill>
                <a:latin typeface="Arial MT"/>
                <a:cs typeface="Arial MT"/>
              </a:rPr>
              <a:t>15,000</a:t>
            </a:r>
            <a:r>
              <a:rPr sz="1400" spc="40" dirty="0">
                <a:solidFill>
                  <a:srgbClr val="27D2DC"/>
                </a:solidFill>
                <a:latin typeface="Arial MT"/>
                <a:cs typeface="Arial MT"/>
              </a:rPr>
              <a:t> </a:t>
            </a:r>
            <a:r>
              <a:rPr sz="1400" spc="290" dirty="0">
                <a:solidFill>
                  <a:srgbClr val="27D2DC"/>
                </a:solidFill>
                <a:latin typeface="Arial MT"/>
                <a:cs typeface="Arial MT"/>
              </a:rPr>
              <a:t>/</a:t>
            </a:r>
            <a:r>
              <a:rPr sz="1400" spc="45" dirty="0">
                <a:solidFill>
                  <a:srgbClr val="27D2DC"/>
                </a:solidFill>
                <a:latin typeface="Arial MT"/>
                <a:cs typeface="Arial MT"/>
              </a:rPr>
              <a:t> </a:t>
            </a:r>
            <a:r>
              <a:rPr sz="1400" spc="-10" dirty="0">
                <a:solidFill>
                  <a:srgbClr val="27D2DC"/>
                </a:solidFill>
                <a:latin typeface="Arial MT"/>
                <a:cs typeface="Arial MT"/>
              </a:rPr>
              <a:t>month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284372" y="1086241"/>
            <a:ext cx="1351915" cy="438784"/>
          </a:xfrm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85"/>
              </a:spcBef>
            </a:pPr>
            <a:r>
              <a:rPr sz="1100" spc="-45" dirty="0">
                <a:solidFill>
                  <a:srgbClr val="A5B2C5"/>
                </a:solidFill>
                <a:latin typeface="Arial MT"/>
                <a:cs typeface="Arial MT"/>
              </a:rPr>
              <a:t>Discretionary</a:t>
            </a:r>
            <a:r>
              <a:rPr sz="1100" spc="50" dirty="0">
                <a:solidFill>
                  <a:srgbClr val="A5B2C5"/>
                </a:solidFill>
                <a:latin typeface="Arial MT"/>
                <a:cs typeface="Arial MT"/>
              </a:rPr>
              <a:t> </a:t>
            </a:r>
            <a:r>
              <a:rPr sz="1100" spc="-20" dirty="0">
                <a:solidFill>
                  <a:srgbClr val="A5B2C5"/>
                </a:solidFill>
                <a:latin typeface="Arial MT"/>
                <a:cs typeface="Arial MT"/>
              </a:rPr>
              <a:t>reduction</a:t>
            </a:r>
            <a:endParaRPr sz="1100">
              <a:latin typeface="Arial MT"/>
              <a:cs typeface="Arial MT"/>
            </a:endParaRPr>
          </a:p>
          <a:p>
            <a:pPr algn="ctr">
              <a:lnSpc>
                <a:spcPct val="100000"/>
              </a:lnSpc>
              <a:spcBef>
                <a:spcPts val="160"/>
              </a:spcBef>
            </a:pPr>
            <a:r>
              <a:rPr sz="1400" spc="-25" dirty="0">
                <a:solidFill>
                  <a:srgbClr val="32CC81"/>
                </a:solidFill>
                <a:latin typeface="Arial MT"/>
                <a:cs typeface="Arial MT"/>
              </a:rPr>
              <a:t>10%</a:t>
            </a:r>
            <a:endParaRPr sz="1400">
              <a:latin typeface="Arial MT"/>
              <a:cs typeface="Arial MT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1439986" y="1665927"/>
            <a:ext cx="2880360" cy="101600"/>
            <a:chOff x="1439986" y="1665927"/>
            <a:chExt cx="2880360" cy="101600"/>
          </a:xfrm>
        </p:grpSpPr>
        <p:sp>
          <p:nvSpPr>
            <p:cNvPr id="10" name="object 10"/>
            <p:cNvSpPr/>
            <p:nvPr/>
          </p:nvSpPr>
          <p:spPr>
            <a:xfrm>
              <a:off x="3348011" y="1716538"/>
              <a:ext cx="972185" cy="0"/>
            </a:xfrm>
            <a:custGeom>
              <a:avLst/>
              <a:gdLst/>
              <a:ahLst/>
              <a:cxnLst/>
              <a:rect l="l" t="t" r="r" b="b"/>
              <a:pathLst>
                <a:path w="972185">
                  <a:moveTo>
                    <a:pt x="0" y="0"/>
                  </a:moveTo>
                  <a:lnTo>
                    <a:pt x="972011" y="0"/>
                  </a:lnTo>
                </a:path>
              </a:pathLst>
            </a:custGeom>
            <a:ln w="101221">
              <a:solidFill>
                <a:srgbClr val="64728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439986" y="1716538"/>
              <a:ext cx="1908175" cy="0"/>
            </a:xfrm>
            <a:custGeom>
              <a:avLst/>
              <a:gdLst/>
              <a:ahLst/>
              <a:cxnLst/>
              <a:rect l="l" t="t" r="r" b="b"/>
              <a:pathLst>
                <a:path w="1908175">
                  <a:moveTo>
                    <a:pt x="0" y="0"/>
                  </a:moveTo>
                  <a:lnTo>
                    <a:pt x="1908024" y="0"/>
                  </a:lnTo>
                </a:path>
              </a:pathLst>
            </a:custGeom>
            <a:ln w="101221">
              <a:solidFill>
                <a:srgbClr val="27D2D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506780" y="1818371"/>
            <a:ext cx="4747260" cy="87947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0"/>
              </a:spcBef>
            </a:pPr>
            <a:r>
              <a:rPr sz="1100" spc="-40" dirty="0">
                <a:solidFill>
                  <a:srgbClr val="A5B2C5"/>
                </a:solidFill>
                <a:latin typeface="Arial MT"/>
                <a:cs typeface="Arial MT"/>
              </a:rPr>
              <a:t>Projected</a:t>
            </a:r>
            <a:r>
              <a:rPr sz="1100" spc="10" dirty="0">
                <a:solidFill>
                  <a:srgbClr val="A5B2C5"/>
                </a:solidFill>
                <a:latin typeface="Arial MT"/>
                <a:cs typeface="Arial MT"/>
              </a:rPr>
              <a:t> </a:t>
            </a:r>
            <a:r>
              <a:rPr sz="1100" spc="-40" dirty="0">
                <a:solidFill>
                  <a:srgbClr val="A5B2C5"/>
                </a:solidFill>
                <a:latin typeface="Arial MT"/>
                <a:cs typeface="Arial MT"/>
              </a:rPr>
              <a:t>goal</a:t>
            </a:r>
            <a:r>
              <a:rPr sz="1100" spc="15" dirty="0">
                <a:solidFill>
                  <a:srgbClr val="A5B2C5"/>
                </a:solidFill>
                <a:latin typeface="Arial MT"/>
                <a:cs typeface="Arial MT"/>
              </a:rPr>
              <a:t> </a:t>
            </a:r>
            <a:r>
              <a:rPr sz="1100" spc="-40" dirty="0">
                <a:solidFill>
                  <a:srgbClr val="A5B2C5"/>
                </a:solidFill>
                <a:latin typeface="Arial MT"/>
                <a:cs typeface="Arial MT"/>
              </a:rPr>
              <a:t>completion</a:t>
            </a:r>
            <a:r>
              <a:rPr sz="1100" spc="15" dirty="0">
                <a:solidFill>
                  <a:srgbClr val="A5B2C5"/>
                </a:solidFill>
                <a:latin typeface="Arial MT"/>
                <a:cs typeface="Arial MT"/>
              </a:rPr>
              <a:t> </a:t>
            </a:r>
            <a:r>
              <a:rPr sz="1100" spc="-95" dirty="0">
                <a:solidFill>
                  <a:srgbClr val="A5B2C5"/>
                </a:solidFill>
                <a:latin typeface="Arial MT"/>
                <a:cs typeface="Arial MT"/>
              </a:rPr>
              <a:t>changes</a:t>
            </a:r>
            <a:r>
              <a:rPr sz="1100" spc="20" dirty="0">
                <a:solidFill>
                  <a:srgbClr val="A5B2C5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A5B2C5"/>
                </a:solidFill>
                <a:latin typeface="Arial MT"/>
                <a:cs typeface="Arial MT"/>
              </a:rPr>
              <a:t>with</a:t>
            </a:r>
            <a:r>
              <a:rPr sz="1100" spc="20" dirty="0">
                <a:solidFill>
                  <a:srgbClr val="A5B2C5"/>
                </a:solidFill>
                <a:latin typeface="Arial MT"/>
                <a:cs typeface="Arial MT"/>
              </a:rPr>
              <a:t> </a:t>
            </a:r>
            <a:r>
              <a:rPr sz="1100" spc="-70" dirty="0">
                <a:solidFill>
                  <a:srgbClr val="A5B2C5"/>
                </a:solidFill>
                <a:latin typeface="Arial MT"/>
                <a:cs typeface="Arial MT"/>
              </a:rPr>
              <a:t>spending</a:t>
            </a:r>
            <a:r>
              <a:rPr sz="1100" spc="15" dirty="0">
                <a:solidFill>
                  <a:srgbClr val="A5B2C5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A5B2C5"/>
                </a:solidFill>
                <a:latin typeface="Arial MT"/>
                <a:cs typeface="Arial MT"/>
              </a:rPr>
              <a:t>assumptions</a:t>
            </a:r>
            <a:endParaRPr sz="11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1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75"/>
              </a:spcBef>
            </a:pPr>
            <a:endParaRPr sz="1100">
              <a:latin typeface="Arial MT"/>
              <a:cs typeface="Arial MT"/>
            </a:endParaRPr>
          </a:p>
          <a:p>
            <a:pPr marL="12065" marR="5080" algn="ctr">
              <a:lnSpc>
                <a:spcPct val="102600"/>
              </a:lnSpc>
            </a:pPr>
            <a:r>
              <a:rPr sz="1100" spc="-90" dirty="0">
                <a:solidFill>
                  <a:srgbClr val="A5B2C5"/>
                </a:solidFill>
                <a:latin typeface="Arial MT"/>
                <a:cs typeface="Arial MT"/>
              </a:rPr>
              <a:t>Users</a:t>
            </a:r>
            <a:r>
              <a:rPr sz="1100" spc="15" dirty="0">
                <a:solidFill>
                  <a:srgbClr val="A5B2C5"/>
                </a:solidFill>
                <a:latin typeface="Arial MT"/>
                <a:cs typeface="Arial MT"/>
              </a:rPr>
              <a:t> </a:t>
            </a:r>
            <a:r>
              <a:rPr sz="1100" spc="-65" dirty="0">
                <a:solidFill>
                  <a:srgbClr val="A5B2C5"/>
                </a:solidFill>
                <a:latin typeface="Arial MT"/>
                <a:cs typeface="Arial MT"/>
              </a:rPr>
              <a:t>can</a:t>
            </a:r>
            <a:r>
              <a:rPr sz="1100" spc="-10" dirty="0">
                <a:solidFill>
                  <a:srgbClr val="A5B2C5"/>
                </a:solidFill>
                <a:latin typeface="Arial MT"/>
                <a:cs typeface="Arial MT"/>
              </a:rPr>
              <a:t> </a:t>
            </a:r>
            <a:r>
              <a:rPr sz="1100" spc="-70" dirty="0">
                <a:solidFill>
                  <a:srgbClr val="A5B2C5"/>
                </a:solidFill>
                <a:latin typeface="Arial MT"/>
                <a:cs typeface="Arial MT"/>
              </a:rPr>
              <a:t>explore</a:t>
            </a:r>
            <a:r>
              <a:rPr sz="1100" spc="5" dirty="0">
                <a:solidFill>
                  <a:srgbClr val="A5B2C5"/>
                </a:solidFill>
                <a:latin typeface="Arial MT"/>
                <a:cs typeface="Arial MT"/>
              </a:rPr>
              <a:t> </a:t>
            </a:r>
            <a:r>
              <a:rPr sz="1100" spc="-55" dirty="0">
                <a:solidFill>
                  <a:srgbClr val="A5B2C5"/>
                </a:solidFill>
                <a:latin typeface="Arial MT"/>
                <a:cs typeface="Arial MT"/>
              </a:rPr>
              <a:t>how</a:t>
            </a:r>
            <a:r>
              <a:rPr sz="1100" spc="10" dirty="0">
                <a:solidFill>
                  <a:srgbClr val="A5B2C5"/>
                </a:solidFill>
                <a:latin typeface="Arial MT"/>
                <a:cs typeface="Arial MT"/>
              </a:rPr>
              <a:t> </a:t>
            </a:r>
            <a:r>
              <a:rPr sz="1100" spc="-95" dirty="0">
                <a:solidFill>
                  <a:srgbClr val="A5B2C5"/>
                </a:solidFill>
                <a:latin typeface="Arial MT"/>
                <a:cs typeface="Arial MT"/>
              </a:rPr>
              <a:t>changes</a:t>
            </a:r>
            <a:r>
              <a:rPr sz="1100" spc="20" dirty="0">
                <a:solidFill>
                  <a:srgbClr val="A5B2C5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A5B2C5"/>
                </a:solidFill>
                <a:latin typeface="Arial MT"/>
                <a:cs typeface="Arial MT"/>
              </a:rPr>
              <a:t>in</a:t>
            </a:r>
            <a:r>
              <a:rPr sz="1100" spc="5" dirty="0">
                <a:solidFill>
                  <a:srgbClr val="A5B2C5"/>
                </a:solidFill>
                <a:latin typeface="Arial MT"/>
                <a:cs typeface="Arial MT"/>
              </a:rPr>
              <a:t> </a:t>
            </a:r>
            <a:r>
              <a:rPr sz="1100" spc="-45" dirty="0">
                <a:solidFill>
                  <a:srgbClr val="A5B2C5"/>
                </a:solidFill>
                <a:latin typeface="Arial MT"/>
                <a:cs typeface="Arial MT"/>
              </a:rPr>
              <a:t>discretionary</a:t>
            </a:r>
            <a:r>
              <a:rPr sz="1100" spc="10" dirty="0">
                <a:solidFill>
                  <a:srgbClr val="A5B2C5"/>
                </a:solidFill>
                <a:latin typeface="Arial MT"/>
                <a:cs typeface="Arial MT"/>
              </a:rPr>
              <a:t> </a:t>
            </a:r>
            <a:r>
              <a:rPr sz="1100" spc="-70" dirty="0">
                <a:solidFill>
                  <a:srgbClr val="A5B2C5"/>
                </a:solidFill>
                <a:latin typeface="Arial MT"/>
                <a:cs typeface="Arial MT"/>
              </a:rPr>
              <a:t>spending</a:t>
            </a:r>
            <a:r>
              <a:rPr sz="1100" spc="5" dirty="0">
                <a:solidFill>
                  <a:srgbClr val="A5B2C5"/>
                </a:solidFill>
                <a:latin typeface="Arial MT"/>
                <a:cs typeface="Arial MT"/>
              </a:rPr>
              <a:t> </a:t>
            </a:r>
            <a:r>
              <a:rPr sz="1100" spc="-20" dirty="0">
                <a:solidFill>
                  <a:srgbClr val="A5B2C5"/>
                </a:solidFill>
                <a:latin typeface="Arial MT"/>
                <a:cs typeface="Arial MT"/>
              </a:rPr>
              <a:t>affect</a:t>
            </a:r>
            <a:r>
              <a:rPr sz="1100" spc="10" dirty="0">
                <a:solidFill>
                  <a:srgbClr val="A5B2C5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A5B2C5"/>
                </a:solidFill>
                <a:latin typeface="Arial MT"/>
                <a:cs typeface="Arial MT"/>
              </a:rPr>
              <a:t>the</a:t>
            </a:r>
            <a:r>
              <a:rPr sz="1100" spc="10" dirty="0">
                <a:solidFill>
                  <a:srgbClr val="A5B2C5"/>
                </a:solidFill>
                <a:latin typeface="Arial MT"/>
                <a:cs typeface="Arial MT"/>
              </a:rPr>
              <a:t> </a:t>
            </a:r>
            <a:r>
              <a:rPr sz="1100" spc="-45" dirty="0">
                <a:solidFill>
                  <a:srgbClr val="A5B2C5"/>
                </a:solidFill>
                <a:latin typeface="Arial MT"/>
                <a:cs typeface="Arial MT"/>
              </a:rPr>
              <a:t>estimated</a:t>
            </a:r>
            <a:r>
              <a:rPr sz="1100" spc="5" dirty="0">
                <a:solidFill>
                  <a:srgbClr val="A5B2C5"/>
                </a:solidFill>
                <a:latin typeface="Arial MT"/>
                <a:cs typeface="Arial MT"/>
              </a:rPr>
              <a:t> </a:t>
            </a:r>
            <a:r>
              <a:rPr sz="1100" spc="-20" dirty="0">
                <a:solidFill>
                  <a:srgbClr val="A5B2C5"/>
                </a:solidFill>
                <a:latin typeface="Arial MT"/>
                <a:cs typeface="Arial MT"/>
              </a:rPr>
              <a:t>time </a:t>
            </a:r>
            <a:r>
              <a:rPr sz="1100" spc="-50" dirty="0">
                <a:solidFill>
                  <a:srgbClr val="A5B2C5"/>
                </a:solidFill>
                <a:latin typeface="Arial MT"/>
                <a:cs typeface="Arial MT"/>
              </a:rPr>
              <a:t>required</a:t>
            </a:r>
            <a:r>
              <a:rPr sz="1100" spc="5" dirty="0">
                <a:solidFill>
                  <a:srgbClr val="A5B2C5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A5B2C5"/>
                </a:solidFill>
                <a:latin typeface="Arial MT"/>
                <a:cs typeface="Arial MT"/>
              </a:rPr>
              <a:t>to</a:t>
            </a:r>
            <a:r>
              <a:rPr sz="1100" spc="5" dirty="0">
                <a:solidFill>
                  <a:srgbClr val="A5B2C5"/>
                </a:solidFill>
                <a:latin typeface="Arial MT"/>
                <a:cs typeface="Arial MT"/>
              </a:rPr>
              <a:t> </a:t>
            </a:r>
            <a:r>
              <a:rPr sz="1100" spc="-70" dirty="0">
                <a:solidFill>
                  <a:srgbClr val="A5B2C5"/>
                </a:solidFill>
                <a:latin typeface="Arial MT"/>
                <a:cs typeface="Arial MT"/>
              </a:rPr>
              <a:t>reach</a:t>
            </a:r>
            <a:r>
              <a:rPr sz="1100" spc="10" dirty="0">
                <a:solidFill>
                  <a:srgbClr val="A5B2C5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A5B2C5"/>
                </a:solidFill>
                <a:latin typeface="Arial MT"/>
                <a:cs typeface="Arial MT"/>
              </a:rPr>
              <a:t>a</a:t>
            </a:r>
            <a:r>
              <a:rPr sz="1100" spc="5" dirty="0">
                <a:solidFill>
                  <a:srgbClr val="A5B2C5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A5B2C5"/>
                </a:solidFill>
                <a:latin typeface="Arial MT"/>
                <a:cs typeface="Arial MT"/>
              </a:rPr>
              <a:t>goal.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/>
              <a:t>FinPilot</a:t>
            </a:r>
            <a:r>
              <a:rPr spc="45" dirty="0"/>
              <a:t> </a:t>
            </a:r>
            <a:r>
              <a:rPr dirty="0"/>
              <a:t>—</a:t>
            </a:r>
            <a:r>
              <a:rPr spc="50" dirty="0"/>
              <a:t> </a:t>
            </a:r>
            <a:r>
              <a:rPr dirty="0"/>
              <a:t>AI</a:t>
            </a:r>
            <a:r>
              <a:rPr spc="55" dirty="0"/>
              <a:t> </a:t>
            </a:r>
            <a:r>
              <a:rPr spc="-20" dirty="0"/>
              <a:t>Personal</a:t>
            </a:r>
            <a:r>
              <a:rPr spc="50" dirty="0"/>
              <a:t> </a:t>
            </a:r>
            <a:r>
              <a:rPr spc="-20" dirty="0"/>
              <a:t>Finance</a:t>
            </a:r>
            <a:r>
              <a:rPr spc="55" dirty="0"/>
              <a:t> </a:t>
            </a:r>
            <a:r>
              <a:rPr spc="-10" dirty="0"/>
              <a:t>Decision</a:t>
            </a:r>
            <a:r>
              <a:rPr spc="50" dirty="0"/>
              <a:t> </a:t>
            </a:r>
            <a:r>
              <a:rPr dirty="0"/>
              <a:t>Support</a:t>
            </a:r>
            <a:r>
              <a:rPr spc="45" dirty="0"/>
              <a:t> </a:t>
            </a:r>
            <a:r>
              <a:rPr spc="-10" dirty="0"/>
              <a:t>Agent</a:t>
            </a:r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pc="-25" dirty="0"/>
              <a:t>17</a:t>
            </a:r>
          </a:p>
        </p:txBody>
      </p:sp>
    </p:spTree>
  </p:cSld>
  <p:clrMapOvr>
    <a:masterClrMapping/>
  </p:clrMapOvr>
  <p:transition>
    <p:cut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5760085" cy="3240405"/>
          </a:xfrm>
          <a:custGeom>
            <a:avLst/>
            <a:gdLst/>
            <a:ahLst/>
            <a:cxnLst/>
            <a:rect l="l" t="t" r="r" b="b"/>
            <a:pathLst>
              <a:path w="5760085" h="3240405">
                <a:moveTo>
                  <a:pt x="5759996" y="0"/>
                </a:moveTo>
                <a:lnTo>
                  <a:pt x="0" y="0"/>
                </a:lnTo>
                <a:lnTo>
                  <a:pt x="0" y="3239998"/>
                </a:lnTo>
                <a:lnTo>
                  <a:pt x="5759996" y="3239998"/>
                </a:lnTo>
                <a:lnTo>
                  <a:pt x="5759996" y="0"/>
                </a:lnTo>
                <a:close/>
              </a:path>
            </a:pathLst>
          </a:custGeom>
          <a:solidFill>
            <a:srgbClr val="070E1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85305" y="122844"/>
            <a:ext cx="215582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b="1" dirty="0">
                <a:solidFill>
                  <a:srgbClr val="F4F8FC"/>
                </a:solidFill>
                <a:latin typeface="Arial"/>
                <a:cs typeface="Arial"/>
              </a:rPr>
              <a:t>Goal</a:t>
            </a:r>
            <a:r>
              <a:rPr sz="1400" b="1" spc="185" dirty="0">
                <a:solidFill>
                  <a:srgbClr val="F4F8FC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F4F8FC"/>
                </a:solidFill>
                <a:latin typeface="Arial"/>
                <a:cs typeface="Arial"/>
              </a:rPr>
              <a:t>Simulator</a:t>
            </a:r>
            <a:r>
              <a:rPr sz="1400" b="1" spc="190" dirty="0">
                <a:solidFill>
                  <a:srgbClr val="F4F8FC"/>
                </a:solidFill>
                <a:latin typeface="Arial"/>
                <a:cs typeface="Arial"/>
              </a:rPr>
              <a:t> </a:t>
            </a:r>
            <a:r>
              <a:rPr sz="1400" b="1" spc="-10" dirty="0">
                <a:solidFill>
                  <a:srgbClr val="F4F8FC"/>
                </a:solidFill>
                <a:latin typeface="Arial"/>
                <a:cs typeface="Arial"/>
              </a:rPr>
              <a:t>Interface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659833" y="670813"/>
            <a:ext cx="4440555" cy="1985645"/>
            <a:chOff x="659833" y="670813"/>
            <a:chExt cx="4440555" cy="1985645"/>
          </a:xfrm>
        </p:grpSpPr>
        <p:sp>
          <p:nvSpPr>
            <p:cNvPr id="5" name="object 5"/>
            <p:cNvSpPr/>
            <p:nvPr/>
          </p:nvSpPr>
          <p:spPr>
            <a:xfrm>
              <a:off x="662363" y="673344"/>
              <a:ext cx="4435475" cy="1980564"/>
            </a:xfrm>
            <a:custGeom>
              <a:avLst/>
              <a:gdLst/>
              <a:ahLst/>
              <a:cxnLst/>
              <a:rect l="l" t="t" r="r" b="b"/>
              <a:pathLst>
                <a:path w="4435475" h="1980564">
                  <a:moveTo>
                    <a:pt x="4334059" y="0"/>
                  </a:moveTo>
                  <a:lnTo>
                    <a:pt x="101221" y="0"/>
                  </a:lnTo>
                  <a:lnTo>
                    <a:pt x="61821" y="7954"/>
                  </a:lnTo>
                  <a:lnTo>
                    <a:pt x="29646" y="29646"/>
                  </a:lnTo>
                  <a:lnTo>
                    <a:pt x="7954" y="61821"/>
                  </a:lnTo>
                  <a:lnTo>
                    <a:pt x="0" y="101221"/>
                  </a:lnTo>
                  <a:lnTo>
                    <a:pt x="0" y="1878803"/>
                  </a:lnTo>
                  <a:lnTo>
                    <a:pt x="7954" y="1918203"/>
                  </a:lnTo>
                  <a:lnTo>
                    <a:pt x="29646" y="1950378"/>
                  </a:lnTo>
                  <a:lnTo>
                    <a:pt x="61821" y="1972070"/>
                  </a:lnTo>
                  <a:lnTo>
                    <a:pt x="101221" y="1980025"/>
                  </a:lnTo>
                  <a:lnTo>
                    <a:pt x="4334059" y="1980025"/>
                  </a:lnTo>
                  <a:lnTo>
                    <a:pt x="4373460" y="1972070"/>
                  </a:lnTo>
                  <a:lnTo>
                    <a:pt x="4405634" y="1950378"/>
                  </a:lnTo>
                  <a:lnTo>
                    <a:pt x="4427327" y="1918203"/>
                  </a:lnTo>
                  <a:lnTo>
                    <a:pt x="4435281" y="1878803"/>
                  </a:lnTo>
                  <a:lnTo>
                    <a:pt x="4435281" y="101221"/>
                  </a:lnTo>
                  <a:lnTo>
                    <a:pt x="4427327" y="61821"/>
                  </a:lnTo>
                  <a:lnTo>
                    <a:pt x="4405634" y="29646"/>
                  </a:lnTo>
                  <a:lnTo>
                    <a:pt x="4373460" y="7954"/>
                  </a:lnTo>
                  <a:lnTo>
                    <a:pt x="4334059" y="0"/>
                  </a:lnTo>
                  <a:close/>
                </a:path>
              </a:pathLst>
            </a:custGeom>
            <a:solidFill>
              <a:srgbClr val="0C18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62363" y="673344"/>
              <a:ext cx="4435475" cy="1980564"/>
            </a:xfrm>
            <a:custGeom>
              <a:avLst/>
              <a:gdLst/>
              <a:ahLst/>
              <a:cxnLst/>
              <a:rect l="l" t="t" r="r" b="b"/>
              <a:pathLst>
                <a:path w="4435475" h="1980564">
                  <a:moveTo>
                    <a:pt x="4334059" y="0"/>
                  </a:moveTo>
                  <a:lnTo>
                    <a:pt x="101221" y="0"/>
                  </a:lnTo>
                  <a:lnTo>
                    <a:pt x="61821" y="7954"/>
                  </a:lnTo>
                  <a:lnTo>
                    <a:pt x="29646" y="29646"/>
                  </a:lnTo>
                  <a:lnTo>
                    <a:pt x="7954" y="61821"/>
                  </a:lnTo>
                  <a:lnTo>
                    <a:pt x="0" y="101221"/>
                  </a:lnTo>
                  <a:lnTo>
                    <a:pt x="0" y="1878803"/>
                  </a:lnTo>
                  <a:lnTo>
                    <a:pt x="7954" y="1918203"/>
                  </a:lnTo>
                  <a:lnTo>
                    <a:pt x="29646" y="1950378"/>
                  </a:lnTo>
                  <a:lnTo>
                    <a:pt x="61821" y="1972070"/>
                  </a:lnTo>
                  <a:lnTo>
                    <a:pt x="101221" y="1980025"/>
                  </a:lnTo>
                  <a:lnTo>
                    <a:pt x="4334059" y="1980025"/>
                  </a:lnTo>
                  <a:lnTo>
                    <a:pt x="4373460" y="1972070"/>
                  </a:lnTo>
                  <a:lnTo>
                    <a:pt x="4405634" y="1950378"/>
                  </a:lnTo>
                  <a:lnTo>
                    <a:pt x="4427327" y="1918203"/>
                  </a:lnTo>
                  <a:lnTo>
                    <a:pt x="4435281" y="1878803"/>
                  </a:lnTo>
                  <a:lnTo>
                    <a:pt x="4435281" y="101221"/>
                  </a:lnTo>
                  <a:lnTo>
                    <a:pt x="4427327" y="61821"/>
                  </a:lnTo>
                  <a:lnTo>
                    <a:pt x="4405634" y="29646"/>
                  </a:lnTo>
                  <a:lnTo>
                    <a:pt x="4373460" y="7954"/>
                  </a:lnTo>
                  <a:lnTo>
                    <a:pt x="4334059" y="0"/>
                  </a:lnTo>
                  <a:close/>
                </a:path>
              </a:pathLst>
            </a:custGeom>
            <a:ln w="5060">
              <a:solidFill>
                <a:srgbClr val="64728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1709166" y="1284873"/>
            <a:ext cx="2341880" cy="588645"/>
          </a:xfrm>
          <a:prstGeom prst="rect">
            <a:avLst/>
          </a:prstGeom>
        </p:spPr>
        <p:txBody>
          <a:bodyPr vert="horz" wrap="square" lIns="0" tIns="13017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25"/>
              </a:spcBef>
            </a:pPr>
            <a:r>
              <a:rPr sz="1400" spc="-85" dirty="0">
                <a:solidFill>
                  <a:srgbClr val="A5B2C5"/>
                </a:solidFill>
                <a:latin typeface="Arial MT"/>
                <a:cs typeface="Arial MT"/>
              </a:rPr>
              <a:t>Screenshot</a:t>
            </a:r>
            <a:r>
              <a:rPr sz="1400" spc="-5" dirty="0">
                <a:solidFill>
                  <a:srgbClr val="A5B2C5"/>
                </a:solidFill>
                <a:latin typeface="Arial MT"/>
                <a:cs typeface="Arial MT"/>
              </a:rPr>
              <a:t> </a:t>
            </a:r>
            <a:r>
              <a:rPr sz="1400" spc="-10" dirty="0">
                <a:solidFill>
                  <a:srgbClr val="A5B2C5"/>
                </a:solidFill>
                <a:latin typeface="Arial MT"/>
                <a:cs typeface="Arial MT"/>
              </a:rPr>
              <a:t>Placeholder</a:t>
            </a:r>
            <a:endParaRPr sz="1400">
              <a:latin typeface="Arial MT"/>
              <a:cs typeface="Arial MT"/>
            </a:endParaRPr>
          </a:p>
          <a:p>
            <a:pPr algn="ctr">
              <a:lnSpc>
                <a:spcPct val="100000"/>
              </a:lnSpc>
              <a:spcBef>
                <a:spcPts val="625"/>
              </a:spcBef>
            </a:pPr>
            <a:r>
              <a:rPr sz="1000" dirty="0">
                <a:solidFill>
                  <a:srgbClr val="A5B2C5"/>
                </a:solidFill>
                <a:latin typeface="Arial MT"/>
                <a:cs typeface="Arial MT"/>
              </a:rPr>
              <a:t>Add</a:t>
            </a:r>
            <a:r>
              <a:rPr sz="1000" spc="-50" dirty="0">
                <a:solidFill>
                  <a:srgbClr val="A5B2C5"/>
                </a:solidFill>
                <a:latin typeface="Arial MT"/>
                <a:cs typeface="Arial MT"/>
              </a:rPr>
              <a:t> </a:t>
            </a:r>
            <a:r>
              <a:rPr sz="1000" spc="-30" dirty="0">
                <a:solidFill>
                  <a:srgbClr val="A5B2C5"/>
                </a:solidFill>
                <a:latin typeface="Arial MT"/>
                <a:cs typeface="Arial MT"/>
              </a:rPr>
              <a:t>image:</a:t>
            </a:r>
            <a:r>
              <a:rPr sz="1000" spc="30" dirty="0">
                <a:solidFill>
                  <a:srgbClr val="A5B2C5"/>
                </a:solidFill>
                <a:latin typeface="Arial MT"/>
                <a:cs typeface="Arial MT"/>
              </a:rPr>
              <a:t> </a:t>
            </a:r>
            <a:r>
              <a:rPr sz="1000" spc="40" dirty="0">
                <a:solidFill>
                  <a:srgbClr val="A5B2C5"/>
                </a:solidFill>
                <a:latin typeface="Cambria"/>
                <a:cs typeface="Cambria"/>
              </a:rPr>
              <a:t>screenshots/05\_goals.png</a:t>
            </a:r>
            <a:endParaRPr sz="1000">
              <a:latin typeface="Cambria"/>
              <a:cs typeface="Cambria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/>
              <a:t>FinPilot</a:t>
            </a:r>
            <a:r>
              <a:rPr spc="45" dirty="0"/>
              <a:t> </a:t>
            </a:r>
            <a:r>
              <a:rPr dirty="0"/>
              <a:t>—</a:t>
            </a:r>
            <a:r>
              <a:rPr spc="50" dirty="0"/>
              <a:t> </a:t>
            </a:r>
            <a:r>
              <a:rPr dirty="0"/>
              <a:t>AI</a:t>
            </a:r>
            <a:r>
              <a:rPr spc="55" dirty="0"/>
              <a:t> </a:t>
            </a:r>
            <a:r>
              <a:rPr spc="-20" dirty="0"/>
              <a:t>Personal</a:t>
            </a:r>
            <a:r>
              <a:rPr spc="50" dirty="0"/>
              <a:t> </a:t>
            </a:r>
            <a:r>
              <a:rPr spc="-20" dirty="0"/>
              <a:t>Finance</a:t>
            </a:r>
            <a:r>
              <a:rPr spc="55" dirty="0"/>
              <a:t> </a:t>
            </a:r>
            <a:r>
              <a:rPr spc="-10" dirty="0"/>
              <a:t>Decision</a:t>
            </a:r>
            <a:r>
              <a:rPr spc="50" dirty="0"/>
              <a:t> </a:t>
            </a:r>
            <a:r>
              <a:rPr dirty="0"/>
              <a:t>Support</a:t>
            </a:r>
            <a:r>
              <a:rPr spc="45" dirty="0"/>
              <a:t> </a:t>
            </a:r>
            <a:r>
              <a:rPr spc="-10" dirty="0"/>
              <a:t>Agent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pc="-25" dirty="0"/>
              <a:t>18</a:t>
            </a:r>
          </a:p>
        </p:txBody>
      </p:sp>
    </p:spTree>
  </p:cSld>
  <p:clrMapOvr>
    <a:masterClrMapping/>
  </p:clrMapOvr>
  <p:transition>
    <p:cut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Interactive</a:t>
            </a:r>
            <a:r>
              <a:rPr spc="245" dirty="0"/>
              <a:t> </a:t>
            </a:r>
            <a:r>
              <a:rPr dirty="0"/>
              <a:t>Financial</a:t>
            </a:r>
            <a:r>
              <a:rPr spc="250" dirty="0"/>
              <a:t> </a:t>
            </a:r>
            <a:r>
              <a:rPr spc="-10" dirty="0"/>
              <a:t>Simulation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659833" y="444545"/>
            <a:ext cx="4440555" cy="2021205"/>
            <a:chOff x="659833" y="444545"/>
            <a:chExt cx="4440555" cy="2021205"/>
          </a:xfrm>
        </p:grpSpPr>
        <p:sp>
          <p:nvSpPr>
            <p:cNvPr id="4" name="object 4"/>
            <p:cNvSpPr/>
            <p:nvPr/>
          </p:nvSpPr>
          <p:spPr>
            <a:xfrm>
              <a:off x="662363" y="447075"/>
              <a:ext cx="4435475" cy="2016125"/>
            </a:xfrm>
            <a:custGeom>
              <a:avLst/>
              <a:gdLst/>
              <a:ahLst/>
              <a:cxnLst/>
              <a:rect l="l" t="t" r="r" b="b"/>
              <a:pathLst>
                <a:path w="4435475" h="2016125">
                  <a:moveTo>
                    <a:pt x="4334059" y="0"/>
                  </a:moveTo>
                  <a:lnTo>
                    <a:pt x="101221" y="0"/>
                  </a:lnTo>
                  <a:lnTo>
                    <a:pt x="61821" y="7954"/>
                  </a:lnTo>
                  <a:lnTo>
                    <a:pt x="29646" y="29646"/>
                  </a:lnTo>
                  <a:lnTo>
                    <a:pt x="7954" y="61821"/>
                  </a:lnTo>
                  <a:lnTo>
                    <a:pt x="0" y="101221"/>
                  </a:lnTo>
                  <a:lnTo>
                    <a:pt x="0" y="1914806"/>
                  </a:lnTo>
                  <a:lnTo>
                    <a:pt x="7954" y="1954206"/>
                  </a:lnTo>
                  <a:lnTo>
                    <a:pt x="29646" y="1986381"/>
                  </a:lnTo>
                  <a:lnTo>
                    <a:pt x="61821" y="2008073"/>
                  </a:lnTo>
                  <a:lnTo>
                    <a:pt x="101221" y="2016028"/>
                  </a:lnTo>
                  <a:lnTo>
                    <a:pt x="4334059" y="2016028"/>
                  </a:lnTo>
                  <a:lnTo>
                    <a:pt x="4373460" y="2008073"/>
                  </a:lnTo>
                  <a:lnTo>
                    <a:pt x="4405634" y="1986381"/>
                  </a:lnTo>
                  <a:lnTo>
                    <a:pt x="4427327" y="1954206"/>
                  </a:lnTo>
                  <a:lnTo>
                    <a:pt x="4435281" y="1914806"/>
                  </a:lnTo>
                  <a:lnTo>
                    <a:pt x="4435281" y="101221"/>
                  </a:lnTo>
                  <a:lnTo>
                    <a:pt x="4427327" y="61821"/>
                  </a:lnTo>
                  <a:lnTo>
                    <a:pt x="4405634" y="29646"/>
                  </a:lnTo>
                  <a:lnTo>
                    <a:pt x="4373460" y="7954"/>
                  </a:lnTo>
                  <a:lnTo>
                    <a:pt x="4334059" y="0"/>
                  </a:lnTo>
                  <a:close/>
                </a:path>
              </a:pathLst>
            </a:custGeom>
            <a:solidFill>
              <a:srgbClr val="0C18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62363" y="447075"/>
              <a:ext cx="4435475" cy="2016125"/>
            </a:xfrm>
            <a:custGeom>
              <a:avLst/>
              <a:gdLst/>
              <a:ahLst/>
              <a:cxnLst/>
              <a:rect l="l" t="t" r="r" b="b"/>
              <a:pathLst>
                <a:path w="4435475" h="2016125">
                  <a:moveTo>
                    <a:pt x="4334059" y="0"/>
                  </a:moveTo>
                  <a:lnTo>
                    <a:pt x="101221" y="0"/>
                  </a:lnTo>
                  <a:lnTo>
                    <a:pt x="61821" y="7954"/>
                  </a:lnTo>
                  <a:lnTo>
                    <a:pt x="29646" y="29646"/>
                  </a:lnTo>
                  <a:lnTo>
                    <a:pt x="7954" y="61821"/>
                  </a:lnTo>
                  <a:lnTo>
                    <a:pt x="0" y="101221"/>
                  </a:lnTo>
                  <a:lnTo>
                    <a:pt x="0" y="1914806"/>
                  </a:lnTo>
                  <a:lnTo>
                    <a:pt x="7954" y="1954206"/>
                  </a:lnTo>
                  <a:lnTo>
                    <a:pt x="29646" y="1986381"/>
                  </a:lnTo>
                  <a:lnTo>
                    <a:pt x="61821" y="2008073"/>
                  </a:lnTo>
                  <a:lnTo>
                    <a:pt x="101221" y="2016028"/>
                  </a:lnTo>
                  <a:lnTo>
                    <a:pt x="4334059" y="2016028"/>
                  </a:lnTo>
                  <a:lnTo>
                    <a:pt x="4373460" y="2008073"/>
                  </a:lnTo>
                  <a:lnTo>
                    <a:pt x="4405634" y="1986381"/>
                  </a:lnTo>
                  <a:lnTo>
                    <a:pt x="4427327" y="1954206"/>
                  </a:lnTo>
                  <a:lnTo>
                    <a:pt x="4435281" y="1914806"/>
                  </a:lnTo>
                  <a:lnTo>
                    <a:pt x="4435281" y="101221"/>
                  </a:lnTo>
                  <a:lnTo>
                    <a:pt x="4427327" y="61821"/>
                  </a:lnTo>
                  <a:lnTo>
                    <a:pt x="4405634" y="29646"/>
                  </a:lnTo>
                  <a:lnTo>
                    <a:pt x="4373460" y="7954"/>
                  </a:lnTo>
                  <a:lnTo>
                    <a:pt x="4334059" y="0"/>
                  </a:lnTo>
                  <a:close/>
                </a:path>
              </a:pathLst>
            </a:custGeom>
            <a:ln w="5060">
              <a:solidFill>
                <a:srgbClr val="64728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1576349" y="1076593"/>
            <a:ext cx="2607310" cy="588645"/>
          </a:xfrm>
          <a:prstGeom prst="rect">
            <a:avLst/>
          </a:prstGeom>
        </p:spPr>
        <p:txBody>
          <a:bodyPr vert="horz" wrap="square" lIns="0" tIns="13017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25"/>
              </a:spcBef>
            </a:pPr>
            <a:r>
              <a:rPr sz="1400" spc="-85" dirty="0">
                <a:solidFill>
                  <a:srgbClr val="A5B2C5"/>
                </a:solidFill>
                <a:latin typeface="Arial MT"/>
                <a:cs typeface="Arial MT"/>
              </a:rPr>
              <a:t>Screenshot</a:t>
            </a:r>
            <a:r>
              <a:rPr sz="1400" spc="-5" dirty="0">
                <a:solidFill>
                  <a:srgbClr val="A5B2C5"/>
                </a:solidFill>
                <a:latin typeface="Arial MT"/>
                <a:cs typeface="Arial MT"/>
              </a:rPr>
              <a:t> </a:t>
            </a:r>
            <a:r>
              <a:rPr sz="1400" spc="-10" dirty="0">
                <a:solidFill>
                  <a:srgbClr val="A5B2C5"/>
                </a:solidFill>
                <a:latin typeface="Arial MT"/>
                <a:cs typeface="Arial MT"/>
              </a:rPr>
              <a:t>Placeholder</a:t>
            </a:r>
            <a:endParaRPr sz="1400">
              <a:latin typeface="Arial MT"/>
              <a:cs typeface="Arial MT"/>
            </a:endParaRPr>
          </a:p>
          <a:p>
            <a:pPr algn="ctr">
              <a:lnSpc>
                <a:spcPct val="100000"/>
              </a:lnSpc>
              <a:spcBef>
                <a:spcPts val="625"/>
              </a:spcBef>
            </a:pPr>
            <a:r>
              <a:rPr sz="1000" dirty="0">
                <a:solidFill>
                  <a:srgbClr val="A5B2C5"/>
                </a:solidFill>
                <a:latin typeface="Arial MT"/>
                <a:cs typeface="Arial MT"/>
              </a:rPr>
              <a:t>Add</a:t>
            </a:r>
            <a:r>
              <a:rPr sz="1000" spc="-50" dirty="0">
                <a:solidFill>
                  <a:srgbClr val="A5B2C5"/>
                </a:solidFill>
                <a:latin typeface="Arial MT"/>
                <a:cs typeface="Arial MT"/>
              </a:rPr>
              <a:t> </a:t>
            </a:r>
            <a:r>
              <a:rPr sz="1000" spc="-30" dirty="0">
                <a:solidFill>
                  <a:srgbClr val="A5B2C5"/>
                </a:solidFill>
                <a:latin typeface="Arial MT"/>
                <a:cs typeface="Arial MT"/>
              </a:rPr>
              <a:t>image:</a:t>
            </a:r>
            <a:r>
              <a:rPr sz="1000" spc="30" dirty="0">
                <a:solidFill>
                  <a:srgbClr val="A5B2C5"/>
                </a:solidFill>
                <a:latin typeface="Arial MT"/>
                <a:cs typeface="Arial MT"/>
              </a:rPr>
              <a:t> </a:t>
            </a:r>
            <a:r>
              <a:rPr sz="1000" spc="40" dirty="0">
                <a:solidFill>
                  <a:srgbClr val="A5B2C5"/>
                </a:solidFill>
                <a:latin typeface="Cambria"/>
                <a:cs typeface="Cambria"/>
              </a:rPr>
              <a:t>screenshots/06\_simulator.png</a:t>
            </a:r>
            <a:endParaRPr sz="1000">
              <a:latin typeface="Cambria"/>
              <a:cs typeface="Cambria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/>
              <a:t>FinPilot</a:t>
            </a:r>
            <a:r>
              <a:rPr spc="45" dirty="0"/>
              <a:t> </a:t>
            </a:r>
            <a:r>
              <a:rPr dirty="0"/>
              <a:t>—</a:t>
            </a:r>
            <a:r>
              <a:rPr spc="50" dirty="0"/>
              <a:t> </a:t>
            </a:r>
            <a:r>
              <a:rPr dirty="0"/>
              <a:t>AI</a:t>
            </a:r>
            <a:r>
              <a:rPr spc="55" dirty="0"/>
              <a:t> </a:t>
            </a:r>
            <a:r>
              <a:rPr spc="-20" dirty="0"/>
              <a:t>Personal</a:t>
            </a:r>
            <a:r>
              <a:rPr spc="50" dirty="0"/>
              <a:t> </a:t>
            </a:r>
            <a:r>
              <a:rPr spc="-20" dirty="0"/>
              <a:t>Finance</a:t>
            </a:r>
            <a:r>
              <a:rPr spc="55" dirty="0"/>
              <a:t> </a:t>
            </a:r>
            <a:r>
              <a:rPr spc="-10" dirty="0"/>
              <a:t>Decision</a:t>
            </a:r>
            <a:r>
              <a:rPr spc="50" dirty="0"/>
              <a:t> </a:t>
            </a:r>
            <a:r>
              <a:rPr dirty="0"/>
              <a:t>Support</a:t>
            </a:r>
            <a:r>
              <a:rPr spc="45" dirty="0"/>
              <a:t> </a:t>
            </a:r>
            <a:r>
              <a:rPr spc="-10" dirty="0"/>
              <a:t>Agent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pc="-25" dirty="0"/>
              <a:t>19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365963" y="2645929"/>
            <a:ext cx="5027930" cy="36385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2099310" marR="5080" indent="-2087245">
              <a:lnSpc>
                <a:spcPct val="102600"/>
              </a:lnSpc>
              <a:spcBef>
                <a:spcPts val="55"/>
              </a:spcBef>
            </a:pPr>
            <a:r>
              <a:rPr sz="1100" spc="-10" dirty="0">
                <a:solidFill>
                  <a:srgbClr val="A5B2C5"/>
                </a:solidFill>
                <a:latin typeface="Arial MT"/>
                <a:cs typeface="Arial MT"/>
              </a:rPr>
              <a:t>The</a:t>
            </a:r>
            <a:r>
              <a:rPr sz="1100" spc="-5" dirty="0">
                <a:solidFill>
                  <a:srgbClr val="A5B2C5"/>
                </a:solidFill>
                <a:latin typeface="Arial MT"/>
                <a:cs typeface="Arial MT"/>
              </a:rPr>
              <a:t> </a:t>
            </a:r>
            <a:r>
              <a:rPr sz="1100" spc="-35" dirty="0">
                <a:solidFill>
                  <a:srgbClr val="A5B2C5"/>
                </a:solidFill>
                <a:latin typeface="Arial MT"/>
                <a:cs typeface="Arial MT"/>
              </a:rPr>
              <a:t>simulator</a:t>
            </a:r>
            <a:r>
              <a:rPr sz="1100" spc="-5" dirty="0">
                <a:solidFill>
                  <a:srgbClr val="A5B2C5"/>
                </a:solidFill>
                <a:latin typeface="Arial MT"/>
                <a:cs typeface="Arial MT"/>
              </a:rPr>
              <a:t> </a:t>
            </a:r>
            <a:r>
              <a:rPr sz="1100" spc="-20" dirty="0">
                <a:solidFill>
                  <a:srgbClr val="A5B2C5"/>
                </a:solidFill>
                <a:latin typeface="Arial MT"/>
                <a:cs typeface="Arial MT"/>
              </a:rPr>
              <a:t>turns</a:t>
            </a:r>
            <a:r>
              <a:rPr sz="1100" dirty="0">
                <a:solidFill>
                  <a:srgbClr val="A5B2C5"/>
                </a:solidFill>
                <a:latin typeface="Arial MT"/>
                <a:cs typeface="Arial MT"/>
              </a:rPr>
              <a:t> </a:t>
            </a:r>
            <a:r>
              <a:rPr sz="1100" spc="-35" dirty="0">
                <a:solidFill>
                  <a:srgbClr val="A5B2C5"/>
                </a:solidFill>
                <a:latin typeface="Arial MT"/>
                <a:cs typeface="Arial MT"/>
              </a:rPr>
              <a:t>financial</a:t>
            </a:r>
            <a:r>
              <a:rPr sz="1100" dirty="0">
                <a:solidFill>
                  <a:srgbClr val="A5B2C5"/>
                </a:solidFill>
                <a:latin typeface="Arial MT"/>
                <a:cs typeface="Arial MT"/>
              </a:rPr>
              <a:t> </a:t>
            </a:r>
            <a:r>
              <a:rPr sz="1100" spc="-45" dirty="0">
                <a:solidFill>
                  <a:srgbClr val="A5B2C5"/>
                </a:solidFill>
                <a:latin typeface="Arial MT"/>
                <a:cs typeface="Arial MT"/>
              </a:rPr>
              <a:t>planning</a:t>
            </a:r>
            <a:r>
              <a:rPr sz="1100" spc="-5" dirty="0">
                <a:solidFill>
                  <a:srgbClr val="A5B2C5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A5B2C5"/>
                </a:solidFill>
                <a:latin typeface="Arial MT"/>
                <a:cs typeface="Arial MT"/>
              </a:rPr>
              <a:t>into </a:t>
            </a:r>
            <a:r>
              <a:rPr sz="1100" spc="-40" dirty="0">
                <a:solidFill>
                  <a:srgbClr val="A5B2C5"/>
                </a:solidFill>
                <a:latin typeface="Arial MT"/>
                <a:cs typeface="Arial MT"/>
              </a:rPr>
              <a:t>an</a:t>
            </a:r>
            <a:r>
              <a:rPr sz="1100" dirty="0">
                <a:solidFill>
                  <a:srgbClr val="A5B2C5"/>
                </a:solidFill>
                <a:latin typeface="Arial MT"/>
                <a:cs typeface="Arial MT"/>
              </a:rPr>
              <a:t> </a:t>
            </a:r>
            <a:r>
              <a:rPr sz="1100" spc="-35" dirty="0">
                <a:solidFill>
                  <a:srgbClr val="A5B2C5"/>
                </a:solidFill>
                <a:latin typeface="Arial MT"/>
                <a:cs typeface="Arial MT"/>
              </a:rPr>
              <a:t>interactive</a:t>
            </a:r>
            <a:r>
              <a:rPr sz="1100" spc="-5" dirty="0">
                <a:solidFill>
                  <a:srgbClr val="A5B2C5"/>
                </a:solidFill>
                <a:latin typeface="Arial MT"/>
                <a:cs typeface="Arial MT"/>
              </a:rPr>
              <a:t> </a:t>
            </a:r>
            <a:r>
              <a:rPr sz="1100" spc="-30" dirty="0">
                <a:solidFill>
                  <a:srgbClr val="A5B2C5"/>
                </a:solidFill>
                <a:latin typeface="Arial MT"/>
                <a:cs typeface="Arial MT"/>
              </a:rPr>
              <a:t>what-</a:t>
            </a:r>
            <a:r>
              <a:rPr sz="1100" dirty="0">
                <a:solidFill>
                  <a:srgbClr val="A5B2C5"/>
                </a:solidFill>
                <a:latin typeface="Arial MT"/>
                <a:cs typeface="Arial MT"/>
              </a:rPr>
              <a:t>if </a:t>
            </a:r>
            <a:r>
              <a:rPr sz="1100" spc="-75" dirty="0">
                <a:solidFill>
                  <a:srgbClr val="A5B2C5"/>
                </a:solidFill>
                <a:latin typeface="Arial MT"/>
                <a:cs typeface="Arial MT"/>
              </a:rPr>
              <a:t>analysis</a:t>
            </a:r>
            <a:r>
              <a:rPr sz="1100" dirty="0">
                <a:solidFill>
                  <a:srgbClr val="A5B2C5"/>
                </a:solidFill>
                <a:latin typeface="Arial MT"/>
                <a:cs typeface="Arial MT"/>
              </a:rPr>
              <a:t> </a:t>
            </a:r>
            <a:r>
              <a:rPr sz="1100" spc="-20" dirty="0">
                <a:solidFill>
                  <a:srgbClr val="A5B2C5"/>
                </a:solidFill>
                <a:latin typeface="Arial MT"/>
                <a:cs typeface="Arial MT"/>
              </a:rPr>
              <a:t>rather</a:t>
            </a:r>
            <a:r>
              <a:rPr sz="1100" spc="-5" dirty="0">
                <a:solidFill>
                  <a:srgbClr val="A5B2C5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A5B2C5"/>
                </a:solidFill>
                <a:latin typeface="Arial MT"/>
                <a:cs typeface="Arial MT"/>
              </a:rPr>
              <a:t>than</a:t>
            </a:r>
            <a:r>
              <a:rPr sz="1100" dirty="0">
                <a:solidFill>
                  <a:srgbClr val="A5B2C5"/>
                </a:solidFill>
                <a:latin typeface="Arial MT"/>
                <a:cs typeface="Arial MT"/>
              </a:rPr>
              <a:t> </a:t>
            </a:r>
            <a:r>
              <a:rPr sz="1100" spc="-50" dirty="0">
                <a:solidFill>
                  <a:srgbClr val="A5B2C5"/>
                </a:solidFill>
                <a:latin typeface="Arial MT"/>
                <a:cs typeface="Arial MT"/>
              </a:rPr>
              <a:t>a </a:t>
            </a:r>
            <a:r>
              <a:rPr sz="1100" spc="-10" dirty="0">
                <a:solidFill>
                  <a:srgbClr val="A5B2C5"/>
                </a:solidFill>
                <a:latin typeface="Arial MT"/>
                <a:cs typeface="Arial MT"/>
              </a:rPr>
              <a:t>static</a:t>
            </a:r>
            <a:r>
              <a:rPr sz="1100" spc="-40" dirty="0">
                <a:solidFill>
                  <a:srgbClr val="A5B2C5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A5B2C5"/>
                </a:solidFill>
                <a:latin typeface="Arial MT"/>
                <a:cs typeface="Arial MT"/>
              </a:rPr>
              <a:t>number.</a:t>
            </a:r>
            <a:endParaRPr sz="1100">
              <a:latin typeface="Arial MT"/>
              <a:cs typeface="Arial MT"/>
            </a:endParaRPr>
          </a:p>
        </p:txBody>
      </p:sp>
    </p:spTree>
  </p:cSld>
  <p:clrMapOvr>
    <a:masterClrMapping/>
  </p:clrMapOvr>
  <p:transition>
    <p:cut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FinPilot</a:t>
            </a:r>
            <a:r>
              <a:rPr spc="295" dirty="0"/>
              <a:t> </a:t>
            </a:r>
            <a:r>
              <a:rPr spc="75" dirty="0"/>
              <a:t>AI</a:t>
            </a:r>
            <a:r>
              <a:rPr spc="300" dirty="0"/>
              <a:t> </a:t>
            </a:r>
            <a:r>
              <a:rPr spc="30" dirty="0"/>
              <a:t>CFO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11302" y="420214"/>
            <a:ext cx="2142490" cy="253428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b="1" dirty="0">
                <a:solidFill>
                  <a:srgbClr val="27D2DC"/>
                </a:solidFill>
                <a:latin typeface="Arial"/>
                <a:cs typeface="Arial"/>
              </a:rPr>
              <a:t>Ask</a:t>
            </a:r>
            <a:r>
              <a:rPr sz="1400" b="1" spc="40" dirty="0">
                <a:solidFill>
                  <a:srgbClr val="27D2DC"/>
                </a:solidFill>
                <a:latin typeface="Arial"/>
                <a:cs typeface="Arial"/>
              </a:rPr>
              <a:t> </a:t>
            </a:r>
            <a:r>
              <a:rPr sz="1400" b="1" spc="-10" dirty="0">
                <a:solidFill>
                  <a:srgbClr val="27D2DC"/>
                </a:solidFill>
                <a:latin typeface="Arial"/>
                <a:cs typeface="Arial"/>
              </a:rPr>
              <a:t>questions</a:t>
            </a:r>
            <a:r>
              <a:rPr sz="1400" b="1" spc="45" dirty="0">
                <a:solidFill>
                  <a:srgbClr val="27D2DC"/>
                </a:solidFill>
                <a:latin typeface="Arial"/>
                <a:cs typeface="Arial"/>
              </a:rPr>
              <a:t> </a:t>
            </a:r>
            <a:r>
              <a:rPr sz="1400" b="1" spc="-10" dirty="0">
                <a:solidFill>
                  <a:srgbClr val="27D2DC"/>
                </a:solidFill>
                <a:latin typeface="Arial"/>
                <a:cs typeface="Arial"/>
              </a:rPr>
              <a:t>naturally</a:t>
            </a:r>
            <a:endParaRPr sz="1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25"/>
              </a:spcBef>
            </a:pPr>
            <a:r>
              <a:rPr sz="1100" spc="-10" dirty="0">
                <a:solidFill>
                  <a:srgbClr val="F4F8FC"/>
                </a:solidFill>
                <a:latin typeface="Arial MT"/>
                <a:cs typeface="Arial MT"/>
              </a:rPr>
              <a:t>Examples:</a:t>
            </a:r>
            <a:endParaRPr sz="1100">
              <a:latin typeface="Arial MT"/>
              <a:cs typeface="Arial MT"/>
            </a:endParaRPr>
          </a:p>
          <a:p>
            <a:pPr marL="287020" marR="5080" indent="-207645">
              <a:lnSpc>
                <a:spcPct val="102600"/>
              </a:lnSpc>
              <a:spcBef>
                <a:spcPts val="300"/>
              </a:spcBef>
              <a:buClr>
                <a:srgbClr val="27D2DC"/>
              </a:buClr>
              <a:buSzPct val="90909"/>
              <a:buFont typeface="Lucida Sans Unicode"/>
              <a:buChar char="►"/>
              <a:tabLst>
                <a:tab pos="289560" algn="l"/>
              </a:tabLst>
            </a:pPr>
            <a:r>
              <a:rPr sz="1100" spc="-70" dirty="0">
                <a:solidFill>
                  <a:srgbClr val="F4F8FC"/>
                </a:solidFill>
                <a:latin typeface="Arial MT"/>
                <a:cs typeface="Arial MT"/>
              </a:rPr>
              <a:t>Where</a:t>
            </a:r>
            <a:r>
              <a:rPr sz="1100" spc="-5" dirty="0">
                <a:solidFill>
                  <a:srgbClr val="F4F8FC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F4F8FC"/>
                </a:solidFill>
                <a:latin typeface="Arial MT"/>
                <a:cs typeface="Arial MT"/>
              </a:rPr>
              <a:t>did</a:t>
            </a:r>
            <a:r>
              <a:rPr sz="1100" spc="-35" dirty="0">
                <a:solidFill>
                  <a:srgbClr val="F4F8FC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F4F8FC"/>
                </a:solidFill>
                <a:latin typeface="Arial MT"/>
                <a:cs typeface="Arial MT"/>
              </a:rPr>
              <a:t>I</a:t>
            </a:r>
            <a:r>
              <a:rPr sz="1100" spc="-10" dirty="0">
                <a:solidFill>
                  <a:srgbClr val="F4F8FC"/>
                </a:solidFill>
                <a:latin typeface="Arial MT"/>
                <a:cs typeface="Arial MT"/>
              </a:rPr>
              <a:t> </a:t>
            </a:r>
            <a:r>
              <a:rPr sz="1100" spc="-90" dirty="0">
                <a:solidFill>
                  <a:srgbClr val="F4F8FC"/>
                </a:solidFill>
                <a:latin typeface="Arial MT"/>
                <a:cs typeface="Arial MT"/>
              </a:rPr>
              <a:t>spend</a:t>
            </a:r>
            <a:r>
              <a:rPr sz="1100" spc="15" dirty="0">
                <a:solidFill>
                  <a:srgbClr val="F4F8FC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F4F8FC"/>
                </a:solidFill>
                <a:latin typeface="Arial MT"/>
                <a:cs typeface="Arial MT"/>
              </a:rPr>
              <a:t>the</a:t>
            </a:r>
            <a:r>
              <a:rPr sz="1100" spc="-5" dirty="0">
                <a:solidFill>
                  <a:srgbClr val="F4F8FC"/>
                </a:solidFill>
                <a:latin typeface="Arial MT"/>
                <a:cs typeface="Arial MT"/>
              </a:rPr>
              <a:t> </a:t>
            </a:r>
            <a:r>
              <a:rPr sz="1100" spc="-40" dirty="0">
                <a:solidFill>
                  <a:srgbClr val="F4F8FC"/>
                </a:solidFill>
                <a:latin typeface="Arial MT"/>
                <a:cs typeface="Arial MT"/>
              </a:rPr>
              <a:t>most</a:t>
            </a:r>
            <a:r>
              <a:rPr sz="1100" spc="-10" dirty="0">
                <a:solidFill>
                  <a:srgbClr val="F4F8FC"/>
                </a:solidFill>
                <a:latin typeface="Arial MT"/>
                <a:cs typeface="Arial MT"/>
              </a:rPr>
              <a:t> </a:t>
            </a:r>
            <a:r>
              <a:rPr sz="1100" spc="-20" dirty="0">
                <a:solidFill>
                  <a:srgbClr val="F4F8FC"/>
                </a:solidFill>
                <a:latin typeface="Arial MT"/>
                <a:cs typeface="Arial MT"/>
              </a:rPr>
              <a:t>this 	</a:t>
            </a:r>
            <a:r>
              <a:rPr sz="1100" spc="-10" dirty="0">
                <a:solidFill>
                  <a:srgbClr val="F4F8FC"/>
                </a:solidFill>
                <a:latin typeface="Arial MT"/>
                <a:cs typeface="Arial MT"/>
              </a:rPr>
              <a:t>month?</a:t>
            </a:r>
            <a:endParaRPr sz="1100">
              <a:latin typeface="Arial MT"/>
              <a:cs typeface="Arial MT"/>
            </a:endParaRPr>
          </a:p>
          <a:p>
            <a:pPr marL="287020" marR="396240" indent="-207645">
              <a:lnSpc>
                <a:spcPct val="102600"/>
              </a:lnSpc>
              <a:spcBef>
                <a:spcPts val="295"/>
              </a:spcBef>
              <a:buClr>
                <a:srgbClr val="27D2DC"/>
              </a:buClr>
              <a:buSzPct val="90909"/>
              <a:buFont typeface="Lucida Sans Unicode"/>
              <a:buChar char="►"/>
              <a:tabLst>
                <a:tab pos="289560" algn="l"/>
              </a:tabLst>
            </a:pPr>
            <a:r>
              <a:rPr sz="1100" spc="-30" dirty="0">
                <a:solidFill>
                  <a:srgbClr val="F4F8FC"/>
                </a:solidFill>
                <a:latin typeface="Arial MT"/>
                <a:cs typeface="Arial MT"/>
              </a:rPr>
              <a:t>Which</a:t>
            </a:r>
            <a:r>
              <a:rPr sz="1100" spc="-10" dirty="0">
                <a:solidFill>
                  <a:srgbClr val="F4F8FC"/>
                </a:solidFill>
                <a:latin typeface="Arial MT"/>
                <a:cs typeface="Arial MT"/>
              </a:rPr>
              <a:t> </a:t>
            </a:r>
            <a:r>
              <a:rPr sz="1100" spc="-55" dirty="0">
                <a:solidFill>
                  <a:srgbClr val="F4F8FC"/>
                </a:solidFill>
                <a:latin typeface="Arial MT"/>
                <a:cs typeface="Arial MT"/>
              </a:rPr>
              <a:t>subscriptions</a:t>
            </a:r>
            <a:r>
              <a:rPr sz="1100" spc="-5" dirty="0">
                <a:solidFill>
                  <a:srgbClr val="F4F8FC"/>
                </a:solidFill>
                <a:latin typeface="Arial MT"/>
                <a:cs typeface="Arial MT"/>
              </a:rPr>
              <a:t> </a:t>
            </a:r>
            <a:r>
              <a:rPr sz="1100" spc="-35" dirty="0">
                <a:solidFill>
                  <a:srgbClr val="F4F8FC"/>
                </a:solidFill>
                <a:latin typeface="Arial MT"/>
                <a:cs typeface="Arial MT"/>
              </a:rPr>
              <a:t>am</a:t>
            </a:r>
            <a:r>
              <a:rPr sz="1100" spc="-5" dirty="0">
                <a:solidFill>
                  <a:srgbClr val="F4F8FC"/>
                </a:solidFill>
                <a:latin typeface="Arial MT"/>
                <a:cs typeface="Arial MT"/>
              </a:rPr>
              <a:t> </a:t>
            </a:r>
            <a:r>
              <a:rPr sz="1100" spc="-50" dirty="0">
                <a:solidFill>
                  <a:srgbClr val="F4F8FC"/>
                </a:solidFill>
                <a:latin typeface="Arial MT"/>
                <a:cs typeface="Arial MT"/>
              </a:rPr>
              <a:t>I 	</a:t>
            </a:r>
            <a:r>
              <a:rPr sz="1100" spc="-60" dirty="0">
                <a:solidFill>
                  <a:srgbClr val="F4F8FC"/>
                </a:solidFill>
                <a:latin typeface="Arial MT"/>
                <a:cs typeface="Arial MT"/>
              </a:rPr>
              <a:t>paying</a:t>
            </a:r>
            <a:r>
              <a:rPr sz="1100" spc="20" dirty="0">
                <a:solidFill>
                  <a:srgbClr val="F4F8FC"/>
                </a:solidFill>
                <a:latin typeface="Arial MT"/>
                <a:cs typeface="Arial MT"/>
              </a:rPr>
              <a:t> </a:t>
            </a:r>
            <a:r>
              <a:rPr sz="1100" spc="-20" dirty="0">
                <a:solidFill>
                  <a:srgbClr val="F4F8FC"/>
                </a:solidFill>
                <a:latin typeface="Arial MT"/>
                <a:cs typeface="Arial MT"/>
              </a:rPr>
              <a:t>for?</a:t>
            </a:r>
            <a:endParaRPr sz="1100">
              <a:latin typeface="Arial MT"/>
              <a:cs typeface="Arial MT"/>
            </a:endParaRPr>
          </a:p>
          <a:p>
            <a:pPr marL="287020" indent="-207645">
              <a:lnSpc>
                <a:spcPct val="100000"/>
              </a:lnSpc>
              <a:spcBef>
                <a:spcPts val="335"/>
              </a:spcBef>
              <a:buClr>
                <a:srgbClr val="27D2DC"/>
              </a:buClr>
              <a:buSzPct val="90909"/>
              <a:buFont typeface="Lucida Sans Unicode"/>
              <a:buChar char="►"/>
              <a:tabLst>
                <a:tab pos="287020" algn="l"/>
              </a:tabLst>
            </a:pPr>
            <a:r>
              <a:rPr sz="1100" dirty="0">
                <a:solidFill>
                  <a:srgbClr val="F4F8FC"/>
                </a:solidFill>
                <a:latin typeface="Arial MT"/>
                <a:cs typeface="Arial MT"/>
              </a:rPr>
              <a:t>What</a:t>
            </a:r>
            <a:r>
              <a:rPr sz="1100" spc="-15" dirty="0">
                <a:solidFill>
                  <a:srgbClr val="F4F8FC"/>
                </a:solidFill>
                <a:latin typeface="Arial MT"/>
                <a:cs typeface="Arial MT"/>
              </a:rPr>
              <a:t> </a:t>
            </a:r>
            <a:r>
              <a:rPr sz="1100" spc="-105" dirty="0">
                <a:solidFill>
                  <a:srgbClr val="F4F8FC"/>
                </a:solidFill>
                <a:latin typeface="Arial MT"/>
                <a:cs typeface="Arial MT"/>
              </a:rPr>
              <a:t>expenses</a:t>
            </a:r>
            <a:r>
              <a:rPr sz="1100" spc="30" dirty="0">
                <a:solidFill>
                  <a:srgbClr val="F4F8FC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F4F8FC"/>
                </a:solidFill>
                <a:latin typeface="Arial MT"/>
                <a:cs typeface="Arial MT"/>
              </a:rPr>
              <a:t>increased?</a:t>
            </a:r>
            <a:endParaRPr sz="1100">
              <a:latin typeface="Arial MT"/>
              <a:cs typeface="Arial MT"/>
            </a:endParaRPr>
          </a:p>
          <a:p>
            <a:pPr marL="287020" marR="287655" indent="-207645">
              <a:lnSpc>
                <a:spcPct val="102699"/>
              </a:lnSpc>
              <a:spcBef>
                <a:spcPts val="300"/>
              </a:spcBef>
              <a:buClr>
                <a:srgbClr val="27D2DC"/>
              </a:buClr>
              <a:buSzPct val="90909"/>
              <a:buFont typeface="Lucida Sans Unicode"/>
              <a:buChar char="►"/>
              <a:tabLst>
                <a:tab pos="289560" algn="l"/>
              </a:tabLst>
            </a:pPr>
            <a:r>
              <a:rPr sz="1100" spc="-45" dirty="0">
                <a:solidFill>
                  <a:srgbClr val="F4F8FC"/>
                </a:solidFill>
                <a:latin typeface="Arial MT"/>
                <a:cs typeface="Arial MT"/>
              </a:rPr>
              <a:t>How</a:t>
            </a:r>
            <a:r>
              <a:rPr sz="1100" spc="-25" dirty="0">
                <a:solidFill>
                  <a:srgbClr val="F4F8FC"/>
                </a:solidFill>
                <a:latin typeface="Arial MT"/>
                <a:cs typeface="Arial MT"/>
              </a:rPr>
              <a:t> </a:t>
            </a:r>
            <a:r>
              <a:rPr sz="1100" spc="-50" dirty="0">
                <a:solidFill>
                  <a:srgbClr val="F4F8FC"/>
                </a:solidFill>
                <a:latin typeface="Arial MT"/>
                <a:cs typeface="Arial MT"/>
              </a:rPr>
              <a:t>much</a:t>
            </a:r>
            <a:r>
              <a:rPr sz="1100" spc="-25" dirty="0">
                <a:solidFill>
                  <a:srgbClr val="F4F8FC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F4F8FC"/>
                </a:solidFill>
                <a:latin typeface="Arial MT"/>
                <a:cs typeface="Arial MT"/>
              </a:rPr>
              <a:t>of</a:t>
            </a:r>
            <a:r>
              <a:rPr sz="1100" spc="-20" dirty="0">
                <a:solidFill>
                  <a:srgbClr val="F4F8FC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F4F8FC"/>
                </a:solidFill>
                <a:latin typeface="Arial MT"/>
                <a:cs typeface="Arial MT"/>
              </a:rPr>
              <a:t>my</a:t>
            </a:r>
            <a:r>
              <a:rPr sz="1100" spc="-25" dirty="0">
                <a:solidFill>
                  <a:srgbClr val="F4F8FC"/>
                </a:solidFill>
                <a:latin typeface="Arial MT"/>
                <a:cs typeface="Arial MT"/>
              </a:rPr>
              <a:t> </a:t>
            </a:r>
            <a:r>
              <a:rPr sz="1100" spc="-40" dirty="0">
                <a:solidFill>
                  <a:srgbClr val="F4F8FC"/>
                </a:solidFill>
                <a:latin typeface="Arial MT"/>
                <a:cs typeface="Arial MT"/>
              </a:rPr>
              <a:t>budget</a:t>
            </a:r>
            <a:r>
              <a:rPr sz="1100" spc="-20" dirty="0">
                <a:solidFill>
                  <a:srgbClr val="F4F8FC"/>
                </a:solidFill>
                <a:latin typeface="Arial MT"/>
                <a:cs typeface="Arial MT"/>
              </a:rPr>
              <a:t> </a:t>
            </a:r>
            <a:r>
              <a:rPr sz="1100" spc="-25" dirty="0">
                <a:solidFill>
                  <a:srgbClr val="F4F8FC"/>
                </a:solidFill>
                <a:latin typeface="Arial MT"/>
                <a:cs typeface="Arial MT"/>
              </a:rPr>
              <a:t>is 	</a:t>
            </a:r>
            <a:r>
              <a:rPr sz="1100" spc="-10" dirty="0">
                <a:solidFill>
                  <a:srgbClr val="F4F8FC"/>
                </a:solidFill>
                <a:latin typeface="Arial MT"/>
                <a:cs typeface="Arial MT"/>
              </a:rPr>
              <a:t>committed?</a:t>
            </a:r>
            <a:endParaRPr sz="1100">
              <a:latin typeface="Arial MT"/>
              <a:cs typeface="Arial MT"/>
            </a:endParaRPr>
          </a:p>
          <a:p>
            <a:pPr marL="12700" marR="195580">
              <a:lnSpc>
                <a:spcPct val="102600"/>
              </a:lnSpc>
              <a:spcBef>
                <a:spcPts val="1150"/>
              </a:spcBef>
            </a:pPr>
            <a:r>
              <a:rPr sz="1100" spc="-10" dirty="0">
                <a:solidFill>
                  <a:srgbClr val="A5B2C5"/>
                </a:solidFill>
                <a:latin typeface="Arial MT"/>
                <a:cs typeface="Arial MT"/>
              </a:rPr>
              <a:t>The</a:t>
            </a:r>
            <a:r>
              <a:rPr sz="1100" spc="-50" dirty="0">
                <a:solidFill>
                  <a:srgbClr val="A5B2C5"/>
                </a:solidFill>
                <a:latin typeface="Arial MT"/>
                <a:cs typeface="Arial MT"/>
              </a:rPr>
              <a:t> </a:t>
            </a:r>
            <a:r>
              <a:rPr sz="1100" spc="-70" dirty="0">
                <a:solidFill>
                  <a:srgbClr val="A5B2C5"/>
                </a:solidFill>
                <a:latin typeface="Arial MT"/>
                <a:cs typeface="Arial MT"/>
              </a:rPr>
              <a:t>system</a:t>
            </a:r>
            <a:r>
              <a:rPr sz="1100" spc="-5" dirty="0">
                <a:solidFill>
                  <a:srgbClr val="A5B2C5"/>
                </a:solidFill>
                <a:latin typeface="Arial MT"/>
                <a:cs typeface="Arial MT"/>
              </a:rPr>
              <a:t> </a:t>
            </a:r>
            <a:r>
              <a:rPr sz="1100" spc="-45" dirty="0">
                <a:solidFill>
                  <a:srgbClr val="A5B2C5"/>
                </a:solidFill>
                <a:latin typeface="Arial MT"/>
                <a:cs typeface="Arial MT"/>
              </a:rPr>
              <a:t>translates</a:t>
            </a:r>
            <a:r>
              <a:rPr sz="1100" spc="-25" dirty="0">
                <a:solidFill>
                  <a:srgbClr val="A5B2C5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A5B2C5"/>
                </a:solidFill>
                <a:latin typeface="Arial MT"/>
                <a:cs typeface="Arial MT"/>
              </a:rPr>
              <a:t>the</a:t>
            </a:r>
            <a:r>
              <a:rPr sz="1100" spc="-25" dirty="0">
                <a:solidFill>
                  <a:srgbClr val="A5B2C5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A5B2C5"/>
                </a:solidFill>
                <a:latin typeface="Arial MT"/>
                <a:cs typeface="Arial MT"/>
              </a:rPr>
              <a:t>user’s </a:t>
            </a:r>
            <a:r>
              <a:rPr sz="1100" dirty="0">
                <a:solidFill>
                  <a:srgbClr val="A5B2C5"/>
                </a:solidFill>
                <a:latin typeface="Arial MT"/>
                <a:cs typeface="Arial MT"/>
              </a:rPr>
              <a:t>intent</a:t>
            </a:r>
            <a:r>
              <a:rPr sz="1100" spc="-15" dirty="0">
                <a:solidFill>
                  <a:srgbClr val="A5B2C5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A5B2C5"/>
                </a:solidFill>
                <a:latin typeface="Arial MT"/>
                <a:cs typeface="Arial MT"/>
              </a:rPr>
              <a:t>into</a:t>
            </a:r>
            <a:r>
              <a:rPr sz="1100" spc="-10" dirty="0">
                <a:solidFill>
                  <a:srgbClr val="A5B2C5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A5B2C5"/>
                </a:solidFill>
                <a:latin typeface="Arial MT"/>
                <a:cs typeface="Arial MT"/>
              </a:rPr>
              <a:t>a</a:t>
            </a:r>
            <a:r>
              <a:rPr sz="1100" spc="-10" dirty="0">
                <a:solidFill>
                  <a:srgbClr val="A5B2C5"/>
                </a:solidFill>
                <a:latin typeface="Arial MT"/>
                <a:cs typeface="Arial MT"/>
              </a:rPr>
              <a:t> </a:t>
            </a:r>
            <a:r>
              <a:rPr sz="1100" spc="-35" dirty="0">
                <a:solidFill>
                  <a:srgbClr val="A5B2C5"/>
                </a:solidFill>
                <a:latin typeface="Arial MT"/>
                <a:cs typeface="Arial MT"/>
              </a:rPr>
              <a:t>structured</a:t>
            </a:r>
            <a:r>
              <a:rPr sz="1100" spc="-10" dirty="0">
                <a:solidFill>
                  <a:srgbClr val="A5B2C5"/>
                </a:solidFill>
                <a:latin typeface="Arial MT"/>
                <a:cs typeface="Arial MT"/>
              </a:rPr>
              <a:t> </a:t>
            </a:r>
            <a:r>
              <a:rPr sz="1100" spc="-30" dirty="0">
                <a:solidFill>
                  <a:srgbClr val="A5B2C5"/>
                </a:solidFill>
                <a:latin typeface="Arial MT"/>
                <a:cs typeface="Arial MT"/>
              </a:rPr>
              <a:t>analytical </a:t>
            </a:r>
            <a:r>
              <a:rPr sz="1100" spc="-10" dirty="0">
                <a:solidFill>
                  <a:srgbClr val="A5B2C5"/>
                </a:solidFill>
                <a:latin typeface="Arial MT"/>
                <a:cs typeface="Arial MT"/>
              </a:rPr>
              <a:t>query.</a:t>
            </a:r>
            <a:endParaRPr sz="1100">
              <a:latin typeface="Arial MT"/>
              <a:cs typeface="Arial MT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2922520" y="942561"/>
            <a:ext cx="2355850" cy="1625600"/>
            <a:chOff x="2922520" y="942561"/>
            <a:chExt cx="2355850" cy="1625600"/>
          </a:xfrm>
        </p:grpSpPr>
        <p:sp>
          <p:nvSpPr>
            <p:cNvPr id="5" name="object 5"/>
            <p:cNvSpPr/>
            <p:nvPr/>
          </p:nvSpPr>
          <p:spPr>
            <a:xfrm>
              <a:off x="2925051" y="945091"/>
              <a:ext cx="2350770" cy="1620520"/>
            </a:xfrm>
            <a:custGeom>
              <a:avLst/>
              <a:gdLst/>
              <a:ahLst/>
              <a:cxnLst/>
              <a:rect l="l" t="t" r="r" b="b"/>
              <a:pathLst>
                <a:path w="2350770" h="1620520">
                  <a:moveTo>
                    <a:pt x="2249472" y="0"/>
                  </a:moveTo>
                  <a:lnTo>
                    <a:pt x="101221" y="0"/>
                  </a:lnTo>
                  <a:lnTo>
                    <a:pt x="61821" y="7954"/>
                  </a:lnTo>
                  <a:lnTo>
                    <a:pt x="29646" y="29646"/>
                  </a:lnTo>
                  <a:lnTo>
                    <a:pt x="7954" y="61821"/>
                  </a:lnTo>
                  <a:lnTo>
                    <a:pt x="0" y="101221"/>
                  </a:lnTo>
                  <a:lnTo>
                    <a:pt x="0" y="1518798"/>
                  </a:lnTo>
                  <a:lnTo>
                    <a:pt x="7954" y="1558199"/>
                  </a:lnTo>
                  <a:lnTo>
                    <a:pt x="29646" y="1590373"/>
                  </a:lnTo>
                  <a:lnTo>
                    <a:pt x="61821" y="1612065"/>
                  </a:lnTo>
                  <a:lnTo>
                    <a:pt x="101221" y="1620020"/>
                  </a:lnTo>
                  <a:lnTo>
                    <a:pt x="2249472" y="1620020"/>
                  </a:lnTo>
                  <a:lnTo>
                    <a:pt x="2288872" y="1612065"/>
                  </a:lnTo>
                  <a:lnTo>
                    <a:pt x="2321046" y="1590373"/>
                  </a:lnTo>
                  <a:lnTo>
                    <a:pt x="2342739" y="1558199"/>
                  </a:lnTo>
                  <a:lnTo>
                    <a:pt x="2350693" y="1518798"/>
                  </a:lnTo>
                  <a:lnTo>
                    <a:pt x="2350693" y="101221"/>
                  </a:lnTo>
                  <a:lnTo>
                    <a:pt x="2342739" y="61821"/>
                  </a:lnTo>
                  <a:lnTo>
                    <a:pt x="2321046" y="29646"/>
                  </a:lnTo>
                  <a:lnTo>
                    <a:pt x="2288872" y="7954"/>
                  </a:lnTo>
                  <a:lnTo>
                    <a:pt x="2249472" y="0"/>
                  </a:lnTo>
                  <a:close/>
                </a:path>
              </a:pathLst>
            </a:custGeom>
            <a:solidFill>
              <a:srgbClr val="0C18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925051" y="945091"/>
              <a:ext cx="2350770" cy="1620520"/>
            </a:xfrm>
            <a:custGeom>
              <a:avLst/>
              <a:gdLst/>
              <a:ahLst/>
              <a:cxnLst/>
              <a:rect l="l" t="t" r="r" b="b"/>
              <a:pathLst>
                <a:path w="2350770" h="1620520">
                  <a:moveTo>
                    <a:pt x="2249472" y="0"/>
                  </a:moveTo>
                  <a:lnTo>
                    <a:pt x="101221" y="0"/>
                  </a:lnTo>
                  <a:lnTo>
                    <a:pt x="61821" y="7954"/>
                  </a:lnTo>
                  <a:lnTo>
                    <a:pt x="29646" y="29646"/>
                  </a:lnTo>
                  <a:lnTo>
                    <a:pt x="7954" y="61821"/>
                  </a:lnTo>
                  <a:lnTo>
                    <a:pt x="0" y="101221"/>
                  </a:lnTo>
                  <a:lnTo>
                    <a:pt x="0" y="1518798"/>
                  </a:lnTo>
                  <a:lnTo>
                    <a:pt x="7954" y="1558199"/>
                  </a:lnTo>
                  <a:lnTo>
                    <a:pt x="29646" y="1590373"/>
                  </a:lnTo>
                  <a:lnTo>
                    <a:pt x="61821" y="1612065"/>
                  </a:lnTo>
                  <a:lnTo>
                    <a:pt x="101221" y="1620020"/>
                  </a:lnTo>
                  <a:lnTo>
                    <a:pt x="2249472" y="1620020"/>
                  </a:lnTo>
                  <a:lnTo>
                    <a:pt x="2288872" y="1612065"/>
                  </a:lnTo>
                  <a:lnTo>
                    <a:pt x="2321046" y="1590373"/>
                  </a:lnTo>
                  <a:lnTo>
                    <a:pt x="2342739" y="1558199"/>
                  </a:lnTo>
                  <a:lnTo>
                    <a:pt x="2350693" y="1518798"/>
                  </a:lnTo>
                  <a:lnTo>
                    <a:pt x="2350693" y="101221"/>
                  </a:lnTo>
                  <a:lnTo>
                    <a:pt x="2342739" y="61821"/>
                  </a:lnTo>
                  <a:lnTo>
                    <a:pt x="2321046" y="29646"/>
                  </a:lnTo>
                  <a:lnTo>
                    <a:pt x="2288872" y="7954"/>
                  </a:lnTo>
                  <a:lnTo>
                    <a:pt x="2249472" y="0"/>
                  </a:lnTo>
                  <a:close/>
                </a:path>
              </a:pathLst>
            </a:custGeom>
            <a:ln w="5060">
              <a:solidFill>
                <a:srgbClr val="64728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3191167" y="1300697"/>
            <a:ext cx="1818639" cy="740410"/>
          </a:xfrm>
          <a:prstGeom prst="rect">
            <a:avLst/>
          </a:prstGeom>
        </p:spPr>
        <p:txBody>
          <a:bodyPr vert="horz" wrap="square" lIns="0" tIns="13017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25"/>
              </a:spcBef>
            </a:pPr>
            <a:r>
              <a:rPr sz="1400" spc="-85" dirty="0">
                <a:solidFill>
                  <a:srgbClr val="A5B2C5"/>
                </a:solidFill>
                <a:latin typeface="Arial MT"/>
                <a:cs typeface="Arial MT"/>
              </a:rPr>
              <a:t>Screenshot</a:t>
            </a:r>
            <a:r>
              <a:rPr sz="1400" spc="-5" dirty="0">
                <a:solidFill>
                  <a:srgbClr val="A5B2C5"/>
                </a:solidFill>
                <a:latin typeface="Arial MT"/>
                <a:cs typeface="Arial MT"/>
              </a:rPr>
              <a:t> </a:t>
            </a:r>
            <a:r>
              <a:rPr sz="1400" spc="-10" dirty="0">
                <a:solidFill>
                  <a:srgbClr val="A5B2C5"/>
                </a:solidFill>
                <a:latin typeface="Arial MT"/>
                <a:cs typeface="Arial MT"/>
              </a:rPr>
              <a:t>Placeholder</a:t>
            </a:r>
            <a:endParaRPr sz="1400">
              <a:latin typeface="Arial MT"/>
              <a:cs typeface="Arial MT"/>
            </a:endParaRPr>
          </a:p>
          <a:p>
            <a:pPr algn="ctr">
              <a:lnSpc>
                <a:spcPts val="1200"/>
              </a:lnSpc>
              <a:spcBef>
                <a:spcPts val="625"/>
              </a:spcBef>
            </a:pPr>
            <a:r>
              <a:rPr sz="1000" dirty="0">
                <a:solidFill>
                  <a:srgbClr val="A5B2C5"/>
                </a:solidFill>
                <a:latin typeface="Arial MT"/>
                <a:cs typeface="Arial MT"/>
              </a:rPr>
              <a:t>Add</a:t>
            </a:r>
            <a:r>
              <a:rPr sz="1000" spc="-65" dirty="0">
                <a:solidFill>
                  <a:srgbClr val="A5B2C5"/>
                </a:solidFill>
                <a:latin typeface="Arial MT"/>
                <a:cs typeface="Arial MT"/>
              </a:rPr>
              <a:t> </a:t>
            </a:r>
            <a:r>
              <a:rPr sz="1000" spc="-10" dirty="0">
                <a:solidFill>
                  <a:srgbClr val="A5B2C5"/>
                </a:solidFill>
                <a:latin typeface="Arial MT"/>
                <a:cs typeface="Arial MT"/>
              </a:rPr>
              <a:t>image:</a:t>
            </a:r>
            <a:endParaRPr sz="1000">
              <a:latin typeface="Arial MT"/>
              <a:cs typeface="Arial MT"/>
            </a:endParaRPr>
          </a:p>
          <a:p>
            <a:pPr algn="ctr">
              <a:lnSpc>
                <a:spcPts val="1200"/>
              </a:lnSpc>
            </a:pPr>
            <a:r>
              <a:rPr sz="1000" spc="50" dirty="0">
                <a:solidFill>
                  <a:srgbClr val="A5B2C5"/>
                </a:solidFill>
                <a:latin typeface="Cambria"/>
                <a:cs typeface="Cambria"/>
              </a:rPr>
              <a:t>screenshots/07\_ai\_cfo.png</a:t>
            </a:r>
            <a:endParaRPr sz="1000">
              <a:latin typeface="Cambria"/>
              <a:cs typeface="Cambria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/>
              <a:t>FinPilot</a:t>
            </a:r>
            <a:r>
              <a:rPr spc="45" dirty="0"/>
              <a:t> </a:t>
            </a:r>
            <a:r>
              <a:rPr dirty="0"/>
              <a:t>—</a:t>
            </a:r>
            <a:r>
              <a:rPr spc="50" dirty="0"/>
              <a:t> </a:t>
            </a:r>
            <a:r>
              <a:rPr dirty="0"/>
              <a:t>AI</a:t>
            </a:r>
            <a:r>
              <a:rPr spc="55" dirty="0"/>
              <a:t> </a:t>
            </a:r>
            <a:r>
              <a:rPr spc="-20" dirty="0"/>
              <a:t>Personal</a:t>
            </a:r>
            <a:r>
              <a:rPr spc="50" dirty="0"/>
              <a:t> </a:t>
            </a:r>
            <a:r>
              <a:rPr spc="-20" dirty="0"/>
              <a:t>Finance</a:t>
            </a:r>
            <a:r>
              <a:rPr spc="55" dirty="0"/>
              <a:t> </a:t>
            </a:r>
            <a:r>
              <a:rPr spc="-10" dirty="0"/>
              <a:t>Decision</a:t>
            </a:r>
            <a:r>
              <a:rPr spc="50" dirty="0"/>
              <a:t> </a:t>
            </a:r>
            <a:r>
              <a:rPr dirty="0"/>
              <a:t>Support</a:t>
            </a:r>
            <a:r>
              <a:rPr spc="45" dirty="0"/>
              <a:t> </a:t>
            </a:r>
            <a:r>
              <a:rPr spc="-10" dirty="0"/>
              <a:t>Agent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pc="-25" dirty="0"/>
              <a:t>20</a:t>
            </a:r>
          </a:p>
        </p:txBody>
      </p:sp>
    </p:spTree>
  </p:cSld>
  <p:clrMapOvr>
    <a:masterClrMapping/>
  </p:clrMapOvr>
  <p:transition>
    <p:cut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Natural-Language</a:t>
            </a:r>
            <a:r>
              <a:rPr spc="340" dirty="0"/>
              <a:t> </a:t>
            </a:r>
            <a:r>
              <a:rPr dirty="0"/>
              <a:t>Query</a:t>
            </a:r>
            <a:r>
              <a:rPr spc="340" dirty="0"/>
              <a:t> </a:t>
            </a:r>
            <a:r>
              <a:rPr spc="-10" dirty="0"/>
              <a:t>Pipeline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359986" y="1031311"/>
            <a:ext cx="851535" cy="365125"/>
            <a:chOff x="359986" y="1031311"/>
            <a:chExt cx="851535" cy="365125"/>
          </a:xfrm>
        </p:grpSpPr>
        <p:sp>
          <p:nvSpPr>
            <p:cNvPr id="4" name="object 4"/>
            <p:cNvSpPr/>
            <p:nvPr/>
          </p:nvSpPr>
          <p:spPr>
            <a:xfrm>
              <a:off x="362526" y="1033851"/>
              <a:ext cx="846455" cy="360045"/>
            </a:xfrm>
            <a:custGeom>
              <a:avLst/>
              <a:gdLst/>
              <a:ahLst/>
              <a:cxnLst/>
              <a:rect l="l" t="t" r="r" b="b"/>
              <a:pathLst>
                <a:path w="846455" h="360044">
                  <a:moveTo>
                    <a:pt x="782749" y="0"/>
                  </a:moveTo>
                  <a:lnTo>
                    <a:pt x="63263" y="0"/>
                  </a:lnTo>
                  <a:lnTo>
                    <a:pt x="38638" y="4971"/>
                  </a:lnTo>
                  <a:lnTo>
                    <a:pt x="18529" y="18529"/>
                  </a:lnTo>
                  <a:lnTo>
                    <a:pt x="4971" y="38638"/>
                  </a:lnTo>
                  <a:lnTo>
                    <a:pt x="0" y="63263"/>
                  </a:lnTo>
                  <a:lnTo>
                    <a:pt x="0" y="296740"/>
                  </a:lnTo>
                  <a:lnTo>
                    <a:pt x="4971" y="321365"/>
                  </a:lnTo>
                  <a:lnTo>
                    <a:pt x="18529" y="341474"/>
                  </a:lnTo>
                  <a:lnTo>
                    <a:pt x="38638" y="355032"/>
                  </a:lnTo>
                  <a:lnTo>
                    <a:pt x="63263" y="360004"/>
                  </a:lnTo>
                  <a:lnTo>
                    <a:pt x="782749" y="360004"/>
                  </a:lnTo>
                  <a:lnTo>
                    <a:pt x="807374" y="355032"/>
                  </a:lnTo>
                  <a:lnTo>
                    <a:pt x="827483" y="341474"/>
                  </a:lnTo>
                  <a:lnTo>
                    <a:pt x="841041" y="321365"/>
                  </a:lnTo>
                  <a:lnTo>
                    <a:pt x="846012" y="296740"/>
                  </a:lnTo>
                  <a:lnTo>
                    <a:pt x="846012" y="63263"/>
                  </a:lnTo>
                  <a:lnTo>
                    <a:pt x="841041" y="38638"/>
                  </a:lnTo>
                  <a:lnTo>
                    <a:pt x="827483" y="18529"/>
                  </a:lnTo>
                  <a:lnTo>
                    <a:pt x="807374" y="4971"/>
                  </a:lnTo>
                  <a:lnTo>
                    <a:pt x="782749" y="0"/>
                  </a:lnTo>
                  <a:close/>
                </a:path>
              </a:pathLst>
            </a:custGeom>
            <a:solidFill>
              <a:srgbClr val="0C18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62526" y="1033851"/>
              <a:ext cx="846455" cy="360045"/>
            </a:xfrm>
            <a:custGeom>
              <a:avLst/>
              <a:gdLst/>
              <a:ahLst/>
              <a:cxnLst/>
              <a:rect l="l" t="t" r="r" b="b"/>
              <a:pathLst>
                <a:path w="846455" h="360044">
                  <a:moveTo>
                    <a:pt x="782749" y="0"/>
                  </a:moveTo>
                  <a:lnTo>
                    <a:pt x="63263" y="0"/>
                  </a:lnTo>
                  <a:lnTo>
                    <a:pt x="38638" y="4971"/>
                  </a:lnTo>
                  <a:lnTo>
                    <a:pt x="18529" y="18529"/>
                  </a:lnTo>
                  <a:lnTo>
                    <a:pt x="4971" y="38638"/>
                  </a:lnTo>
                  <a:lnTo>
                    <a:pt x="0" y="63263"/>
                  </a:lnTo>
                  <a:lnTo>
                    <a:pt x="0" y="296740"/>
                  </a:lnTo>
                  <a:lnTo>
                    <a:pt x="4971" y="321365"/>
                  </a:lnTo>
                  <a:lnTo>
                    <a:pt x="18529" y="341474"/>
                  </a:lnTo>
                  <a:lnTo>
                    <a:pt x="38638" y="355032"/>
                  </a:lnTo>
                  <a:lnTo>
                    <a:pt x="63263" y="360004"/>
                  </a:lnTo>
                  <a:lnTo>
                    <a:pt x="782749" y="360004"/>
                  </a:lnTo>
                  <a:lnTo>
                    <a:pt x="807374" y="355032"/>
                  </a:lnTo>
                  <a:lnTo>
                    <a:pt x="827483" y="341474"/>
                  </a:lnTo>
                  <a:lnTo>
                    <a:pt x="841041" y="321365"/>
                  </a:lnTo>
                  <a:lnTo>
                    <a:pt x="846012" y="296740"/>
                  </a:lnTo>
                  <a:lnTo>
                    <a:pt x="846012" y="63263"/>
                  </a:lnTo>
                  <a:lnTo>
                    <a:pt x="841041" y="38638"/>
                  </a:lnTo>
                  <a:lnTo>
                    <a:pt x="827483" y="18529"/>
                  </a:lnTo>
                  <a:lnTo>
                    <a:pt x="807374" y="4971"/>
                  </a:lnTo>
                  <a:lnTo>
                    <a:pt x="782749" y="0"/>
                  </a:lnTo>
                  <a:close/>
                </a:path>
              </a:pathLst>
            </a:custGeom>
            <a:ln w="5060">
              <a:solidFill>
                <a:srgbClr val="308C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538987" y="1034724"/>
            <a:ext cx="492759" cy="3295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116205">
              <a:lnSpc>
                <a:spcPct val="100000"/>
              </a:lnSpc>
              <a:spcBef>
                <a:spcPts val="95"/>
              </a:spcBef>
            </a:pPr>
            <a:r>
              <a:rPr sz="1000" spc="-20" dirty="0">
                <a:solidFill>
                  <a:srgbClr val="F4F8FC"/>
                </a:solidFill>
                <a:latin typeface="Arial MT"/>
                <a:cs typeface="Arial MT"/>
              </a:rPr>
              <a:t>User </a:t>
            </a:r>
            <a:r>
              <a:rPr sz="1000" spc="-50" dirty="0">
                <a:solidFill>
                  <a:srgbClr val="F4F8FC"/>
                </a:solidFill>
                <a:latin typeface="Arial MT"/>
                <a:cs typeface="Arial MT"/>
              </a:rPr>
              <a:t>Question</a:t>
            </a:r>
            <a:endParaRPr sz="1000">
              <a:latin typeface="Arial MT"/>
              <a:cs typeface="Arial MT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1409063" y="1031311"/>
            <a:ext cx="851535" cy="365125"/>
            <a:chOff x="1409063" y="1031311"/>
            <a:chExt cx="851535" cy="365125"/>
          </a:xfrm>
        </p:grpSpPr>
        <p:sp>
          <p:nvSpPr>
            <p:cNvPr id="8" name="object 8"/>
            <p:cNvSpPr/>
            <p:nvPr/>
          </p:nvSpPr>
          <p:spPr>
            <a:xfrm>
              <a:off x="1411603" y="1033851"/>
              <a:ext cx="846455" cy="360045"/>
            </a:xfrm>
            <a:custGeom>
              <a:avLst/>
              <a:gdLst/>
              <a:ahLst/>
              <a:cxnLst/>
              <a:rect l="l" t="t" r="r" b="b"/>
              <a:pathLst>
                <a:path w="846455" h="360044">
                  <a:moveTo>
                    <a:pt x="782749" y="0"/>
                  </a:moveTo>
                  <a:lnTo>
                    <a:pt x="63263" y="0"/>
                  </a:lnTo>
                  <a:lnTo>
                    <a:pt x="38638" y="4971"/>
                  </a:lnTo>
                  <a:lnTo>
                    <a:pt x="18529" y="18529"/>
                  </a:lnTo>
                  <a:lnTo>
                    <a:pt x="4971" y="38638"/>
                  </a:lnTo>
                  <a:lnTo>
                    <a:pt x="0" y="63263"/>
                  </a:lnTo>
                  <a:lnTo>
                    <a:pt x="0" y="296740"/>
                  </a:lnTo>
                  <a:lnTo>
                    <a:pt x="4971" y="321365"/>
                  </a:lnTo>
                  <a:lnTo>
                    <a:pt x="18529" y="341474"/>
                  </a:lnTo>
                  <a:lnTo>
                    <a:pt x="38638" y="355032"/>
                  </a:lnTo>
                  <a:lnTo>
                    <a:pt x="63263" y="360004"/>
                  </a:lnTo>
                  <a:lnTo>
                    <a:pt x="782749" y="360004"/>
                  </a:lnTo>
                  <a:lnTo>
                    <a:pt x="807374" y="355032"/>
                  </a:lnTo>
                  <a:lnTo>
                    <a:pt x="827483" y="341474"/>
                  </a:lnTo>
                  <a:lnTo>
                    <a:pt x="841041" y="321365"/>
                  </a:lnTo>
                  <a:lnTo>
                    <a:pt x="846012" y="296740"/>
                  </a:lnTo>
                  <a:lnTo>
                    <a:pt x="846012" y="63263"/>
                  </a:lnTo>
                  <a:lnTo>
                    <a:pt x="841041" y="38638"/>
                  </a:lnTo>
                  <a:lnTo>
                    <a:pt x="827483" y="18529"/>
                  </a:lnTo>
                  <a:lnTo>
                    <a:pt x="807374" y="4971"/>
                  </a:lnTo>
                  <a:lnTo>
                    <a:pt x="782749" y="0"/>
                  </a:lnTo>
                  <a:close/>
                </a:path>
              </a:pathLst>
            </a:custGeom>
            <a:solidFill>
              <a:srgbClr val="0C18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411603" y="1033851"/>
              <a:ext cx="846455" cy="360045"/>
            </a:xfrm>
            <a:custGeom>
              <a:avLst/>
              <a:gdLst/>
              <a:ahLst/>
              <a:cxnLst/>
              <a:rect l="l" t="t" r="r" b="b"/>
              <a:pathLst>
                <a:path w="846455" h="360044">
                  <a:moveTo>
                    <a:pt x="782749" y="0"/>
                  </a:moveTo>
                  <a:lnTo>
                    <a:pt x="63263" y="0"/>
                  </a:lnTo>
                  <a:lnTo>
                    <a:pt x="38638" y="4971"/>
                  </a:lnTo>
                  <a:lnTo>
                    <a:pt x="18529" y="18529"/>
                  </a:lnTo>
                  <a:lnTo>
                    <a:pt x="4971" y="38638"/>
                  </a:lnTo>
                  <a:lnTo>
                    <a:pt x="0" y="63263"/>
                  </a:lnTo>
                  <a:lnTo>
                    <a:pt x="0" y="296740"/>
                  </a:lnTo>
                  <a:lnTo>
                    <a:pt x="4971" y="321365"/>
                  </a:lnTo>
                  <a:lnTo>
                    <a:pt x="18529" y="341474"/>
                  </a:lnTo>
                  <a:lnTo>
                    <a:pt x="38638" y="355032"/>
                  </a:lnTo>
                  <a:lnTo>
                    <a:pt x="63263" y="360004"/>
                  </a:lnTo>
                  <a:lnTo>
                    <a:pt x="782749" y="360004"/>
                  </a:lnTo>
                  <a:lnTo>
                    <a:pt x="807374" y="355032"/>
                  </a:lnTo>
                  <a:lnTo>
                    <a:pt x="827483" y="341474"/>
                  </a:lnTo>
                  <a:lnTo>
                    <a:pt x="841041" y="321365"/>
                  </a:lnTo>
                  <a:lnTo>
                    <a:pt x="846012" y="296740"/>
                  </a:lnTo>
                  <a:lnTo>
                    <a:pt x="846012" y="63263"/>
                  </a:lnTo>
                  <a:lnTo>
                    <a:pt x="841041" y="38638"/>
                  </a:lnTo>
                  <a:lnTo>
                    <a:pt x="827483" y="18529"/>
                  </a:lnTo>
                  <a:lnTo>
                    <a:pt x="807374" y="4971"/>
                  </a:lnTo>
                  <a:lnTo>
                    <a:pt x="782749" y="0"/>
                  </a:lnTo>
                  <a:close/>
                </a:path>
              </a:pathLst>
            </a:custGeom>
            <a:ln w="5060">
              <a:solidFill>
                <a:srgbClr val="308C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1511541" y="1030330"/>
            <a:ext cx="645795" cy="3295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153035">
              <a:lnSpc>
                <a:spcPct val="100000"/>
              </a:lnSpc>
              <a:spcBef>
                <a:spcPts val="95"/>
              </a:spcBef>
            </a:pPr>
            <a:r>
              <a:rPr sz="1000" spc="-10" dirty="0">
                <a:solidFill>
                  <a:srgbClr val="F4F8FC"/>
                </a:solidFill>
                <a:latin typeface="Arial MT"/>
                <a:cs typeface="Arial MT"/>
              </a:rPr>
              <a:t>Intent </a:t>
            </a:r>
            <a:r>
              <a:rPr sz="1000" spc="-45" dirty="0">
                <a:solidFill>
                  <a:srgbClr val="F4F8FC"/>
                </a:solidFill>
                <a:latin typeface="Arial MT"/>
                <a:cs typeface="Arial MT"/>
              </a:rPr>
              <a:t>Recognition</a:t>
            </a:r>
            <a:endParaRPr sz="1000">
              <a:latin typeface="Arial MT"/>
              <a:cs typeface="Arial MT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2458141" y="1031311"/>
            <a:ext cx="851535" cy="365125"/>
            <a:chOff x="2458141" y="1031311"/>
            <a:chExt cx="851535" cy="365125"/>
          </a:xfrm>
        </p:grpSpPr>
        <p:sp>
          <p:nvSpPr>
            <p:cNvPr id="12" name="object 12"/>
            <p:cNvSpPr/>
            <p:nvPr/>
          </p:nvSpPr>
          <p:spPr>
            <a:xfrm>
              <a:off x="2460681" y="1033851"/>
              <a:ext cx="846455" cy="360045"/>
            </a:xfrm>
            <a:custGeom>
              <a:avLst/>
              <a:gdLst/>
              <a:ahLst/>
              <a:cxnLst/>
              <a:rect l="l" t="t" r="r" b="b"/>
              <a:pathLst>
                <a:path w="846454" h="360044">
                  <a:moveTo>
                    <a:pt x="782749" y="0"/>
                  </a:moveTo>
                  <a:lnTo>
                    <a:pt x="63263" y="0"/>
                  </a:lnTo>
                  <a:lnTo>
                    <a:pt x="38638" y="4971"/>
                  </a:lnTo>
                  <a:lnTo>
                    <a:pt x="18529" y="18529"/>
                  </a:lnTo>
                  <a:lnTo>
                    <a:pt x="4971" y="38638"/>
                  </a:lnTo>
                  <a:lnTo>
                    <a:pt x="0" y="63263"/>
                  </a:lnTo>
                  <a:lnTo>
                    <a:pt x="0" y="296740"/>
                  </a:lnTo>
                  <a:lnTo>
                    <a:pt x="4971" y="321365"/>
                  </a:lnTo>
                  <a:lnTo>
                    <a:pt x="18529" y="341474"/>
                  </a:lnTo>
                  <a:lnTo>
                    <a:pt x="38638" y="355032"/>
                  </a:lnTo>
                  <a:lnTo>
                    <a:pt x="63263" y="360004"/>
                  </a:lnTo>
                  <a:lnTo>
                    <a:pt x="782749" y="360004"/>
                  </a:lnTo>
                  <a:lnTo>
                    <a:pt x="807374" y="355032"/>
                  </a:lnTo>
                  <a:lnTo>
                    <a:pt x="827483" y="341474"/>
                  </a:lnTo>
                  <a:lnTo>
                    <a:pt x="841041" y="321365"/>
                  </a:lnTo>
                  <a:lnTo>
                    <a:pt x="846012" y="296740"/>
                  </a:lnTo>
                  <a:lnTo>
                    <a:pt x="846012" y="63263"/>
                  </a:lnTo>
                  <a:lnTo>
                    <a:pt x="841041" y="38638"/>
                  </a:lnTo>
                  <a:lnTo>
                    <a:pt x="827483" y="18529"/>
                  </a:lnTo>
                  <a:lnTo>
                    <a:pt x="807374" y="4971"/>
                  </a:lnTo>
                  <a:lnTo>
                    <a:pt x="782749" y="0"/>
                  </a:lnTo>
                  <a:close/>
                </a:path>
              </a:pathLst>
            </a:custGeom>
            <a:solidFill>
              <a:srgbClr val="0C18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2460681" y="1033851"/>
              <a:ext cx="846455" cy="360045"/>
            </a:xfrm>
            <a:custGeom>
              <a:avLst/>
              <a:gdLst/>
              <a:ahLst/>
              <a:cxnLst/>
              <a:rect l="l" t="t" r="r" b="b"/>
              <a:pathLst>
                <a:path w="846454" h="360044">
                  <a:moveTo>
                    <a:pt x="782749" y="0"/>
                  </a:moveTo>
                  <a:lnTo>
                    <a:pt x="63263" y="0"/>
                  </a:lnTo>
                  <a:lnTo>
                    <a:pt x="38638" y="4971"/>
                  </a:lnTo>
                  <a:lnTo>
                    <a:pt x="18529" y="18529"/>
                  </a:lnTo>
                  <a:lnTo>
                    <a:pt x="4971" y="38638"/>
                  </a:lnTo>
                  <a:lnTo>
                    <a:pt x="0" y="63263"/>
                  </a:lnTo>
                  <a:lnTo>
                    <a:pt x="0" y="296740"/>
                  </a:lnTo>
                  <a:lnTo>
                    <a:pt x="4971" y="321365"/>
                  </a:lnTo>
                  <a:lnTo>
                    <a:pt x="18529" y="341474"/>
                  </a:lnTo>
                  <a:lnTo>
                    <a:pt x="38638" y="355032"/>
                  </a:lnTo>
                  <a:lnTo>
                    <a:pt x="63263" y="360004"/>
                  </a:lnTo>
                  <a:lnTo>
                    <a:pt x="782749" y="360004"/>
                  </a:lnTo>
                  <a:lnTo>
                    <a:pt x="807374" y="355032"/>
                  </a:lnTo>
                  <a:lnTo>
                    <a:pt x="827483" y="341474"/>
                  </a:lnTo>
                  <a:lnTo>
                    <a:pt x="841041" y="321365"/>
                  </a:lnTo>
                  <a:lnTo>
                    <a:pt x="846012" y="296740"/>
                  </a:lnTo>
                  <a:lnTo>
                    <a:pt x="846012" y="63263"/>
                  </a:lnTo>
                  <a:lnTo>
                    <a:pt x="841041" y="38638"/>
                  </a:lnTo>
                  <a:lnTo>
                    <a:pt x="827483" y="18529"/>
                  </a:lnTo>
                  <a:lnTo>
                    <a:pt x="807374" y="4971"/>
                  </a:lnTo>
                  <a:lnTo>
                    <a:pt x="782749" y="0"/>
                  </a:lnTo>
                  <a:close/>
                </a:path>
              </a:pathLst>
            </a:custGeom>
            <a:ln w="5060">
              <a:solidFill>
                <a:srgbClr val="308C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2592666" y="1032083"/>
            <a:ext cx="581660" cy="3295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32715" marR="5080" indent="-120650">
              <a:lnSpc>
                <a:spcPct val="100000"/>
              </a:lnSpc>
              <a:spcBef>
                <a:spcPts val="95"/>
              </a:spcBef>
            </a:pPr>
            <a:r>
              <a:rPr sz="1000" spc="-30" dirty="0">
                <a:solidFill>
                  <a:srgbClr val="F4F8FC"/>
                </a:solidFill>
                <a:latin typeface="Arial MT"/>
                <a:cs typeface="Arial MT"/>
              </a:rPr>
              <a:t>Structured </a:t>
            </a:r>
            <a:r>
              <a:rPr sz="1000" spc="-10" dirty="0">
                <a:solidFill>
                  <a:srgbClr val="F4F8FC"/>
                </a:solidFill>
                <a:latin typeface="Arial MT"/>
                <a:cs typeface="Arial MT"/>
              </a:rPr>
              <a:t>Query</a:t>
            </a:r>
            <a:endParaRPr sz="1000">
              <a:latin typeface="Arial MT"/>
              <a:cs typeface="Arial MT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3507218" y="1031311"/>
            <a:ext cx="851535" cy="365125"/>
            <a:chOff x="3507218" y="1031311"/>
            <a:chExt cx="851535" cy="365125"/>
          </a:xfrm>
        </p:grpSpPr>
        <p:sp>
          <p:nvSpPr>
            <p:cNvPr id="16" name="object 16"/>
            <p:cNvSpPr/>
            <p:nvPr/>
          </p:nvSpPr>
          <p:spPr>
            <a:xfrm>
              <a:off x="3509758" y="1033851"/>
              <a:ext cx="846455" cy="360045"/>
            </a:xfrm>
            <a:custGeom>
              <a:avLst/>
              <a:gdLst/>
              <a:ahLst/>
              <a:cxnLst/>
              <a:rect l="l" t="t" r="r" b="b"/>
              <a:pathLst>
                <a:path w="846454" h="360044">
                  <a:moveTo>
                    <a:pt x="782749" y="0"/>
                  </a:moveTo>
                  <a:lnTo>
                    <a:pt x="63263" y="0"/>
                  </a:lnTo>
                  <a:lnTo>
                    <a:pt x="38638" y="4971"/>
                  </a:lnTo>
                  <a:lnTo>
                    <a:pt x="18529" y="18529"/>
                  </a:lnTo>
                  <a:lnTo>
                    <a:pt x="4971" y="38638"/>
                  </a:lnTo>
                  <a:lnTo>
                    <a:pt x="0" y="63263"/>
                  </a:lnTo>
                  <a:lnTo>
                    <a:pt x="0" y="296740"/>
                  </a:lnTo>
                  <a:lnTo>
                    <a:pt x="4971" y="321365"/>
                  </a:lnTo>
                  <a:lnTo>
                    <a:pt x="18529" y="341474"/>
                  </a:lnTo>
                  <a:lnTo>
                    <a:pt x="38638" y="355032"/>
                  </a:lnTo>
                  <a:lnTo>
                    <a:pt x="63263" y="360004"/>
                  </a:lnTo>
                  <a:lnTo>
                    <a:pt x="782749" y="360004"/>
                  </a:lnTo>
                  <a:lnTo>
                    <a:pt x="807374" y="355032"/>
                  </a:lnTo>
                  <a:lnTo>
                    <a:pt x="827483" y="341474"/>
                  </a:lnTo>
                  <a:lnTo>
                    <a:pt x="841041" y="321365"/>
                  </a:lnTo>
                  <a:lnTo>
                    <a:pt x="846013" y="296740"/>
                  </a:lnTo>
                  <a:lnTo>
                    <a:pt x="846013" y="63263"/>
                  </a:lnTo>
                  <a:lnTo>
                    <a:pt x="841041" y="38638"/>
                  </a:lnTo>
                  <a:lnTo>
                    <a:pt x="827483" y="18529"/>
                  </a:lnTo>
                  <a:lnTo>
                    <a:pt x="807374" y="4971"/>
                  </a:lnTo>
                  <a:lnTo>
                    <a:pt x="782749" y="0"/>
                  </a:lnTo>
                  <a:close/>
                </a:path>
              </a:pathLst>
            </a:custGeom>
            <a:solidFill>
              <a:srgbClr val="0C18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3509758" y="1033851"/>
              <a:ext cx="846455" cy="360045"/>
            </a:xfrm>
            <a:custGeom>
              <a:avLst/>
              <a:gdLst/>
              <a:ahLst/>
              <a:cxnLst/>
              <a:rect l="l" t="t" r="r" b="b"/>
              <a:pathLst>
                <a:path w="846454" h="360044">
                  <a:moveTo>
                    <a:pt x="782749" y="0"/>
                  </a:moveTo>
                  <a:lnTo>
                    <a:pt x="63263" y="0"/>
                  </a:lnTo>
                  <a:lnTo>
                    <a:pt x="38638" y="4971"/>
                  </a:lnTo>
                  <a:lnTo>
                    <a:pt x="18529" y="18529"/>
                  </a:lnTo>
                  <a:lnTo>
                    <a:pt x="4971" y="38638"/>
                  </a:lnTo>
                  <a:lnTo>
                    <a:pt x="0" y="63263"/>
                  </a:lnTo>
                  <a:lnTo>
                    <a:pt x="0" y="296740"/>
                  </a:lnTo>
                  <a:lnTo>
                    <a:pt x="4971" y="321365"/>
                  </a:lnTo>
                  <a:lnTo>
                    <a:pt x="18529" y="341474"/>
                  </a:lnTo>
                  <a:lnTo>
                    <a:pt x="38638" y="355032"/>
                  </a:lnTo>
                  <a:lnTo>
                    <a:pt x="63263" y="360004"/>
                  </a:lnTo>
                  <a:lnTo>
                    <a:pt x="782749" y="360004"/>
                  </a:lnTo>
                  <a:lnTo>
                    <a:pt x="807374" y="355032"/>
                  </a:lnTo>
                  <a:lnTo>
                    <a:pt x="827483" y="341474"/>
                  </a:lnTo>
                  <a:lnTo>
                    <a:pt x="841041" y="321365"/>
                  </a:lnTo>
                  <a:lnTo>
                    <a:pt x="846013" y="296740"/>
                  </a:lnTo>
                  <a:lnTo>
                    <a:pt x="846013" y="63263"/>
                  </a:lnTo>
                  <a:lnTo>
                    <a:pt x="841041" y="38638"/>
                  </a:lnTo>
                  <a:lnTo>
                    <a:pt x="827483" y="18529"/>
                  </a:lnTo>
                  <a:lnTo>
                    <a:pt x="807374" y="4971"/>
                  </a:lnTo>
                  <a:lnTo>
                    <a:pt x="782749" y="0"/>
                  </a:lnTo>
                  <a:close/>
                </a:path>
              </a:pathLst>
            </a:custGeom>
            <a:ln w="5060">
              <a:solidFill>
                <a:srgbClr val="308C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3661943" y="1044402"/>
            <a:ext cx="541655" cy="3295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32384">
              <a:lnSpc>
                <a:spcPct val="100000"/>
              </a:lnSpc>
              <a:spcBef>
                <a:spcPts val="95"/>
              </a:spcBef>
            </a:pPr>
            <a:r>
              <a:rPr sz="1000" spc="-10" dirty="0">
                <a:solidFill>
                  <a:srgbClr val="F4F8FC"/>
                </a:solidFill>
                <a:latin typeface="Arial MT"/>
                <a:cs typeface="Arial MT"/>
              </a:rPr>
              <a:t>DuckDB </a:t>
            </a:r>
            <a:r>
              <a:rPr sz="1000" spc="-45" dirty="0">
                <a:solidFill>
                  <a:srgbClr val="F4F8FC"/>
                </a:solidFill>
                <a:latin typeface="Arial MT"/>
                <a:cs typeface="Arial MT"/>
              </a:rPr>
              <a:t>Execution</a:t>
            </a:r>
            <a:endParaRPr sz="1000">
              <a:latin typeface="Arial MT"/>
              <a:cs typeface="Arial MT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4556296" y="1031311"/>
            <a:ext cx="851535" cy="365125"/>
            <a:chOff x="4556296" y="1031311"/>
            <a:chExt cx="851535" cy="365125"/>
          </a:xfrm>
        </p:grpSpPr>
        <p:sp>
          <p:nvSpPr>
            <p:cNvPr id="20" name="object 20"/>
            <p:cNvSpPr/>
            <p:nvPr/>
          </p:nvSpPr>
          <p:spPr>
            <a:xfrm>
              <a:off x="4558836" y="1033851"/>
              <a:ext cx="846455" cy="360045"/>
            </a:xfrm>
            <a:custGeom>
              <a:avLst/>
              <a:gdLst/>
              <a:ahLst/>
              <a:cxnLst/>
              <a:rect l="l" t="t" r="r" b="b"/>
              <a:pathLst>
                <a:path w="846454" h="360044">
                  <a:moveTo>
                    <a:pt x="782749" y="0"/>
                  </a:moveTo>
                  <a:lnTo>
                    <a:pt x="63263" y="0"/>
                  </a:lnTo>
                  <a:lnTo>
                    <a:pt x="38638" y="4971"/>
                  </a:lnTo>
                  <a:lnTo>
                    <a:pt x="18529" y="18529"/>
                  </a:lnTo>
                  <a:lnTo>
                    <a:pt x="4971" y="38638"/>
                  </a:lnTo>
                  <a:lnTo>
                    <a:pt x="0" y="63263"/>
                  </a:lnTo>
                  <a:lnTo>
                    <a:pt x="0" y="296740"/>
                  </a:lnTo>
                  <a:lnTo>
                    <a:pt x="4971" y="321365"/>
                  </a:lnTo>
                  <a:lnTo>
                    <a:pt x="18529" y="341474"/>
                  </a:lnTo>
                  <a:lnTo>
                    <a:pt x="38638" y="355032"/>
                  </a:lnTo>
                  <a:lnTo>
                    <a:pt x="63263" y="360004"/>
                  </a:lnTo>
                  <a:lnTo>
                    <a:pt x="782749" y="360004"/>
                  </a:lnTo>
                  <a:lnTo>
                    <a:pt x="807374" y="355032"/>
                  </a:lnTo>
                  <a:lnTo>
                    <a:pt x="827483" y="341474"/>
                  </a:lnTo>
                  <a:lnTo>
                    <a:pt x="841041" y="321365"/>
                  </a:lnTo>
                  <a:lnTo>
                    <a:pt x="846013" y="296740"/>
                  </a:lnTo>
                  <a:lnTo>
                    <a:pt x="846013" y="63263"/>
                  </a:lnTo>
                  <a:lnTo>
                    <a:pt x="841041" y="38638"/>
                  </a:lnTo>
                  <a:lnTo>
                    <a:pt x="827483" y="18529"/>
                  </a:lnTo>
                  <a:lnTo>
                    <a:pt x="807374" y="4971"/>
                  </a:lnTo>
                  <a:lnTo>
                    <a:pt x="782749" y="0"/>
                  </a:lnTo>
                  <a:close/>
                </a:path>
              </a:pathLst>
            </a:custGeom>
            <a:solidFill>
              <a:srgbClr val="0C18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4558836" y="1033851"/>
              <a:ext cx="846455" cy="360045"/>
            </a:xfrm>
            <a:custGeom>
              <a:avLst/>
              <a:gdLst/>
              <a:ahLst/>
              <a:cxnLst/>
              <a:rect l="l" t="t" r="r" b="b"/>
              <a:pathLst>
                <a:path w="846454" h="360044">
                  <a:moveTo>
                    <a:pt x="782749" y="0"/>
                  </a:moveTo>
                  <a:lnTo>
                    <a:pt x="63263" y="0"/>
                  </a:lnTo>
                  <a:lnTo>
                    <a:pt x="38638" y="4971"/>
                  </a:lnTo>
                  <a:lnTo>
                    <a:pt x="18529" y="18529"/>
                  </a:lnTo>
                  <a:lnTo>
                    <a:pt x="4971" y="38638"/>
                  </a:lnTo>
                  <a:lnTo>
                    <a:pt x="0" y="63263"/>
                  </a:lnTo>
                  <a:lnTo>
                    <a:pt x="0" y="296740"/>
                  </a:lnTo>
                  <a:lnTo>
                    <a:pt x="4971" y="321365"/>
                  </a:lnTo>
                  <a:lnTo>
                    <a:pt x="18529" y="341474"/>
                  </a:lnTo>
                  <a:lnTo>
                    <a:pt x="38638" y="355032"/>
                  </a:lnTo>
                  <a:lnTo>
                    <a:pt x="63263" y="360004"/>
                  </a:lnTo>
                  <a:lnTo>
                    <a:pt x="782749" y="360004"/>
                  </a:lnTo>
                  <a:lnTo>
                    <a:pt x="807374" y="355032"/>
                  </a:lnTo>
                  <a:lnTo>
                    <a:pt x="827483" y="341474"/>
                  </a:lnTo>
                  <a:lnTo>
                    <a:pt x="841041" y="321365"/>
                  </a:lnTo>
                  <a:lnTo>
                    <a:pt x="846013" y="296740"/>
                  </a:lnTo>
                  <a:lnTo>
                    <a:pt x="846013" y="63263"/>
                  </a:lnTo>
                  <a:lnTo>
                    <a:pt x="841041" y="38638"/>
                  </a:lnTo>
                  <a:lnTo>
                    <a:pt x="827483" y="18529"/>
                  </a:lnTo>
                  <a:lnTo>
                    <a:pt x="807374" y="4971"/>
                  </a:lnTo>
                  <a:lnTo>
                    <a:pt x="782749" y="0"/>
                  </a:lnTo>
                  <a:close/>
                </a:path>
              </a:pathLst>
            </a:custGeom>
            <a:ln w="5060">
              <a:solidFill>
                <a:srgbClr val="308C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4715395" y="1044389"/>
            <a:ext cx="532765" cy="3295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75565" marR="5080" indent="-63500">
              <a:lnSpc>
                <a:spcPct val="100000"/>
              </a:lnSpc>
              <a:spcBef>
                <a:spcPts val="95"/>
              </a:spcBef>
            </a:pPr>
            <a:r>
              <a:rPr sz="1000" spc="-50" dirty="0">
                <a:solidFill>
                  <a:srgbClr val="F4F8FC"/>
                </a:solidFill>
                <a:latin typeface="Arial MT"/>
                <a:cs typeface="Arial MT"/>
              </a:rPr>
              <a:t>Explained </a:t>
            </a:r>
            <a:r>
              <a:rPr sz="1000" spc="-10" dirty="0">
                <a:solidFill>
                  <a:srgbClr val="F4F8FC"/>
                </a:solidFill>
                <a:latin typeface="Arial MT"/>
                <a:cs typeface="Arial MT"/>
              </a:rPr>
              <a:t>Answer</a:t>
            </a:r>
            <a:endParaRPr sz="1000">
              <a:latin typeface="Arial MT"/>
              <a:cs typeface="Arial MT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1211069" y="1179622"/>
            <a:ext cx="3321685" cy="68580"/>
            <a:chOff x="1211069" y="1179622"/>
            <a:chExt cx="3321685" cy="68580"/>
          </a:xfrm>
        </p:grpSpPr>
        <p:pic>
          <p:nvPicPr>
            <p:cNvPr id="24" name="object 2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11069" y="1179622"/>
              <a:ext cx="174293" cy="68460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260147" y="1179622"/>
              <a:ext cx="174293" cy="68460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309225" y="1179622"/>
              <a:ext cx="174293" cy="68460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358302" y="1179622"/>
              <a:ext cx="174293" cy="68460"/>
            </a:xfrm>
            <a:prstGeom prst="rect">
              <a:avLst/>
            </a:prstGeom>
          </p:spPr>
        </p:pic>
      </p:grpSp>
      <p:grpSp>
        <p:nvGrpSpPr>
          <p:cNvPr id="28" name="object 28"/>
          <p:cNvGrpSpPr/>
          <p:nvPr/>
        </p:nvGrpSpPr>
        <p:grpSpPr>
          <a:xfrm>
            <a:off x="1041448" y="1697021"/>
            <a:ext cx="3677285" cy="729615"/>
            <a:chOff x="1041448" y="1697021"/>
            <a:chExt cx="3677285" cy="729615"/>
          </a:xfrm>
        </p:grpSpPr>
        <p:sp>
          <p:nvSpPr>
            <p:cNvPr id="29" name="object 29"/>
            <p:cNvSpPr/>
            <p:nvPr/>
          </p:nvSpPr>
          <p:spPr>
            <a:xfrm>
              <a:off x="1043978" y="1699551"/>
              <a:ext cx="3672204" cy="724535"/>
            </a:xfrm>
            <a:custGeom>
              <a:avLst/>
              <a:gdLst/>
              <a:ahLst/>
              <a:cxnLst/>
              <a:rect l="l" t="t" r="r" b="b"/>
              <a:pathLst>
                <a:path w="3672204" h="724535">
                  <a:moveTo>
                    <a:pt x="3583482" y="0"/>
                  </a:moveTo>
                  <a:lnTo>
                    <a:pt x="88568" y="0"/>
                  </a:lnTo>
                  <a:lnTo>
                    <a:pt x="54093" y="6960"/>
                  </a:lnTo>
                  <a:lnTo>
                    <a:pt x="25940" y="25941"/>
                  </a:lnTo>
                  <a:lnTo>
                    <a:pt x="6960" y="54093"/>
                  </a:lnTo>
                  <a:lnTo>
                    <a:pt x="0" y="88569"/>
                  </a:lnTo>
                  <a:lnTo>
                    <a:pt x="0" y="635636"/>
                  </a:lnTo>
                  <a:lnTo>
                    <a:pt x="6960" y="670112"/>
                  </a:lnTo>
                  <a:lnTo>
                    <a:pt x="25940" y="698264"/>
                  </a:lnTo>
                  <a:lnTo>
                    <a:pt x="54093" y="717245"/>
                  </a:lnTo>
                  <a:lnTo>
                    <a:pt x="88568" y="724205"/>
                  </a:lnTo>
                  <a:lnTo>
                    <a:pt x="3583482" y="724205"/>
                  </a:lnTo>
                  <a:lnTo>
                    <a:pt x="3617957" y="717245"/>
                  </a:lnTo>
                  <a:lnTo>
                    <a:pt x="3646110" y="698264"/>
                  </a:lnTo>
                  <a:lnTo>
                    <a:pt x="3665091" y="670112"/>
                  </a:lnTo>
                  <a:lnTo>
                    <a:pt x="3672051" y="635636"/>
                  </a:lnTo>
                  <a:lnTo>
                    <a:pt x="3672051" y="88569"/>
                  </a:lnTo>
                  <a:lnTo>
                    <a:pt x="3665091" y="54093"/>
                  </a:lnTo>
                  <a:lnTo>
                    <a:pt x="3646110" y="25941"/>
                  </a:lnTo>
                  <a:lnTo>
                    <a:pt x="3617957" y="6960"/>
                  </a:lnTo>
                  <a:lnTo>
                    <a:pt x="3583482" y="0"/>
                  </a:lnTo>
                  <a:close/>
                </a:path>
              </a:pathLst>
            </a:custGeom>
            <a:solidFill>
              <a:srgbClr val="0C18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1043978" y="1699551"/>
              <a:ext cx="3672204" cy="724535"/>
            </a:xfrm>
            <a:custGeom>
              <a:avLst/>
              <a:gdLst/>
              <a:ahLst/>
              <a:cxnLst/>
              <a:rect l="l" t="t" r="r" b="b"/>
              <a:pathLst>
                <a:path w="3672204" h="724535">
                  <a:moveTo>
                    <a:pt x="3583482" y="0"/>
                  </a:moveTo>
                  <a:lnTo>
                    <a:pt x="88568" y="0"/>
                  </a:lnTo>
                  <a:lnTo>
                    <a:pt x="54093" y="6960"/>
                  </a:lnTo>
                  <a:lnTo>
                    <a:pt x="25940" y="25941"/>
                  </a:lnTo>
                  <a:lnTo>
                    <a:pt x="6960" y="54093"/>
                  </a:lnTo>
                  <a:lnTo>
                    <a:pt x="0" y="88569"/>
                  </a:lnTo>
                  <a:lnTo>
                    <a:pt x="0" y="635636"/>
                  </a:lnTo>
                  <a:lnTo>
                    <a:pt x="6960" y="670112"/>
                  </a:lnTo>
                  <a:lnTo>
                    <a:pt x="25940" y="698264"/>
                  </a:lnTo>
                  <a:lnTo>
                    <a:pt x="54093" y="717245"/>
                  </a:lnTo>
                  <a:lnTo>
                    <a:pt x="88568" y="724205"/>
                  </a:lnTo>
                  <a:lnTo>
                    <a:pt x="3583482" y="724205"/>
                  </a:lnTo>
                  <a:lnTo>
                    <a:pt x="3617957" y="717245"/>
                  </a:lnTo>
                  <a:lnTo>
                    <a:pt x="3646110" y="698264"/>
                  </a:lnTo>
                  <a:lnTo>
                    <a:pt x="3665091" y="670112"/>
                  </a:lnTo>
                  <a:lnTo>
                    <a:pt x="3672051" y="635636"/>
                  </a:lnTo>
                  <a:lnTo>
                    <a:pt x="3672051" y="88569"/>
                  </a:lnTo>
                  <a:lnTo>
                    <a:pt x="3665091" y="54093"/>
                  </a:lnTo>
                  <a:lnTo>
                    <a:pt x="3646110" y="25941"/>
                  </a:lnTo>
                  <a:lnTo>
                    <a:pt x="3617957" y="6960"/>
                  </a:lnTo>
                  <a:lnTo>
                    <a:pt x="3583482" y="0"/>
                  </a:lnTo>
                  <a:close/>
                </a:path>
              </a:pathLst>
            </a:custGeom>
            <a:ln w="5060">
              <a:solidFill>
                <a:srgbClr val="32CC8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1" name="object 31"/>
          <p:cNvSpPr txBox="1"/>
          <p:nvPr/>
        </p:nvSpPr>
        <p:spPr>
          <a:xfrm>
            <a:off x="1637144" y="1775433"/>
            <a:ext cx="2486025" cy="53594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5080" indent="15875" algn="just">
              <a:lnSpc>
                <a:spcPct val="102600"/>
              </a:lnSpc>
              <a:spcBef>
                <a:spcPts val="55"/>
              </a:spcBef>
            </a:pPr>
            <a:r>
              <a:rPr sz="1100" spc="-25" dirty="0">
                <a:solidFill>
                  <a:srgbClr val="A5B2C5"/>
                </a:solidFill>
                <a:latin typeface="Arial MT"/>
                <a:cs typeface="Arial MT"/>
              </a:rPr>
              <a:t>Analytical</a:t>
            </a:r>
            <a:r>
              <a:rPr sz="1100" spc="-5" dirty="0">
                <a:solidFill>
                  <a:srgbClr val="A5B2C5"/>
                </a:solidFill>
                <a:latin typeface="Arial MT"/>
                <a:cs typeface="Arial MT"/>
              </a:rPr>
              <a:t> </a:t>
            </a:r>
            <a:r>
              <a:rPr sz="1100" spc="-50" dirty="0">
                <a:solidFill>
                  <a:srgbClr val="A5B2C5"/>
                </a:solidFill>
                <a:latin typeface="Arial MT"/>
                <a:cs typeface="Arial MT"/>
              </a:rPr>
              <a:t>calculations</a:t>
            </a:r>
            <a:r>
              <a:rPr sz="1100" spc="-5" dirty="0">
                <a:solidFill>
                  <a:srgbClr val="A5B2C5"/>
                </a:solidFill>
                <a:latin typeface="Arial MT"/>
                <a:cs typeface="Arial MT"/>
              </a:rPr>
              <a:t> </a:t>
            </a:r>
            <a:r>
              <a:rPr sz="1100" spc="-65" dirty="0">
                <a:solidFill>
                  <a:srgbClr val="A5B2C5"/>
                </a:solidFill>
                <a:latin typeface="Arial MT"/>
                <a:cs typeface="Arial MT"/>
              </a:rPr>
              <a:t>are</a:t>
            </a:r>
            <a:r>
              <a:rPr sz="1100" spc="-5" dirty="0">
                <a:solidFill>
                  <a:srgbClr val="A5B2C5"/>
                </a:solidFill>
                <a:latin typeface="Arial MT"/>
                <a:cs typeface="Arial MT"/>
              </a:rPr>
              <a:t> </a:t>
            </a:r>
            <a:r>
              <a:rPr sz="1100" spc="-50" dirty="0">
                <a:solidFill>
                  <a:srgbClr val="A5B2C5"/>
                </a:solidFill>
                <a:latin typeface="Arial MT"/>
                <a:cs typeface="Arial MT"/>
              </a:rPr>
              <a:t>performed</a:t>
            </a:r>
            <a:r>
              <a:rPr sz="1100" dirty="0">
                <a:solidFill>
                  <a:srgbClr val="A5B2C5"/>
                </a:solidFill>
                <a:latin typeface="Arial MT"/>
                <a:cs typeface="Arial MT"/>
              </a:rPr>
              <a:t> </a:t>
            </a:r>
            <a:r>
              <a:rPr sz="1100" spc="-20" dirty="0">
                <a:solidFill>
                  <a:srgbClr val="A5B2C5"/>
                </a:solidFill>
                <a:latin typeface="Arial MT"/>
                <a:cs typeface="Arial MT"/>
              </a:rPr>
              <a:t>from </a:t>
            </a:r>
            <a:r>
              <a:rPr sz="1100" spc="-35" dirty="0">
                <a:solidFill>
                  <a:srgbClr val="A5B2C5"/>
                </a:solidFill>
                <a:latin typeface="Arial MT"/>
                <a:cs typeface="Arial MT"/>
              </a:rPr>
              <a:t>structured financial </a:t>
            </a:r>
            <a:r>
              <a:rPr sz="1100" spc="-20" dirty="0">
                <a:solidFill>
                  <a:srgbClr val="A5B2C5"/>
                </a:solidFill>
                <a:latin typeface="Arial MT"/>
                <a:cs typeface="Arial MT"/>
              </a:rPr>
              <a:t>data rather </a:t>
            </a:r>
            <a:r>
              <a:rPr sz="1100" spc="-10" dirty="0">
                <a:solidFill>
                  <a:srgbClr val="A5B2C5"/>
                </a:solidFill>
                <a:latin typeface="Arial MT"/>
                <a:cs typeface="Arial MT"/>
              </a:rPr>
              <a:t>than</a:t>
            </a:r>
            <a:r>
              <a:rPr sz="1100" spc="-20" dirty="0">
                <a:solidFill>
                  <a:srgbClr val="A5B2C5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A5B2C5"/>
                </a:solidFill>
                <a:latin typeface="Arial MT"/>
                <a:cs typeface="Arial MT"/>
              </a:rPr>
              <a:t>rely-ing</a:t>
            </a:r>
            <a:r>
              <a:rPr sz="1100" spc="-15" dirty="0">
                <a:solidFill>
                  <a:srgbClr val="A5B2C5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A5B2C5"/>
                </a:solidFill>
                <a:latin typeface="Arial MT"/>
                <a:cs typeface="Arial MT"/>
              </a:rPr>
              <a:t>on</a:t>
            </a:r>
            <a:r>
              <a:rPr sz="1100" spc="-15" dirty="0">
                <a:solidFill>
                  <a:srgbClr val="A5B2C5"/>
                </a:solidFill>
                <a:latin typeface="Arial MT"/>
                <a:cs typeface="Arial MT"/>
              </a:rPr>
              <a:t> </a:t>
            </a:r>
            <a:r>
              <a:rPr sz="1100" spc="-40" dirty="0">
                <a:solidFill>
                  <a:srgbClr val="A5B2C5"/>
                </a:solidFill>
                <a:latin typeface="Arial MT"/>
                <a:cs typeface="Arial MT"/>
              </a:rPr>
              <a:t>an</a:t>
            </a:r>
            <a:r>
              <a:rPr sz="1100" spc="-15" dirty="0">
                <a:solidFill>
                  <a:srgbClr val="A5B2C5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A5B2C5"/>
                </a:solidFill>
                <a:latin typeface="Arial MT"/>
                <a:cs typeface="Arial MT"/>
              </a:rPr>
              <a:t>LLM</a:t>
            </a:r>
            <a:r>
              <a:rPr sz="1100" spc="-15" dirty="0">
                <a:solidFill>
                  <a:srgbClr val="A5B2C5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A5B2C5"/>
                </a:solidFill>
                <a:latin typeface="Arial MT"/>
                <a:cs typeface="Arial MT"/>
              </a:rPr>
              <a:t>to</a:t>
            </a:r>
            <a:r>
              <a:rPr sz="1100" spc="-15" dirty="0">
                <a:solidFill>
                  <a:srgbClr val="A5B2C5"/>
                </a:solidFill>
                <a:latin typeface="Arial MT"/>
                <a:cs typeface="Arial MT"/>
              </a:rPr>
              <a:t> </a:t>
            </a:r>
            <a:r>
              <a:rPr sz="1100" spc="-25" dirty="0">
                <a:solidFill>
                  <a:srgbClr val="A5B2C5"/>
                </a:solidFill>
                <a:latin typeface="Arial MT"/>
                <a:cs typeface="Arial MT"/>
              </a:rPr>
              <a:t>invent</a:t>
            </a:r>
            <a:r>
              <a:rPr sz="1100" spc="-15" dirty="0">
                <a:solidFill>
                  <a:srgbClr val="A5B2C5"/>
                </a:solidFill>
                <a:latin typeface="Arial MT"/>
                <a:cs typeface="Arial MT"/>
              </a:rPr>
              <a:t> </a:t>
            </a:r>
            <a:r>
              <a:rPr sz="1100" spc="-50" dirty="0">
                <a:solidFill>
                  <a:srgbClr val="A5B2C5"/>
                </a:solidFill>
                <a:latin typeface="Arial MT"/>
                <a:cs typeface="Arial MT"/>
              </a:rPr>
              <a:t>numerical</a:t>
            </a:r>
            <a:r>
              <a:rPr sz="1100" spc="-15" dirty="0">
                <a:solidFill>
                  <a:srgbClr val="A5B2C5"/>
                </a:solidFill>
                <a:latin typeface="Arial MT"/>
                <a:cs typeface="Arial MT"/>
              </a:rPr>
              <a:t> </a:t>
            </a:r>
            <a:r>
              <a:rPr sz="1100" spc="-25" dirty="0">
                <a:solidFill>
                  <a:srgbClr val="A5B2C5"/>
                </a:solidFill>
                <a:latin typeface="Arial MT"/>
                <a:cs typeface="Arial MT"/>
              </a:rPr>
              <a:t>results.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32" name="object 3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/>
              <a:t>FinPilot</a:t>
            </a:r>
            <a:r>
              <a:rPr spc="45" dirty="0"/>
              <a:t> </a:t>
            </a:r>
            <a:r>
              <a:rPr dirty="0"/>
              <a:t>—</a:t>
            </a:r>
            <a:r>
              <a:rPr spc="50" dirty="0"/>
              <a:t> </a:t>
            </a:r>
            <a:r>
              <a:rPr dirty="0"/>
              <a:t>AI</a:t>
            </a:r>
            <a:r>
              <a:rPr spc="55" dirty="0"/>
              <a:t> </a:t>
            </a:r>
            <a:r>
              <a:rPr spc="-20" dirty="0"/>
              <a:t>Personal</a:t>
            </a:r>
            <a:r>
              <a:rPr spc="50" dirty="0"/>
              <a:t> </a:t>
            </a:r>
            <a:r>
              <a:rPr spc="-20" dirty="0"/>
              <a:t>Finance</a:t>
            </a:r>
            <a:r>
              <a:rPr spc="55" dirty="0"/>
              <a:t> </a:t>
            </a:r>
            <a:r>
              <a:rPr spc="-10" dirty="0"/>
              <a:t>Decision</a:t>
            </a:r>
            <a:r>
              <a:rPr spc="50" dirty="0"/>
              <a:t> </a:t>
            </a:r>
            <a:r>
              <a:rPr dirty="0"/>
              <a:t>Support</a:t>
            </a:r>
            <a:r>
              <a:rPr spc="45" dirty="0"/>
              <a:t> </a:t>
            </a:r>
            <a:r>
              <a:rPr spc="-10" dirty="0"/>
              <a:t>Agent</a:t>
            </a:r>
          </a:p>
        </p:txBody>
      </p:sp>
      <p:sp>
        <p:nvSpPr>
          <p:cNvPr id="33" name="object 3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pc="-25" dirty="0"/>
              <a:t>21</a:t>
            </a:r>
          </a:p>
        </p:txBody>
      </p:sp>
    </p:spTree>
  </p:cSld>
  <p:clrMapOvr>
    <a:masterClrMapping/>
  </p:clrMapOvr>
  <p:transition>
    <p:cut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50" dirty="0"/>
              <a:t>Monthly</a:t>
            </a:r>
            <a:r>
              <a:rPr spc="180" dirty="0"/>
              <a:t> </a:t>
            </a:r>
            <a:r>
              <a:rPr dirty="0"/>
              <a:t>Financial</a:t>
            </a:r>
            <a:r>
              <a:rPr spc="180" dirty="0"/>
              <a:t> </a:t>
            </a:r>
            <a:r>
              <a:rPr spc="-10" dirty="0"/>
              <a:t>Brief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11302" y="771166"/>
            <a:ext cx="1756410" cy="17760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b="1" dirty="0">
                <a:solidFill>
                  <a:srgbClr val="27D2DC"/>
                </a:solidFill>
                <a:latin typeface="Arial"/>
                <a:cs typeface="Arial"/>
              </a:rPr>
              <a:t>Executive</a:t>
            </a:r>
            <a:r>
              <a:rPr sz="1400" b="1" spc="120" dirty="0">
                <a:solidFill>
                  <a:srgbClr val="27D2DC"/>
                </a:solidFill>
                <a:latin typeface="Arial"/>
                <a:cs typeface="Arial"/>
              </a:rPr>
              <a:t> </a:t>
            </a:r>
            <a:r>
              <a:rPr sz="1400" b="1" spc="-10" dirty="0">
                <a:solidFill>
                  <a:srgbClr val="27D2DC"/>
                </a:solidFill>
                <a:latin typeface="Arial"/>
                <a:cs typeface="Arial"/>
              </a:rPr>
              <a:t>Summary</a:t>
            </a:r>
            <a:endParaRPr sz="1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25"/>
              </a:spcBef>
            </a:pPr>
            <a:r>
              <a:rPr sz="1100" spc="-10" dirty="0">
                <a:solidFill>
                  <a:srgbClr val="F4F8FC"/>
                </a:solidFill>
                <a:latin typeface="Arial MT"/>
                <a:cs typeface="Arial MT"/>
              </a:rPr>
              <a:t>The</a:t>
            </a:r>
            <a:r>
              <a:rPr sz="1100" spc="-35" dirty="0">
                <a:solidFill>
                  <a:srgbClr val="F4F8FC"/>
                </a:solidFill>
                <a:latin typeface="Arial MT"/>
                <a:cs typeface="Arial MT"/>
              </a:rPr>
              <a:t> </a:t>
            </a:r>
            <a:r>
              <a:rPr sz="1100" spc="-20" dirty="0">
                <a:solidFill>
                  <a:srgbClr val="F4F8FC"/>
                </a:solidFill>
                <a:latin typeface="Arial MT"/>
                <a:cs typeface="Arial MT"/>
              </a:rPr>
              <a:t>monthly</a:t>
            </a:r>
            <a:r>
              <a:rPr sz="1100" spc="-30" dirty="0">
                <a:solidFill>
                  <a:srgbClr val="F4F8FC"/>
                </a:solidFill>
                <a:latin typeface="Arial MT"/>
                <a:cs typeface="Arial MT"/>
              </a:rPr>
              <a:t> </a:t>
            </a:r>
            <a:r>
              <a:rPr sz="1100" spc="-20" dirty="0">
                <a:solidFill>
                  <a:srgbClr val="F4F8FC"/>
                </a:solidFill>
                <a:latin typeface="Arial MT"/>
                <a:cs typeface="Arial MT"/>
              </a:rPr>
              <a:t>brief</a:t>
            </a:r>
            <a:r>
              <a:rPr sz="1100" spc="-30" dirty="0">
                <a:solidFill>
                  <a:srgbClr val="F4F8FC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F4F8FC"/>
                </a:solidFill>
                <a:latin typeface="Arial MT"/>
                <a:cs typeface="Arial MT"/>
              </a:rPr>
              <a:t>combines:</a:t>
            </a:r>
            <a:endParaRPr sz="1100">
              <a:latin typeface="Arial MT"/>
              <a:cs typeface="Arial MT"/>
            </a:endParaRPr>
          </a:p>
          <a:p>
            <a:pPr marL="287020" indent="-207645">
              <a:lnSpc>
                <a:spcPct val="100000"/>
              </a:lnSpc>
              <a:spcBef>
                <a:spcPts val="330"/>
              </a:spcBef>
              <a:buClr>
                <a:srgbClr val="27D2DC"/>
              </a:buClr>
              <a:buSzPct val="90909"/>
              <a:buFont typeface="Lucida Sans Unicode"/>
              <a:buChar char="►"/>
              <a:tabLst>
                <a:tab pos="287020" algn="l"/>
              </a:tabLst>
            </a:pPr>
            <a:r>
              <a:rPr sz="1100" spc="-65" dirty="0">
                <a:solidFill>
                  <a:srgbClr val="F4F8FC"/>
                </a:solidFill>
                <a:latin typeface="Arial MT"/>
                <a:cs typeface="Arial MT"/>
              </a:rPr>
              <a:t>Income</a:t>
            </a:r>
            <a:r>
              <a:rPr sz="1100" spc="5" dirty="0">
                <a:solidFill>
                  <a:srgbClr val="F4F8FC"/>
                </a:solidFill>
                <a:latin typeface="Arial MT"/>
                <a:cs typeface="Arial MT"/>
              </a:rPr>
              <a:t> </a:t>
            </a:r>
            <a:r>
              <a:rPr sz="1100" spc="-55" dirty="0">
                <a:solidFill>
                  <a:srgbClr val="F4F8FC"/>
                </a:solidFill>
                <a:latin typeface="Arial MT"/>
                <a:cs typeface="Arial MT"/>
              </a:rPr>
              <a:t>and</a:t>
            </a:r>
            <a:r>
              <a:rPr sz="1100" spc="5" dirty="0">
                <a:solidFill>
                  <a:srgbClr val="F4F8FC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F4F8FC"/>
                </a:solidFill>
                <a:latin typeface="Arial MT"/>
                <a:cs typeface="Arial MT"/>
              </a:rPr>
              <a:t>expenses</a:t>
            </a:r>
            <a:endParaRPr sz="1100">
              <a:latin typeface="Arial MT"/>
              <a:cs typeface="Arial MT"/>
            </a:endParaRPr>
          </a:p>
          <a:p>
            <a:pPr marL="287020" indent="-207645">
              <a:lnSpc>
                <a:spcPct val="100000"/>
              </a:lnSpc>
              <a:spcBef>
                <a:spcPts val="335"/>
              </a:spcBef>
              <a:buClr>
                <a:srgbClr val="27D2DC"/>
              </a:buClr>
              <a:buSzPct val="90909"/>
              <a:buFont typeface="Lucida Sans Unicode"/>
              <a:buChar char="►"/>
              <a:tabLst>
                <a:tab pos="287020" algn="l"/>
              </a:tabLst>
            </a:pPr>
            <a:r>
              <a:rPr sz="1100" spc="-75" dirty="0">
                <a:solidFill>
                  <a:srgbClr val="F4F8FC"/>
                </a:solidFill>
                <a:latin typeface="Arial MT"/>
                <a:cs typeface="Arial MT"/>
              </a:rPr>
              <a:t>Cash-</a:t>
            </a:r>
            <a:r>
              <a:rPr sz="1100" spc="-35" dirty="0">
                <a:solidFill>
                  <a:srgbClr val="F4F8FC"/>
                </a:solidFill>
                <a:latin typeface="Arial MT"/>
                <a:cs typeface="Arial MT"/>
              </a:rPr>
              <a:t>flow</a:t>
            </a:r>
            <a:r>
              <a:rPr sz="1100" spc="-10" dirty="0">
                <a:solidFill>
                  <a:srgbClr val="F4F8FC"/>
                </a:solidFill>
                <a:latin typeface="Arial MT"/>
                <a:cs typeface="Arial MT"/>
              </a:rPr>
              <a:t> position</a:t>
            </a:r>
            <a:endParaRPr sz="1100">
              <a:latin typeface="Arial MT"/>
              <a:cs typeface="Arial MT"/>
            </a:endParaRPr>
          </a:p>
          <a:p>
            <a:pPr marL="287020" indent="-207645">
              <a:lnSpc>
                <a:spcPct val="100000"/>
              </a:lnSpc>
              <a:spcBef>
                <a:spcPts val="335"/>
              </a:spcBef>
              <a:buClr>
                <a:srgbClr val="27D2DC"/>
              </a:buClr>
              <a:buSzPct val="90909"/>
              <a:buFont typeface="Lucida Sans Unicode"/>
              <a:buChar char="►"/>
              <a:tabLst>
                <a:tab pos="287020" algn="l"/>
              </a:tabLst>
            </a:pPr>
            <a:r>
              <a:rPr sz="1100" spc="-30" dirty="0">
                <a:solidFill>
                  <a:srgbClr val="F4F8FC"/>
                </a:solidFill>
                <a:latin typeface="Arial MT"/>
                <a:cs typeface="Arial MT"/>
              </a:rPr>
              <a:t>Budget</a:t>
            </a:r>
            <a:r>
              <a:rPr sz="1100" spc="-35" dirty="0">
                <a:solidFill>
                  <a:srgbClr val="F4F8FC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F4F8FC"/>
                </a:solidFill>
                <a:latin typeface="Arial MT"/>
                <a:cs typeface="Arial MT"/>
              </a:rPr>
              <a:t>status</a:t>
            </a:r>
            <a:endParaRPr sz="1100">
              <a:latin typeface="Arial MT"/>
              <a:cs typeface="Arial MT"/>
            </a:endParaRPr>
          </a:p>
          <a:p>
            <a:pPr marL="287020" indent="-207645">
              <a:lnSpc>
                <a:spcPct val="100000"/>
              </a:lnSpc>
              <a:spcBef>
                <a:spcPts val="335"/>
              </a:spcBef>
              <a:buClr>
                <a:srgbClr val="27D2DC"/>
              </a:buClr>
              <a:buSzPct val="90909"/>
              <a:buFont typeface="Lucida Sans Unicode"/>
              <a:buChar char="►"/>
              <a:tabLst>
                <a:tab pos="287020" algn="l"/>
              </a:tabLst>
            </a:pPr>
            <a:r>
              <a:rPr sz="1100" spc="-45" dirty="0">
                <a:solidFill>
                  <a:srgbClr val="F4F8FC"/>
                </a:solidFill>
                <a:latin typeface="Arial MT"/>
                <a:cs typeface="Arial MT"/>
              </a:rPr>
              <a:t>Subscription</a:t>
            </a:r>
            <a:r>
              <a:rPr sz="1100" spc="-10" dirty="0">
                <a:solidFill>
                  <a:srgbClr val="F4F8FC"/>
                </a:solidFill>
                <a:latin typeface="Arial MT"/>
                <a:cs typeface="Arial MT"/>
              </a:rPr>
              <a:t> </a:t>
            </a:r>
            <a:r>
              <a:rPr sz="1100" spc="-50" dirty="0">
                <a:solidFill>
                  <a:srgbClr val="F4F8FC"/>
                </a:solidFill>
                <a:latin typeface="Arial MT"/>
                <a:cs typeface="Arial MT"/>
              </a:rPr>
              <a:t>observations</a:t>
            </a:r>
            <a:endParaRPr sz="1100">
              <a:latin typeface="Arial MT"/>
              <a:cs typeface="Arial MT"/>
            </a:endParaRPr>
          </a:p>
          <a:p>
            <a:pPr marL="287020" indent="-207645">
              <a:lnSpc>
                <a:spcPct val="100000"/>
              </a:lnSpc>
              <a:spcBef>
                <a:spcPts val="330"/>
              </a:spcBef>
              <a:buClr>
                <a:srgbClr val="27D2DC"/>
              </a:buClr>
              <a:buSzPct val="90909"/>
              <a:buFont typeface="Lucida Sans Unicode"/>
              <a:buChar char="►"/>
              <a:tabLst>
                <a:tab pos="287020" algn="l"/>
              </a:tabLst>
            </a:pPr>
            <a:r>
              <a:rPr sz="1100" spc="-40" dirty="0">
                <a:solidFill>
                  <a:srgbClr val="F4F8FC"/>
                </a:solidFill>
                <a:latin typeface="Arial MT"/>
                <a:cs typeface="Arial MT"/>
              </a:rPr>
              <a:t>Anomaly</a:t>
            </a:r>
            <a:r>
              <a:rPr sz="1100" spc="-10" dirty="0">
                <a:solidFill>
                  <a:srgbClr val="F4F8FC"/>
                </a:solidFill>
                <a:latin typeface="Arial MT"/>
                <a:cs typeface="Arial MT"/>
              </a:rPr>
              <a:t> flags</a:t>
            </a:r>
            <a:endParaRPr sz="1100">
              <a:latin typeface="Arial MT"/>
              <a:cs typeface="Arial MT"/>
            </a:endParaRPr>
          </a:p>
          <a:p>
            <a:pPr marL="287020" indent="-207645">
              <a:lnSpc>
                <a:spcPct val="100000"/>
              </a:lnSpc>
              <a:spcBef>
                <a:spcPts val="335"/>
              </a:spcBef>
              <a:buClr>
                <a:srgbClr val="27D2DC"/>
              </a:buClr>
              <a:buSzPct val="90909"/>
              <a:buFont typeface="Lucida Sans Unicode"/>
              <a:buChar char="►"/>
              <a:tabLst>
                <a:tab pos="287020" algn="l"/>
              </a:tabLst>
            </a:pPr>
            <a:r>
              <a:rPr sz="1100" spc="-90" dirty="0">
                <a:solidFill>
                  <a:srgbClr val="F4F8FC"/>
                </a:solidFill>
                <a:latin typeface="Arial MT"/>
                <a:cs typeface="Arial MT"/>
              </a:rPr>
              <a:t>Suggested</a:t>
            </a:r>
            <a:r>
              <a:rPr sz="1100" spc="20" dirty="0">
                <a:solidFill>
                  <a:srgbClr val="F4F8FC"/>
                </a:solidFill>
                <a:latin typeface="Arial MT"/>
                <a:cs typeface="Arial MT"/>
              </a:rPr>
              <a:t> </a:t>
            </a:r>
            <a:r>
              <a:rPr sz="1100" spc="-20" dirty="0">
                <a:solidFill>
                  <a:srgbClr val="F4F8FC"/>
                </a:solidFill>
                <a:latin typeface="Arial MT"/>
                <a:cs typeface="Arial MT"/>
              </a:rPr>
              <a:t>next</a:t>
            </a:r>
            <a:r>
              <a:rPr sz="1100" spc="20" dirty="0">
                <a:solidFill>
                  <a:srgbClr val="F4F8FC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F4F8FC"/>
                </a:solidFill>
                <a:latin typeface="Arial MT"/>
                <a:cs typeface="Arial MT"/>
              </a:rPr>
              <a:t>steps</a:t>
            </a:r>
            <a:endParaRPr sz="1100">
              <a:latin typeface="Arial MT"/>
              <a:cs typeface="Arial MT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2915976" y="674554"/>
            <a:ext cx="2237105" cy="1991360"/>
            <a:chOff x="2915976" y="674554"/>
            <a:chExt cx="2237105" cy="1991360"/>
          </a:xfrm>
        </p:grpSpPr>
        <p:sp>
          <p:nvSpPr>
            <p:cNvPr id="5" name="object 5"/>
            <p:cNvSpPr/>
            <p:nvPr/>
          </p:nvSpPr>
          <p:spPr>
            <a:xfrm>
              <a:off x="2918506" y="677084"/>
              <a:ext cx="2232660" cy="1986280"/>
            </a:xfrm>
            <a:custGeom>
              <a:avLst/>
              <a:gdLst/>
              <a:ahLst/>
              <a:cxnLst/>
              <a:rect l="l" t="t" r="r" b="b"/>
              <a:pathLst>
                <a:path w="2232660" h="1986280">
                  <a:moveTo>
                    <a:pt x="2130810" y="0"/>
                  </a:moveTo>
                  <a:lnTo>
                    <a:pt x="101221" y="0"/>
                  </a:lnTo>
                  <a:lnTo>
                    <a:pt x="61821" y="7954"/>
                  </a:lnTo>
                  <a:lnTo>
                    <a:pt x="29646" y="29646"/>
                  </a:lnTo>
                  <a:lnTo>
                    <a:pt x="7954" y="61821"/>
                  </a:lnTo>
                  <a:lnTo>
                    <a:pt x="0" y="101221"/>
                  </a:lnTo>
                  <a:lnTo>
                    <a:pt x="0" y="1884531"/>
                  </a:lnTo>
                  <a:lnTo>
                    <a:pt x="7954" y="1923931"/>
                  </a:lnTo>
                  <a:lnTo>
                    <a:pt x="29646" y="1956105"/>
                  </a:lnTo>
                  <a:lnTo>
                    <a:pt x="61821" y="1977798"/>
                  </a:lnTo>
                  <a:lnTo>
                    <a:pt x="101221" y="1985752"/>
                  </a:lnTo>
                  <a:lnTo>
                    <a:pt x="2130810" y="1985752"/>
                  </a:lnTo>
                  <a:lnTo>
                    <a:pt x="2170211" y="1977798"/>
                  </a:lnTo>
                  <a:lnTo>
                    <a:pt x="2202385" y="1956105"/>
                  </a:lnTo>
                  <a:lnTo>
                    <a:pt x="2224078" y="1923931"/>
                  </a:lnTo>
                  <a:lnTo>
                    <a:pt x="2232032" y="1884531"/>
                  </a:lnTo>
                  <a:lnTo>
                    <a:pt x="2232032" y="101221"/>
                  </a:lnTo>
                  <a:lnTo>
                    <a:pt x="2224078" y="61821"/>
                  </a:lnTo>
                  <a:lnTo>
                    <a:pt x="2202385" y="29646"/>
                  </a:lnTo>
                  <a:lnTo>
                    <a:pt x="2170211" y="7954"/>
                  </a:lnTo>
                  <a:lnTo>
                    <a:pt x="2130810" y="0"/>
                  </a:lnTo>
                  <a:close/>
                </a:path>
              </a:pathLst>
            </a:custGeom>
            <a:solidFill>
              <a:srgbClr val="0C18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918506" y="677084"/>
              <a:ext cx="2232660" cy="1986280"/>
            </a:xfrm>
            <a:custGeom>
              <a:avLst/>
              <a:gdLst/>
              <a:ahLst/>
              <a:cxnLst/>
              <a:rect l="l" t="t" r="r" b="b"/>
              <a:pathLst>
                <a:path w="2232660" h="1986280">
                  <a:moveTo>
                    <a:pt x="2130810" y="0"/>
                  </a:moveTo>
                  <a:lnTo>
                    <a:pt x="101221" y="0"/>
                  </a:lnTo>
                  <a:lnTo>
                    <a:pt x="61821" y="7954"/>
                  </a:lnTo>
                  <a:lnTo>
                    <a:pt x="29646" y="29646"/>
                  </a:lnTo>
                  <a:lnTo>
                    <a:pt x="7954" y="61821"/>
                  </a:lnTo>
                  <a:lnTo>
                    <a:pt x="0" y="101221"/>
                  </a:lnTo>
                  <a:lnTo>
                    <a:pt x="0" y="1884531"/>
                  </a:lnTo>
                  <a:lnTo>
                    <a:pt x="7954" y="1923931"/>
                  </a:lnTo>
                  <a:lnTo>
                    <a:pt x="29646" y="1956105"/>
                  </a:lnTo>
                  <a:lnTo>
                    <a:pt x="61821" y="1977798"/>
                  </a:lnTo>
                  <a:lnTo>
                    <a:pt x="101221" y="1985752"/>
                  </a:lnTo>
                  <a:lnTo>
                    <a:pt x="2130810" y="1985752"/>
                  </a:lnTo>
                  <a:lnTo>
                    <a:pt x="2170211" y="1977798"/>
                  </a:lnTo>
                  <a:lnTo>
                    <a:pt x="2202385" y="1956105"/>
                  </a:lnTo>
                  <a:lnTo>
                    <a:pt x="2224078" y="1923931"/>
                  </a:lnTo>
                  <a:lnTo>
                    <a:pt x="2232032" y="1884531"/>
                  </a:lnTo>
                  <a:lnTo>
                    <a:pt x="2232032" y="101221"/>
                  </a:lnTo>
                  <a:lnTo>
                    <a:pt x="2224078" y="61821"/>
                  </a:lnTo>
                  <a:lnTo>
                    <a:pt x="2202385" y="29646"/>
                  </a:lnTo>
                  <a:lnTo>
                    <a:pt x="2170211" y="7954"/>
                  </a:lnTo>
                  <a:lnTo>
                    <a:pt x="2130810" y="0"/>
                  </a:lnTo>
                  <a:close/>
                </a:path>
              </a:pathLst>
            </a:custGeom>
            <a:ln w="5060">
              <a:solidFill>
                <a:srgbClr val="27D2D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3031832" y="670240"/>
            <a:ext cx="1990089" cy="1880235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0"/>
              </a:spcBef>
            </a:pPr>
            <a:r>
              <a:rPr sz="1100" b="1" spc="45" dirty="0">
                <a:solidFill>
                  <a:srgbClr val="F4F8FC"/>
                </a:solidFill>
                <a:latin typeface="Arial"/>
                <a:cs typeface="Arial"/>
              </a:rPr>
              <a:t>MONTHLY</a:t>
            </a:r>
            <a:r>
              <a:rPr sz="1100" b="1" spc="55" dirty="0">
                <a:solidFill>
                  <a:srgbClr val="F4F8FC"/>
                </a:solidFill>
                <a:latin typeface="Arial"/>
                <a:cs typeface="Arial"/>
              </a:rPr>
              <a:t> </a:t>
            </a:r>
            <a:r>
              <a:rPr sz="1100" b="1" spc="-20" dirty="0">
                <a:solidFill>
                  <a:srgbClr val="F4F8FC"/>
                </a:solidFill>
                <a:latin typeface="Arial"/>
                <a:cs typeface="Arial"/>
              </a:rPr>
              <a:t>BRIEF</a:t>
            </a:r>
            <a:endParaRPr sz="1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05"/>
              </a:spcBef>
            </a:pPr>
            <a:r>
              <a:rPr sz="1100" b="1" spc="-10" dirty="0">
                <a:solidFill>
                  <a:srgbClr val="32CC81"/>
                </a:solidFill>
                <a:latin typeface="Arial"/>
                <a:cs typeface="Arial"/>
              </a:rPr>
              <a:t>Positive</a:t>
            </a:r>
            <a:endParaRPr sz="1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1100" spc="-100" dirty="0">
                <a:solidFill>
                  <a:srgbClr val="32CC81"/>
                </a:solidFill>
                <a:latin typeface="Arial MT"/>
                <a:cs typeface="Arial MT"/>
              </a:rPr>
              <a:t>Cash</a:t>
            </a:r>
            <a:r>
              <a:rPr sz="1100" spc="25" dirty="0">
                <a:solidFill>
                  <a:srgbClr val="32CC81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32CC81"/>
                </a:solidFill>
                <a:latin typeface="Arial MT"/>
                <a:cs typeface="Arial MT"/>
              </a:rPr>
              <a:t>flow</a:t>
            </a:r>
            <a:r>
              <a:rPr sz="1100" dirty="0">
                <a:solidFill>
                  <a:srgbClr val="32CC81"/>
                </a:solidFill>
                <a:latin typeface="Arial MT"/>
                <a:cs typeface="Arial MT"/>
              </a:rPr>
              <a:t> </a:t>
            </a:r>
            <a:r>
              <a:rPr sz="1100" spc="-75" dirty="0">
                <a:solidFill>
                  <a:srgbClr val="32CC81"/>
                </a:solidFill>
                <a:latin typeface="Arial MT"/>
                <a:cs typeface="Arial MT"/>
              </a:rPr>
              <a:t>remained</a:t>
            </a:r>
            <a:r>
              <a:rPr sz="1100" spc="15" dirty="0">
                <a:solidFill>
                  <a:srgbClr val="32CC81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32CC81"/>
                </a:solidFill>
                <a:latin typeface="Arial MT"/>
                <a:cs typeface="Arial MT"/>
              </a:rPr>
              <a:t>positive.</a:t>
            </a:r>
            <a:endParaRPr sz="11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459"/>
              </a:spcBef>
            </a:pPr>
            <a:r>
              <a:rPr sz="1100" b="1" spc="-10" dirty="0">
                <a:solidFill>
                  <a:srgbClr val="F4BE3B"/>
                </a:solidFill>
                <a:latin typeface="Arial"/>
                <a:cs typeface="Arial"/>
              </a:rPr>
              <a:t>Attention</a:t>
            </a:r>
            <a:endParaRPr sz="1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1100" spc="-20" dirty="0">
                <a:solidFill>
                  <a:srgbClr val="F4BE3B"/>
                </a:solidFill>
                <a:latin typeface="Arial MT"/>
                <a:cs typeface="Arial MT"/>
              </a:rPr>
              <a:t>Dining</a:t>
            </a:r>
            <a:r>
              <a:rPr sz="1100" spc="5" dirty="0">
                <a:solidFill>
                  <a:srgbClr val="F4BE3B"/>
                </a:solidFill>
                <a:latin typeface="Arial MT"/>
                <a:cs typeface="Arial MT"/>
              </a:rPr>
              <a:t> </a:t>
            </a:r>
            <a:r>
              <a:rPr sz="1100" spc="-70" dirty="0">
                <a:solidFill>
                  <a:srgbClr val="F4BE3B"/>
                </a:solidFill>
                <a:latin typeface="Arial MT"/>
                <a:cs typeface="Arial MT"/>
              </a:rPr>
              <a:t>spending</a:t>
            </a:r>
            <a:r>
              <a:rPr sz="1100" spc="5" dirty="0">
                <a:solidFill>
                  <a:srgbClr val="F4BE3B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F4BE3B"/>
                </a:solidFill>
                <a:latin typeface="Arial MT"/>
                <a:cs typeface="Arial MT"/>
              </a:rPr>
              <a:t>increased.</a:t>
            </a:r>
            <a:endParaRPr sz="11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459"/>
              </a:spcBef>
            </a:pPr>
            <a:r>
              <a:rPr sz="1100" b="1" spc="-20" dirty="0">
                <a:solidFill>
                  <a:srgbClr val="F0505F"/>
                </a:solidFill>
                <a:latin typeface="Arial"/>
                <a:cs typeface="Arial"/>
              </a:rPr>
              <a:t>Flag</a:t>
            </a:r>
            <a:endParaRPr sz="1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1100" spc="-65" dirty="0">
                <a:solidFill>
                  <a:srgbClr val="F0505F"/>
                </a:solidFill>
                <a:latin typeface="Arial MT"/>
                <a:cs typeface="Arial MT"/>
              </a:rPr>
              <a:t>One</a:t>
            </a:r>
            <a:r>
              <a:rPr sz="1100" spc="15" dirty="0">
                <a:solidFill>
                  <a:srgbClr val="F0505F"/>
                </a:solidFill>
                <a:latin typeface="Arial MT"/>
                <a:cs typeface="Arial MT"/>
              </a:rPr>
              <a:t> </a:t>
            </a:r>
            <a:r>
              <a:rPr sz="1100" spc="-70" dirty="0">
                <a:solidFill>
                  <a:srgbClr val="F0505F"/>
                </a:solidFill>
                <a:latin typeface="Arial MT"/>
                <a:cs typeface="Arial MT"/>
              </a:rPr>
              <a:t>unusual</a:t>
            </a:r>
            <a:r>
              <a:rPr sz="1100" spc="20" dirty="0">
                <a:solidFill>
                  <a:srgbClr val="F0505F"/>
                </a:solidFill>
                <a:latin typeface="Arial MT"/>
                <a:cs typeface="Arial MT"/>
              </a:rPr>
              <a:t> </a:t>
            </a:r>
            <a:r>
              <a:rPr sz="1100" spc="-35" dirty="0">
                <a:solidFill>
                  <a:srgbClr val="F0505F"/>
                </a:solidFill>
                <a:latin typeface="Arial MT"/>
                <a:cs typeface="Arial MT"/>
              </a:rPr>
              <a:t>transaction</a:t>
            </a:r>
            <a:r>
              <a:rPr sz="1100" spc="20" dirty="0">
                <a:solidFill>
                  <a:srgbClr val="F0505F"/>
                </a:solidFill>
                <a:latin typeface="Arial MT"/>
                <a:cs typeface="Arial MT"/>
              </a:rPr>
              <a:t> </a:t>
            </a:r>
            <a:r>
              <a:rPr sz="1100" spc="-30" dirty="0">
                <a:solidFill>
                  <a:srgbClr val="F0505F"/>
                </a:solidFill>
                <a:latin typeface="Arial MT"/>
                <a:cs typeface="Arial MT"/>
              </a:rPr>
              <a:t>detected.</a:t>
            </a:r>
            <a:endParaRPr sz="11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459"/>
              </a:spcBef>
            </a:pPr>
            <a:r>
              <a:rPr sz="1100" b="1" dirty="0">
                <a:solidFill>
                  <a:srgbClr val="27D2DC"/>
                </a:solidFill>
                <a:latin typeface="Arial"/>
                <a:cs typeface="Arial"/>
              </a:rPr>
              <a:t>Next</a:t>
            </a:r>
            <a:r>
              <a:rPr sz="1100" b="1" spc="15" dirty="0">
                <a:solidFill>
                  <a:srgbClr val="27D2DC"/>
                </a:solidFill>
                <a:latin typeface="Arial"/>
                <a:cs typeface="Arial"/>
              </a:rPr>
              <a:t> </a:t>
            </a:r>
            <a:r>
              <a:rPr sz="1100" b="1" spc="-20" dirty="0">
                <a:solidFill>
                  <a:srgbClr val="27D2DC"/>
                </a:solidFill>
                <a:latin typeface="Arial"/>
                <a:cs typeface="Arial"/>
              </a:rPr>
              <a:t>step</a:t>
            </a:r>
            <a:endParaRPr sz="1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1100" spc="-75" dirty="0">
                <a:solidFill>
                  <a:srgbClr val="27D2DC"/>
                </a:solidFill>
                <a:latin typeface="Arial MT"/>
                <a:cs typeface="Arial MT"/>
              </a:rPr>
              <a:t>Review</a:t>
            </a:r>
            <a:r>
              <a:rPr sz="1100" spc="25" dirty="0">
                <a:solidFill>
                  <a:srgbClr val="27D2DC"/>
                </a:solidFill>
                <a:latin typeface="Arial MT"/>
                <a:cs typeface="Arial MT"/>
              </a:rPr>
              <a:t> </a:t>
            </a:r>
            <a:r>
              <a:rPr sz="1100" spc="-45" dirty="0">
                <a:solidFill>
                  <a:srgbClr val="27D2DC"/>
                </a:solidFill>
                <a:latin typeface="Arial MT"/>
                <a:cs typeface="Arial MT"/>
              </a:rPr>
              <a:t>discretionary</a:t>
            </a:r>
            <a:r>
              <a:rPr sz="1100" spc="30" dirty="0">
                <a:solidFill>
                  <a:srgbClr val="27D2DC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27D2DC"/>
                </a:solidFill>
                <a:latin typeface="Arial MT"/>
                <a:cs typeface="Arial MT"/>
              </a:rPr>
              <a:t>spending.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/>
              <a:t>FinPilot</a:t>
            </a:r>
            <a:r>
              <a:rPr spc="45" dirty="0"/>
              <a:t> </a:t>
            </a:r>
            <a:r>
              <a:rPr dirty="0"/>
              <a:t>—</a:t>
            </a:r>
            <a:r>
              <a:rPr spc="50" dirty="0"/>
              <a:t> </a:t>
            </a:r>
            <a:r>
              <a:rPr dirty="0"/>
              <a:t>AI</a:t>
            </a:r>
            <a:r>
              <a:rPr spc="55" dirty="0"/>
              <a:t> </a:t>
            </a:r>
            <a:r>
              <a:rPr spc="-20" dirty="0"/>
              <a:t>Personal</a:t>
            </a:r>
            <a:r>
              <a:rPr spc="50" dirty="0"/>
              <a:t> </a:t>
            </a:r>
            <a:r>
              <a:rPr spc="-20" dirty="0"/>
              <a:t>Finance</a:t>
            </a:r>
            <a:r>
              <a:rPr spc="55" dirty="0"/>
              <a:t> </a:t>
            </a:r>
            <a:r>
              <a:rPr spc="-10" dirty="0"/>
              <a:t>Decision</a:t>
            </a:r>
            <a:r>
              <a:rPr spc="50" dirty="0"/>
              <a:t> </a:t>
            </a:r>
            <a:r>
              <a:rPr dirty="0"/>
              <a:t>Support</a:t>
            </a:r>
            <a:r>
              <a:rPr spc="45" dirty="0"/>
              <a:t> </a:t>
            </a:r>
            <a:r>
              <a:rPr spc="-10" dirty="0"/>
              <a:t>Agent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pc="-25" dirty="0"/>
              <a:t>22</a:t>
            </a:r>
          </a:p>
        </p:txBody>
      </p:sp>
    </p:spTree>
  </p:cSld>
  <p:clrMapOvr>
    <a:masterClrMapping/>
  </p:clrMapOvr>
  <p:transition>
    <p:cut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Committed</a:t>
            </a:r>
            <a:r>
              <a:rPr spc="275" dirty="0"/>
              <a:t> </a:t>
            </a:r>
            <a:r>
              <a:rPr dirty="0"/>
              <a:t>Spending</a:t>
            </a:r>
            <a:r>
              <a:rPr spc="280" dirty="0"/>
              <a:t> </a:t>
            </a:r>
            <a:r>
              <a:rPr spc="229" dirty="0"/>
              <a:t>&amp;</a:t>
            </a:r>
            <a:r>
              <a:rPr spc="280" dirty="0"/>
              <a:t> </a:t>
            </a:r>
            <a:r>
              <a:rPr dirty="0"/>
              <a:t>Safe-to-</a:t>
            </a:r>
            <a:r>
              <a:rPr spc="-10" dirty="0"/>
              <a:t>Spend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077450" y="836020"/>
            <a:ext cx="3605529" cy="1625600"/>
            <a:chOff x="1077450" y="836020"/>
            <a:chExt cx="3605529" cy="1625600"/>
          </a:xfrm>
        </p:grpSpPr>
        <p:sp>
          <p:nvSpPr>
            <p:cNvPr id="4" name="object 4"/>
            <p:cNvSpPr/>
            <p:nvPr/>
          </p:nvSpPr>
          <p:spPr>
            <a:xfrm>
              <a:off x="1079981" y="838551"/>
              <a:ext cx="3600450" cy="1620520"/>
            </a:xfrm>
            <a:custGeom>
              <a:avLst/>
              <a:gdLst/>
              <a:ahLst/>
              <a:cxnLst/>
              <a:rect l="l" t="t" r="r" b="b"/>
              <a:pathLst>
                <a:path w="3600450" h="1620520">
                  <a:moveTo>
                    <a:pt x="3498824" y="0"/>
                  </a:moveTo>
                  <a:lnTo>
                    <a:pt x="101221" y="0"/>
                  </a:lnTo>
                  <a:lnTo>
                    <a:pt x="61821" y="7954"/>
                  </a:lnTo>
                  <a:lnTo>
                    <a:pt x="29646" y="29646"/>
                  </a:lnTo>
                  <a:lnTo>
                    <a:pt x="7954" y="61821"/>
                  </a:lnTo>
                  <a:lnTo>
                    <a:pt x="0" y="101221"/>
                  </a:lnTo>
                  <a:lnTo>
                    <a:pt x="0" y="1518798"/>
                  </a:lnTo>
                  <a:lnTo>
                    <a:pt x="7954" y="1558199"/>
                  </a:lnTo>
                  <a:lnTo>
                    <a:pt x="29646" y="1590373"/>
                  </a:lnTo>
                  <a:lnTo>
                    <a:pt x="61821" y="1612065"/>
                  </a:lnTo>
                  <a:lnTo>
                    <a:pt x="101221" y="1620020"/>
                  </a:lnTo>
                  <a:lnTo>
                    <a:pt x="3498824" y="1620020"/>
                  </a:lnTo>
                  <a:lnTo>
                    <a:pt x="3538224" y="1612065"/>
                  </a:lnTo>
                  <a:lnTo>
                    <a:pt x="3570399" y="1590373"/>
                  </a:lnTo>
                  <a:lnTo>
                    <a:pt x="3592091" y="1558199"/>
                  </a:lnTo>
                  <a:lnTo>
                    <a:pt x="3600046" y="1518798"/>
                  </a:lnTo>
                  <a:lnTo>
                    <a:pt x="3600046" y="101221"/>
                  </a:lnTo>
                  <a:lnTo>
                    <a:pt x="3592091" y="61821"/>
                  </a:lnTo>
                  <a:lnTo>
                    <a:pt x="3570399" y="29646"/>
                  </a:lnTo>
                  <a:lnTo>
                    <a:pt x="3538224" y="7954"/>
                  </a:lnTo>
                  <a:lnTo>
                    <a:pt x="3498824" y="0"/>
                  </a:lnTo>
                  <a:close/>
                </a:path>
              </a:pathLst>
            </a:custGeom>
            <a:solidFill>
              <a:srgbClr val="0C18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079981" y="838551"/>
              <a:ext cx="3600450" cy="1620520"/>
            </a:xfrm>
            <a:custGeom>
              <a:avLst/>
              <a:gdLst/>
              <a:ahLst/>
              <a:cxnLst/>
              <a:rect l="l" t="t" r="r" b="b"/>
              <a:pathLst>
                <a:path w="3600450" h="1620520">
                  <a:moveTo>
                    <a:pt x="3498824" y="0"/>
                  </a:moveTo>
                  <a:lnTo>
                    <a:pt x="101221" y="0"/>
                  </a:lnTo>
                  <a:lnTo>
                    <a:pt x="61821" y="7954"/>
                  </a:lnTo>
                  <a:lnTo>
                    <a:pt x="29646" y="29646"/>
                  </a:lnTo>
                  <a:lnTo>
                    <a:pt x="7954" y="61821"/>
                  </a:lnTo>
                  <a:lnTo>
                    <a:pt x="0" y="101221"/>
                  </a:lnTo>
                  <a:lnTo>
                    <a:pt x="0" y="1518798"/>
                  </a:lnTo>
                  <a:lnTo>
                    <a:pt x="7954" y="1558199"/>
                  </a:lnTo>
                  <a:lnTo>
                    <a:pt x="29646" y="1590373"/>
                  </a:lnTo>
                  <a:lnTo>
                    <a:pt x="61821" y="1612065"/>
                  </a:lnTo>
                  <a:lnTo>
                    <a:pt x="101221" y="1620020"/>
                  </a:lnTo>
                  <a:lnTo>
                    <a:pt x="3498824" y="1620020"/>
                  </a:lnTo>
                  <a:lnTo>
                    <a:pt x="3538224" y="1612065"/>
                  </a:lnTo>
                  <a:lnTo>
                    <a:pt x="3570399" y="1590373"/>
                  </a:lnTo>
                  <a:lnTo>
                    <a:pt x="3592091" y="1558199"/>
                  </a:lnTo>
                  <a:lnTo>
                    <a:pt x="3600046" y="1518798"/>
                  </a:lnTo>
                  <a:lnTo>
                    <a:pt x="3600046" y="101221"/>
                  </a:lnTo>
                  <a:lnTo>
                    <a:pt x="3592091" y="61821"/>
                  </a:lnTo>
                  <a:lnTo>
                    <a:pt x="3570399" y="29646"/>
                  </a:lnTo>
                  <a:lnTo>
                    <a:pt x="3538224" y="7954"/>
                  </a:lnTo>
                  <a:lnTo>
                    <a:pt x="3498824" y="0"/>
                  </a:lnTo>
                  <a:close/>
                </a:path>
              </a:pathLst>
            </a:custGeom>
            <a:ln w="5060">
              <a:solidFill>
                <a:srgbClr val="308C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276011" y="1972563"/>
              <a:ext cx="1044575" cy="0"/>
            </a:xfrm>
            <a:custGeom>
              <a:avLst/>
              <a:gdLst/>
              <a:ahLst/>
              <a:cxnLst/>
              <a:rect l="l" t="t" r="r" b="b"/>
              <a:pathLst>
                <a:path w="1044575">
                  <a:moveTo>
                    <a:pt x="0" y="0"/>
                  </a:moveTo>
                  <a:lnTo>
                    <a:pt x="1044010" y="0"/>
                  </a:lnTo>
                </a:path>
              </a:pathLst>
            </a:custGeom>
            <a:ln w="88569">
              <a:solidFill>
                <a:srgbClr val="64728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439986" y="1972563"/>
              <a:ext cx="1836420" cy="0"/>
            </a:xfrm>
            <a:custGeom>
              <a:avLst/>
              <a:gdLst/>
              <a:ahLst/>
              <a:cxnLst/>
              <a:rect l="l" t="t" r="r" b="b"/>
              <a:pathLst>
                <a:path w="1836420">
                  <a:moveTo>
                    <a:pt x="0" y="0"/>
                  </a:moveTo>
                  <a:lnTo>
                    <a:pt x="1836025" y="0"/>
                  </a:lnTo>
                </a:path>
              </a:pathLst>
            </a:custGeom>
            <a:ln w="88569">
              <a:solidFill>
                <a:srgbClr val="32CC8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578434" y="919733"/>
            <a:ext cx="4604385" cy="1346835"/>
          </a:xfrm>
          <a:prstGeom prst="rect">
            <a:avLst/>
          </a:prstGeom>
        </p:spPr>
        <p:txBody>
          <a:bodyPr vert="horz" wrap="square" lIns="0" tIns="129539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19"/>
              </a:spcBef>
            </a:pPr>
            <a:r>
              <a:rPr sz="1400" b="1" dirty="0">
                <a:solidFill>
                  <a:srgbClr val="F4F8FC"/>
                </a:solidFill>
                <a:latin typeface="Arial"/>
                <a:cs typeface="Arial"/>
              </a:rPr>
              <a:t>Financial</a:t>
            </a:r>
            <a:r>
              <a:rPr sz="1400" b="1" spc="180" dirty="0">
                <a:solidFill>
                  <a:srgbClr val="F4F8FC"/>
                </a:solidFill>
                <a:latin typeface="Arial"/>
                <a:cs typeface="Arial"/>
              </a:rPr>
              <a:t> </a:t>
            </a:r>
            <a:r>
              <a:rPr sz="1400" b="1" spc="-10" dirty="0">
                <a:solidFill>
                  <a:srgbClr val="F4F8FC"/>
                </a:solidFill>
                <a:latin typeface="Arial"/>
                <a:cs typeface="Arial"/>
              </a:rPr>
              <a:t>Position</a:t>
            </a:r>
            <a:endParaRPr sz="1400">
              <a:latin typeface="Arial"/>
              <a:cs typeface="Arial"/>
            </a:endParaRPr>
          </a:p>
          <a:p>
            <a:pPr marR="93345" algn="ctr">
              <a:lnSpc>
                <a:spcPct val="100000"/>
              </a:lnSpc>
              <a:spcBef>
                <a:spcPts val="670"/>
              </a:spcBef>
            </a:pPr>
            <a:r>
              <a:rPr sz="1650" spc="-75" baseline="-5050" dirty="0">
                <a:solidFill>
                  <a:srgbClr val="A5B2C5"/>
                </a:solidFill>
                <a:latin typeface="Arial MT"/>
                <a:cs typeface="Arial MT"/>
              </a:rPr>
              <a:t>Available</a:t>
            </a:r>
            <a:r>
              <a:rPr sz="1650" spc="7" baseline="-5050" dirty="0">
                <a:solidFill>
                  <a:srgbClr val="A5B2C5"/>
                </a:solidFill>
                <a:latin typeface="Arial MT"/>
                <a:cs typeface="Arial MT"/>
              </a:rPr>
              <a:t> </a:t>
            </a:r>
            <a:r>
              <a:rPr sz="1650" spc="-75" baseline="-5050" dirty="0">
                <a:solidFill>
                  <a:srgbClr val="A5B2C5"/>
                </a:solidFill>
                <a:latin typeface="Arial MT"/>
                <a:cs typeface="Arial MT"/>
              </a:rPr>
              <a:t>balance</a:t>
            </a:r>
            <a:r>
              <a:rPr sz="1100" spc="-50" dirty="0">
                <a:solidFill>
                  <a:srgbClr val="A5B2C5"/>
                </a:solidFill>
                <a:latin typeface="Arial MT"/>
                <a:cs typeface="Arial MT"/>
              </a:rPr>
              <a:t>Committed</a:t>
            </a:r>
            <a:r>
              <a:rPr sz="1100" spc="10" dirty="0">
                <a:solidFill>
                  <a:srgbClr val="A5B2C5"/>
                </a:solidFill>
                <a:latin typeface="Arial MT"/>
                <a:cs typeface="Arial MT"/>
              </a:rPr>
              <a:t> </a:t>
            </a:r>
            <a:r>
              <a:rPr sz="1100" spc="-30" dirty="0">
                <a:solidFill>
                  <a:srgbClr val="A5B2C5"/>
                </a:solidFill>
                <a:latin typeface="Arial MT"/>
                <a:cs typeface="Arial MT"/>
              </a:rPr>
              <a:t>obligations</a:t>
            </a:r>
            <a:r>
              <a:rPr sz="1100" spc="430" dirty="0">
                <a:solidFill>
                  <a:srgbClr val="A5B2C5"/>
                </a:solidFill>
                <a:latin typeface="Arial MT"/>
                <a:cs typeface="Arial MT"/>
              </a:rPr>
              <a:t> </a:t>
            </a:r>
            <a:r>
              <a:rPr sz="1100" spc="-65" dirty="0">
                <a:solidFill>
                  <a:srgbClr val="A5B2C5"/>
                </a:solidFill>
                <a:latin typeface="Arial MT"/>
                <a:cs typeface="Arial MT"/>
              </a:rPr>
              <a:t>Safe-</a:t>
            </a:r>
            <a:r>
              <a:rPr sz="1100" spc="-55" dirty="0">
                <a:solidFill>
                  <a:srgbClr val="A5B2C5"/>
                </a:solidFill>
                <a:latin typeface="Arial MT"/>
                <a:cs typeface="Arial MT"/>
              </a:rPr>
              <a:t>to-</a:t>
            </a:r>
            <a:r>
              <a:rPr sz="1100" spc="-10" dirty="0">
                <a:solidFill>
                  <a:srgbClr val="A5B2C5"/>
                </a:solidFill>
                <a:latin typeface="Arial MT"/>
                <a:cs typeface="Arial MT"/>
              </a:rPr>
              <a:t>spend</a:t>
            </a:r>
            <a:endParaRPr sz="1100">
              <a:latin typeface="Arial MT"/>
              <a:cs typeface="Arial MT"/>
            </a:endParaRPr>
          </a:p>
          <a:p>
            <a:pPr algn="ctr">
              <a:lnSpc>
                <a:spcPct val="100000"/>
              </a:lnSpc>
              <a:spcBef>
                <a:spcPts val="280"/>
              </a:spcBef>
              <a:tabLst>
                <a:tab pos="1151890" algn="l"/>
                <a:tab pos="2303780" algn="l"/>
              </a:tabLst>
            </a:pPr>
            <a:r>
              <a:rPr sz="1400" spc="-25" dirty="0">
                <a:solidFill>
                  <a:srgbClr val="27D2DC"/>
                </a:solidFill>
                <a:latin typeface="Arial MT"/>
                <a:cs typeface="Arial MT"/>
              </a:rPr>
              <a:t>50K</a:t>
            </a:r>
            <a:r>
              <a:rPr sz="1400" dirty="0">
                <a:solidFill>
                  <a:srgbClr val="27D2DC"/>
                </a:solidFill>
                <a:latin typeface="Arial MT"/>
                <a:cs typeface="Arial MT"/>
              </a:rPr>
              <a:t>	</a:t>
            </a:r>
            <a:r>
              <a:rPr sz="1400" spc="-25" dirty="0">
                <a:solidFill>
                  <a:srgbClr val="F4BE3B"/>
                </a:solidFill>
                <a:latin typeface="Arial MT"/>
                <a:cs typeface="Arial MT"/>
              </a:rPr>
              <a:t>18K</a:t>
            </a:r>
            <a:r>
              <a:rPr sz="1400" dirty="0">
                <a:solidFill>
                  <a:srgbClr val="F4BE3B"/>
                </a:solidFill>
                <a:latin typeface="Arial MT"/>
                <a:cs typeface="Arial MT"/>
              </a:rPr>
              <a:t>	</a:t>
            </a:r>
            <a:r>
              <a:rPr sz="1400" spc="-25" dirty="0">
                <a:solidFill>
                  <a:srgbClr val="32CC81"/>
                </a:solidFill>
                <a:latin typeface="Arial MT"/>
                <a:cs typeface="Arial MT"/>
              </a:rPr>
              <a:t>32K</a:t>
            </a:r>
            <a:endParaRPr sz="1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919"/>
              </a:spcBef>
            </a:pPr>
            <a:endParaRPr sz="1400">
              <a:latin typeface="Arial MT"/>
              <a:cs typeface="Arial MT"/>
            </a:endParaRPr>
          </a:p>
          <a:p>
            <a:pPr algn="ctr">
              <a:lnSpc>
                <a:spcPct val="100000"/>
              </a:lnSpc>
            </a:pPr>
            <a:r>
              <a:rPr sz="1100" spc="-35" dirty="0">
                <a:solidFill>
                  <a:srgbClr val="A5B2C5"/>
                </a:solidFill>
                <a:latin typeface="Arial MT"/>
                <a:cs typeface="Arial MT"/>
              </a:rPr>
              <a:t>Committed</a:t>
            </a:r>
            <a:r>
              <a:rPr sz="1100" spc="15" dirty="0">
                <a:solidFill>
                  <a:srgbClr val="A5B2C5"/>
                </a:solidFill>
                <a:latin typeface="Arial MT"/>
                <a:cs typeface="Arial MT"/>
              </a:rPr>
              <a:t> </a:t>
            </a:r>
            <a:r>
              <a:rPr sz="1100" spc="-45" dirty="0">
                <a:solidFill>
                  <a:srgbClr val="A5B2C5"/>
                </a:solidFill>
                <a:latin typeface="Arial MT"/>
                <a:cs typeface="Arial MT"/>
              </a:rPr>
              <a:t>obligations</a:t>
            </a:r>
            <a:r>
              <a:rPr sz="1100" spc="20" dirty="0">
                <a:solidFill>
                  <a:srgbClr val="A5B2C5"/>
                </a:solidFill>
                <a:latin typeface="Arial MT"/>
                <a:cs typeface="Arial MT"/>
              </a:rPr>
              <a:t> </a:t>
            </a:r>
            <a:r>
              <a:rPr sz="1100" spc="-65" dirty="0">
                <a:solidFill>
                  <a:srgbClr val="A5B2C5"/>
                </a:solidFill>
                <a:latin typeface="Arial MT"/>
                <a:cs typeface="Arial MT"/>
              </a:rPr>
              <a:t>are</a:t>
            </a:r>
            <a:r>
              <a:rPr sz="1100" spc="15" dirty="0">
                <a:solidFill>
                  <a:srgbClr val="A5B2C5"/>
                </a:solidFill>
                <a:latin typeface="Arial MT"/>
                <a:cs typeface="Arial MT"/>
              </a:rPr>
              <a:t> </a:t>
            </a:r>
            <a:r>
              <a:rPr sz="1100" spc="-70" dirty="0">
                <a:solidFill>
                  <a:srgbClr val="A5B2C5"/>
                </a:solidFill>
                <a:latin typeface="Arial MT"/>
                <a:cs typeface="Arial MT"/>
              </a:rPr>
              <a:t>considered</a:t>
            </a:r>
            <a:r>
              <a:rPr sz="1100" spc="20" dirty="0">
                <a:solidFill>
                  <a:srgbClr val="A5B2C5"/>
                </a:solidFill>
                <a:latin typeface="Arial MT"/>
                <a:cs typeface="Arial MT"/>
              </a:rPr>
              <a:t> </a:t>
            </a:r>
            <a:r>
              <a:rPr sz="1100" spc="-60" dirty="0">
                <a:solidFill>
                  <a:srgbClr val="A5B2C5"/>
                </a:solidFill>
                <a:latin typeface="Arial MT"/>
                <a:cs typeface="Arial MT"/>
              </a:rPr>
              <a:t>before</a:t>
            </a:r>
            <a:r>
              <a:rPr sz="1100" spc="15" dirty="0">
                <a:solidFill>
                  <a:srgbClr val="A5B2C5"/>
                </a:solidFill>
                <a:latin typeface="Arial MT"/>
                <a:cs typeface="Arial MT"/>
              </a:rPr>
              <a:t> </a:t>
            </a:r>
            <a:r>
              <a:rPr sz="1100" spc="-45" dirty="0">
                <a:solidFill>
                  <a:srgbClr val="A5B2C5"/>
                </a:solidFill>
                <a:latin typeface="Arial MT"/>
                <a:cs typeface="Arial MT"/>
              </a:rPr>
              <a:t>determining</a:t>
            </a:r>
            <a:r>
              <a:rPr sz="1100" spc="20" dirty="0">
                <a:solidFill>
                  <a:srgbClr val="A5B2C5"/>
                </a:solidFill>
                <a:latin typeface="Arial MT"/>
                <a:cs typeface="Arial MT"/>
              </a:rPr>
              <a:t> </a:t>
            </a:r>
            <a:r>
              <a:rPr sz="1100" spc="-45" dirty="0">
                <a:solidFill>
                  <a:srgbClr val="A5B2C5"/>
                </a:solidFill>
                <a:latin typeface="Arial MT"/>
                <a:cs typeface="Arial MT"/>
              </a:rPr>
              <a:t>discretionary</a:t>
            </a:r>
            <a:r>
              <a:rPr sz="1100" spc="15" dirty="0">
                <a:solidFill>
                  <a:srgbClr val="A5B2C5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A5B2C5"/>
                </a:solidFill>
                <a:latin typeface="Arial MT"/>
                <a:cs typeface="Arial MT"/>
              </a:rPr>
              <a:t>capacity.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/>
              <a:t>FinPilot</a:t>
            </a:r>
            <a:r>
              <a:rPr spc="45" dirty="0"/>
              <a:t> </a:t>
            </a:r>
            <a:r>
              <a:rPr dirty="0"/>
              <a:t>—</a:t>
            </a:r>
            <a:r>
              <a:rPr spc="50" dirty="0"/>
              <a:t> </a:t>
            </a:r>
            <a:r>
              <a:rPr dirty="0"/>
              <a:t>AI</a:t>
            </a:r>
            <a:r>
              <a:rPr spc="55" dirty="0"/>
              <a:t> </a:t>
            </a:r>
            <a:r>
              <a:rPr spc="-20" dirty="0"/>
              <a:t>Personal</a:t>
            </a:r>
            <a:r>
              <a:rPr spc="50" dirty="0"/>
              <a:t> </a:t>
            </a:r>
            <a:r>
              <a:rPr spc="-20" dirty="0"/>
              <a:t>Finance</a:t>
            </a:r>
            <a:r>
              <a:rPr spc="55" dirty="0"/>
              <a:t> </a:t>
            </a:r>
            <a:r>
              <a:rPr spc="-10" dirty="0"/>
              <a:t>Decision</a:t>
            </a:r>
            <a:r>
              <a:rPr spc="50" dirty="0"/>
              <a:t> </a:t>
            </a:r>
            <a:r>
              <a:rPr dirty="0"/>
              <a:t>Support</a:t>
            </a:r>
            <a:r>
              <a:rPr spc="45" dirty="0"/>
              <a:t> </a:t>
            </a:r>
            <a:r>
              <a:rPr spc="-10" dirty="0"/>
              <a:t>Agent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pc="-25" dirty="0"/>
              <a:t>23</a:t>
            </a:r>
          </a:p>
        </p:txBody>
      </p:sp>
    </p:spTree>
  </p:cSld>
  <p:clrMapOvr>
    <a:masterClrMapping/>
  </p:clrMapOvr>
  <p:transition>
    <p:cut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Privacy</a:t>
            </a:r>
            <a:r>
              <a:rPr spc="220" dirty="0"/>
              <a:t> </a:t>
            </a:r>
            <a:r>
              <a:rPr spc="229" dirty="0"/>
              <a:t>&amp;</a:t>
            </a:r>
            <a:r>
              <a:rPr spc="220" dirty="0"/>
              <a:t> </a:t>
            </a:r>
            <a:r>
              <a:rPr spc="-10" dirty="0"/>
              <a:t>Decision-</a:t>
            </a:r>
            <a:r>
              <a:rPr dirty="0"/>
              <a:t>Support</a:t>
            </a:r>
            <a:r>
              <a:rPr spc="220" dirty="0"/>
              <a:t> </a:t>
            </a:r>
            <a:r>
              <a:rPr spc="-10" dirty="0"/>
              <a:t>Boundary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7606" y="753211"/>
            <a:ext cx="161925" cy="184150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12153" y="717064"/>
            <a:ext cx="2080260" cy="187198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278130">
              <a:lnSpc>
                <a:spcPct val="100000"/>
              </a:lnSpc>
              <a:spcBef>
                <a:spcPts val="135"/>
              </a:spcBef>
            </a:pPr>
            <a:r>
              <a:rPr sz="1400" spc="-10" dirty="0">
                <a:solidFill>
                  <a:srgbClr val="27D2DC"/>
                </a:solidFill>
                <a:latin typeface="Arial MT"/>
                <a:cs typeface="Arial MT"/>
              </a:rPr>
              <a:t>Privacy</a:t>
            </a:r>
            <a:endParaRPr sz="1400">
              <a:latin typeface="Arial MT"/>
              <a:cs typeface="Arial MT"/>
            </a:endParaRPr>
          </a:p>
          <a:p>
            <a:pPr marL="219710" marR="201930" indent="-207645">
              <a:lnSpc>
                <a:spcPct val="102600"/>
              </a:lnSpc>
              <a:spcBef>
                <a:spcPts val="1090"/>
              </a:spcBef>
              <a:buClr>
                <a:srgbClr val="27D2DC"/>
              </a:buClr>
              <a:buSzPct val="90909"/>
              <a:buFont typeface="Lucida Sans Unicode"/>
              <a:buChar char="►"/>
              <a:tabLst>
                <a:tab pos="222250" algn="l"/>
              </a:tabLst>
            </a:pPr>
            <a:r>
              <a:rPr sz="1100" spc="-30" dirty="0">
                <a:solidFill>
                  <a:srgbClr val="F4F8FC"/>
                </a:solidFill>
                <a:latin typeface="Arial MT"/>
                <a:cs typeface="Arial MT"/>
              </a:rPr>
              <a:t>Current</a:t>
            </a:r>
            <a:r>
              <a:rPr sz="1100" dirty="0">
                <a:solidFill>
                  <a:srgbClr val="F4F8FC"/>
                </a:solidFill>
                <a:latin typeface="Arial MT"/>
                <a:cs typeface="Arial MT"/>
              </a:rPr>
              <a:t> </a:t>
            </a:r>
            <a:r>
              <a:rPr sz="1100" spc="-40" dirty="0">
                <a:solidFill>
                  <a:srgbClr val="F4F8FC"/>
                </a:solidFill>
                <a:latin typeface="Arial MT"/>
                <a:cs typeface="Arial MT"/>
              </a:rPr>
              <a:t>implementation</a:t>
            </a:r>
            <a:r>
              <a:rPr sz="1100" spc="5" dirty="0">
                <a:solidFill>
                  <a:srgbClr val="F4F8FC"/>
                </a:solidFill>
                <a:latin typeface="Arial MT"/>
                <a:cs typeface="Arial MT"/>
              </a:rPr>
              <a:t> </a:t>
            </a:r>
            <a:r>
              <a:rPr sz="1100" spc="-90" dirty="0">
                <a:solidFill>
                  <a:srgbClr val="F4F8FC"/>
                </a:solidFill>
                <a:latin typeface="Arial MT"/>
                <a:cs typeface="Arial MT"/>
              </a:rPr>
              <a:t>uses 	</a:t>
            </a:r>
            <a:r>
              <a:rPr sz="1100" spc="-50" dirty="0">
                <a:solidFill>
                  <a:srgbClr val="F4F8FC"/>
                </a:solidFill>
                <a:latin typeface="Arial MT"/>
                <a:cs typeface="Arial MT"/>
              </a:rPr>
              <a:t>in-memory</a:t>
            </a:r>
            <a:r>
              <a:rPr sz="1100" spc="25" dirty="0">
                <a:solidFill>
                  <a:srgbClr val="F4F8FC"/>
                </a:solidFill>
                <a:latin typeface="Arial MT"/>
                <a:cs typeface="Arial MT"/>
              </a:rPr>
              <a:t> </a:t>
            </a:r>
            <a:r>
              <a:rPr sz="1100" spc="-100" dirty="0">
                <a:solidFill>
                  <a:srgbClr val="F4F8FC"/>
                </a:solidFill>
                <a:latin typeface="Arial MT"/>
                <a:cs typeface="Arial MT"/>
              </a:rPr>
              <a:t>session</a:t>
            </a:r>
            <a:r>
              <a:rPr sz="1100" spc="25" dirty="0">
                <a:solidFill>
                  <a:srgbClr val="F4F8FC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F4F8FC"/>
                </a:solidFill>
                <a:latin typeface="Arial MT"/>
                <a:cs typeface="Arial MT"/>
              </a:rPr>
              <a:t>storage</a:t>
            </a:r>
            <a:endParaRPr sz="1100">
              <a:latin typeface="Arial MT"/>
              <a:cs typeface="Arial MT"/>
            </a:endParaRPr>
          </a:p>
          <a:p>
            <a:pPr marL="219710" marR="97790" indent="-207645">
              <a:lnSpc>
                <a:spcPct val="102600"/>
              </a:lnSpc>
              <a:spcBef>
                <a:spcPts val="295"/>
              </a:spcBef>
              <a:buClr>
                <a:srgbClr val="27D2DC"/>
              </a:buClr>
              <a:buSzPct val="90909"/>
              <a:buFont typeface="Lucida Sans Unicode"/>
              <a:buChar char="►"/>
              <a:tabLst>
                <a:tab pos="222250" algn="l"/>
              </a:tabLst>
            </a:pPr>
            <a:r>
              <a:rPr sz="1100" spc="-50" dirty="0">
                <a:solidFill>
                  <a:srgbClr val="F4F8FC"/>
                </a:solidFill>
                <a:latin typeface="Arial MT"/>
                <a:cs typeface="Arial MT"/>
              </a:rPr>
              <a:t>Refresh/reset</a:t>
            </a:r>
            <a:r>
              <a:rPr sz="1100" spc="35" dirty="0">
                <a:solidFill>
                  <a:srgbClr val="F4F8FC"/>
                </a:solidFill>
                <a:latin typeface="Arial MT"/>
                <a:cs typeface="Arial MT"/>
              </a:rPr>
              <a:t> </a:t>
            </a:r>
            <a:r>
              <a:rPr sz="1100" spc="-75" dirty="0">
                <a:solidFill>
                  <a:srgbClr val="F4F8FC"/>
                </a:solidFill>
                <a:latin typeface="Arial MT"/>
                <a:cs typeface="Arial MT"/>
              </a:rPr>
              <a:t>clears</a:t>
            </a:r>
            <a:r>
              <a:rPr sz="1100" spc="40" dirty="0">
                <a:solidFill>
                  <a:srgbClr val="F4F8FC"/>
                </a:solidFill>
                <a:latin typeface="Arial MT"/>
                <a:cs typeface="Arial MT"/>
              </a:rPr>
              <a:t> </a:t>
            </a:r>
            <a:r>
              <a:rPr sz="1100" spc="-35" dirty="0">
                <a:solidFill>
                  <a:srgbClr val="F4F8FC"/>
                </a:solidFill>
                <a:latin typeface="Arial MT"/>
                <a:cs typeface="Arial MT"/>
              </a:rPr>
              <a:t>temporary 	</a:t>
            </a:r>
            <a:r>
              <a:rPr sz="1100" spc="-100" dirty="0">
                <a:solidFill>
                  <a:srgbClr val="F4F8FC"/>
                </a:solidFill>
                <a:latin typeface="Arial MT"/>
                <a:cs typeface="Arial MT"/>
              </a:rPr>
              <a:t>session</a:t>
            </a:r>
            <a:r>
              <a:rPr sz="1100" spc="50" dirty="0">
                <a:solidFill>
                  <a:srgbClr val="F4F8FC"/>
                </a:solidFill>
                <a:latin typeface="Arial MT"/>
                <a:cs typeface="Arial MT"/>
              </a:rPr>
              <a:t> </a:t>
            </a:r>
            <a:r>
              <a:rPr sz="1100" spc="-20" dirty="0">
                <a:solidFill>
                  <a:srgbClr val="F4F8FC"/>
                </a:solidFill>
                <a:latin typeface="Arial MT"/>
                <a:cs typeface="Arial MT"/>
              </a:rPr>
              <a:t>data</a:t>
            </a:r>
            <a:endParaRPr sz="1100">
              <a:latin typeface="Arial MT"/>
              <a:cs typeface="Arial MT"/>
            </a:endParaRPr>
          </a:p>
          <a:p>
            <a:pPr marL="219710" marR="27305" indent="-207645">
              <a:lnSpc>
                <a:spcPct val="102600"/>
              </a:lnSpc>
              <a:spcBef>
                <a:spcPts val="300"/>
              </a:spcBef>
              <a:buClr>
                <a:srgbClr val="27D2DC"/>
              </a:buClr>
              <a:buSzPct val="90909"/>
              <a:buFont typeface="Lucida Sans Unicode"/>
              <a:buChar char="►"/>
              <a:tabLst>
                <a:tab pos="222250" algn="l"/>
              </a:tabLst>
            </a:pPr>
            <a:r>
              <a:rPr sz="1100" spc="-35" dirty="0">
                <a:solidFill>
                  <a:srgbClr val="F4F8FC"/>
                </a:solidFill>
                <a:latin typeface="Arial MT"/>
                <a:cs typeface="Arial MT"/>
              </a:rPr>
              <a:t>Privacy </a:t>
            </a:r>
            <a:r>
              <a:rPr sz="1100" spc="-60" dirty="0">
                <a:solidFill>
                  <a:srgbClr val="F4F8FC"/>
                </a:solidFill>
                <a:latin typeface="Arial MT"/>
                <a:cs typeface="Arial MT"/>
              </a:rPr>
              <a:t>masking</a:t>
            </a:r>
            <a:r>
              <a:rPr sz="1100" spc="-15" dirty="0">
                <a:solidFill>
                  <a:srgbClr val="F4F8FC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F4F8FC"/>
                </a:solidFill>
                <a:latin typeface="Arial MT"/>
                <a:cs typeface="Arial MT"/>
              </a:rPr>
              <a:t>is</a:t>
            </a:r>
            <a:r>
              <a:rPr sz="1100" spc="-25" dirty="0">
                <a:solidFill>
                  <a:srgbClr val="F4F8FC"/>
                </a:solidFill>
                <a:latin typeface="Arial MT"/>
                <a:cs typeface="Arial MT"/>
              </a:rPr>
              <a:t> </a:t>
            </a:r>
            <a:r>
              <a:rPr sz="1100" spc="-50" dirty="0">
                <a:solidFill>
                  <a:srgbClr val="F4F8FC"/>
                </a:solidFill>
                <a:latin typeface="Arial MT"/>
                <a:cs typeface="Arial MT"/>
              </a:rPr>
              <a:t>supported</a:t>
            </a:r>
            <a:r>
              <a:rPr sz="1100" spc="-25" dirty="0">
                <a:solidFill>
                  <a:srgbClr val="F4F8FC"/>
                </a:solidFill>
                <a:latin typeface="Arial MT"/>
                <a:cs typeface="Arial MT"/>
              </a:rPr>
              <a:t> in 	</a:t>
            </a:r>
            <a:r>
              <a:rPr sz="1100" spc="-35" dirty="0">
                <a:solidFill>
                  <a:srgbClr val="F4F8FC"/>
                </a:solidFill>
                <a:latin typeface="Arial MT"/>
                <a:cs typeface="Arial MT"/>
              </a:rPr>
              <a:t>transaction</a:t>
            </a:r>
            <a:r>
              <a:rPr sz="1100" spc="10" dirty="0">
                <a:solidFill>
                  <a:srgbClr val="F4F8FC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F4F8FC"/>
                </a:solidFill>
                <a:latin typeface="Arial MT"/>
                <a:cs typeface="Arial MT"/>
              </a:rPr>
              <a:t>views</a:t>
            </a:r>
            <a:endParaRPr sz="1100">
              <a:latin typeface="Arial MT"/>
              <a:cs typeface="Arial MT"/>
            </a:endParaRPr>
          </a:p>
          <a:p>
            <a:pPr marL="219710" marR="5080" indent="-207645">
              <a:lnSpc>
                <a:spcPct val="102699"/>
              </a:lnSpc>
              <a:spcBef>
                <a:spcPts val="300"/>
              </a:spcBef>
              <a:buClr>
                <a:srgbClr val="27D2DC"/>
              </a:buClr>
              <a:buSzPct val="90909"/>
              <a:buFont typeface="Lucida Sans Unicode"/>
              <a:buChar char="►"/>
              <a:tabLst>
                <a:tab pos="222250" algn="l"/>
              </a:tabLst>
            </a:pPr>
            <a:r>
              <a:rPr sz="1100" spc="-30" dirty="0">
                <a:solidFill>
                  <a:srgbClr val="F4F8FC"/>
                </a:solidFill>
                <a:latin typeface="Arial MT"/>
                <a:cs typeface="Arial MT"/>
              </a:rPr>
              <a:t>Public</a:t>
            </a:r>
            <a:r>
              <a:rPr sz="1100" spc="-5" dirty="0">
                <a:solidFill>
                  <a:srgbClr val="F4F8FC"/>
                </a:solidFill>
                <a:latin typeface="Arial MT"/>
                <a:cs typeface="Arial MT"/>
              </a:rPr>
              <a:t> </a:t>
            </a:r>
            <a:r>
              <a:rPr sz="1100" spc="-90" dirty="0">
                <a:solidFill>
                  <a:srgbClr val="F4F8FC"/>
                </a:solidFill>
                <a:latin typeface="Arial MT"/>
                <a:cs typeface="Arial MT"/>
              </a:rPr>
              <a:t>demos</a:t>
            </a:r>
            <a:r>
              <a:rPr sz="1100" spc="20" dirty="0">
                <a:solidFill>
                  <a:srgbClr val="F4F8FC"/>
                </a:solidFill>
                <a:latin typeface="Arial MT"/>
                <a:cs typeface="Arial MT"/>
              </a:rPr>
              <a:t> </a:t>
            </a:r>
            <a:r>
              <a:rPr sz="1100" spc="-65" dirty="0">
                <a:solidFill>
                  <a:srgbClr val="F4F8FC"/>
                </a:solidFill>
                <a:latin typeface="Arial MT"/>
                <a:cs typeface="Arial MT"/>
              </a:rPr>
              <a:t>should</a:t>
            </a:r>
            <a:r>
              <a:rPr sz="1100" spc="15" dirty="0">
                <a:solidFill>
                  <a:srgbClr val="F4F8FC"/>
                </a:solidFill>
                <a:latin typeface="Arial MT"/>
                <a:cs typeface="Arial MT"/>
              </a:rPr>
              <a:t> </a:t>
            </a:r>
            <a:r>
              <a:rPr sz="1100" spc="-114" dirty="0">
                <a:solidFill>
                  <a:srgbClr val="F4F8FC"/>
                </a:solidFill>
                <a:latin typeface="Arial MT"/>
                <a:cs typeface="Arial MT"/>
              </a:rPr>
              <a:t>use</a:t>
            </a:r>
            <a:r>
              <a:rPr sz="1100" spc="40" dirty="0">
                <a:solidFill>
                  <a:srgbClr val="F4F8FC"/>
                </a:solidFill>
                <a:latin typeface="Arial MT"/>
                <a:cs typeface="Arial MT"/>
              </a:rPr>
              <a:t> </a:t>
            </a:r>
            <a:r>
              <a:rPr sz="1100" spc="-55" dirty="0">
                <a:solidFill>
                  <a:srgbClr val="F4F8FC"/>
                </a:solidFill>
                <a:latin typeface="Arial MT"/>
                <a:cs typeface="Arial MT"/>
              </a:rPr>
              <a:t>sample 	</a:t>
            </a:r>
            <a:r>
              <a:rPr sz="1100" spc="-20" dirty="0">
                <a:solidFill>
                  <a:srgbClr val="F4F8FC"/>
                </a:solidFill>
                <a:latin typeface="Arial MT"/>
                <a:cs typeface="Arial MT"/>
              </a:rPr>
              <a:t>data</a:t>
            </a:r>
            <a:endParaRPr sz="1100">
              <a:latin typeface="Arial MT"/>
              <a:cs typeface="Arial MT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980029" y="786599"/>
            <a:ext cx="231775" cy="187325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2970504" y="753628"/>
            <a:ext cx="1920239" cy="177228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414020">
              <a:lnSpc>
                <a:spcPct val="100000"/>
              </a:lnSpc>
              <a:spcBef>
                <a:spcPts val="135"/>
              </a:spcBef>
            </a:pPr>
            <a:r>
              <a:rPr sz="1400" spc="-75" dirty="0">
                <a:solidFill>
                  <a:srgbClr val="F4BE3B"/>
                </a:solidFill>
                <a:latin typeface="Arial MT"/>
                <a:cs typeface="Arial MT"/>
              </a:rPr>
              <a:t>Decision</a:t>
            </a:r>
            <a:r>
              <a:rPr sz="1400" spc="-15" dirty="0">
                <a:solidFill>
                  <a:srgbClr val="F4BE3B"/>
                </a:solidFill>
                <a:latin typeface="Arial MT"/>
                <a:cs typeface="Arial MT"/>
              </a:rPr>
              <a:t> </a:t>
            </a:r>
            <a:r>
              <a:rPr sz="1400" spc="-10" dirty="0">
                <a:solidFill>
                  <a:srgbClr val="F4BE3B"/>
                </a:solidFill>
                <a:latin typeface="Arial MT"/>
                <a:cs typeface="Arial MT"/>
              </a:rPr>
              <a:t>Support</a:t>
            </a:r>
            <a:endParaRPr sz="1400">
              <a:latin typeface="Arial MT"/>
              <a:cs typeface="Arial MT"/>
            </a:endParaRPr>
          </a:p>
          <a:p>
            <a:pPr marL="12700" marR="5080">
              <a:lnSpc>
                <a:spcPct val="102600"/>
              </a:lnSpc>
              <a:spcBef>
                <a:spcPts val="790"/>
              </a:spcBef>
            </a:pPr>
            <a:r>
              <a:rPr sz="1100" spc="-10" dirty="0">
                <a:solidFill>
                  <a:srgbClr val="F4F8FC"/>
                </a:solidFill>
                <a:latin typeface="Arial MT"/>
                <a:cs typeface="Arial MT"/>
              </a:rPr>
              <a:t>FinPilot</a:t>
            </a:r>
            <a:r>
              <a:rPr sz="1100" spc="5" dirty="0">
                <a:solidFill>
                  <a:srgbClr val="F4F8FC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F4F8FC"/>
                </a:solidFill>
                <a:latin typeface="Arial MT"/>
                <a:cs typeface="Arial MT"/>
              </a:rPr>
              <a:t>is</a:t>
            </a:r>
            <a:r>
              <a:rPr sz="1100" spc="10" dirty="0">
                <a:solidFill>
                  <a:srgbClr val="F4F8FC"/>
                </a:solidFill>
                <a:latin typeface="Arial MT"/>
                <a:cs typeface="Arial MT"/>
              </a:rPr>
              <a:t> </a:t>
            </a:r>
            <a:r>
              <a:rPr sz="1100" spc="-85" dirty="0">
                <a:solidFill>
                  <a:srgbClr val="F4F8FC"/>
                </a:solidFill>
                <a:latin typeface="Arial MT"/>
                <a:cs typeface="Arial MT"/>
              </a:rPr>
              <a:t>designed</a:t>
            </a:r>
            <a:r>
              <a:rPr sz="1100" spc="10" dirty="0">
                <a:solidFill>
                  <a:srgbClr val="F4F8FC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F4F8FC"/>
                </a:solidFill>
                <a:latin typeface="Arial MT"/>
                <a:cs typeface="Arial MT"/>
              </a:rPr>
              <a:t>to</a:t>
            </a:r>
            <a:r>
              <a:rPr sz="1100" spc="10" dirty="0">
                <a:solidFill>
                  <a:srgbClr val="F4F8FC"/>
                </a:solidFill>
                <a:latin typeface="Arial MT"/>
                <a:cs typeface="Arial MT"/>
              </a:rPr>
              <a:t> </a:t>
            </a:r>
            <a:r>
              <a:rPr sz="1100" spc="-55" dirty="0">
                <a:solidFill>
                  <a:srgbClr val="F4F8FC"/>
                </a:solidFill>
                <a:latin typeface="Arial MT"/>
                <a:cs typeface="Arial MT"/>
              </a:rPr>
              <a:t>help</a:t>
            </a:r>
            <a:r>
              <a:rPr sz="1100" spc="10" dirty="0">
                <a:solidFill>
                  <a:srgbClr val="F4F8FC"/>
                </a:solidFill>
                <a:latin typeface="Arial MT"/>
                <a:cs typeface="Arial MT"/>
              </a:rPr>
              <a:t> </a:t>
            </a:r>
            <a:r>
              <a:rPr sz="1100" spc="-70" dirty="0">
                <a:solidFill>
                  <a:srgbClr val="F4F8FC"/>
                </a:solidFill>
                <a:latin typeface="Arial MT"/>
                <a:cs typeface="Arial MT"/>
              </a:rPr>
              <a:t>users </a:t>
            </a:r>
            <a:r>
              <a:rPr sz="1100" spc="-55" dirty="0">
                <a:solidFill>
                  <a:srgbClr val="F4F8FC"/>
                </a:solidFill>
                <a:latin typeface="Arial MT"/>
                <a:cs typeface="Arial MT"/>
              </a:rPr>
              <a:t>understand</a:t>
            </a:r>
            <a:r>
              <a:rPr sz="1100" spc="5" dirty="0">
                <a:solidFill>
                  <a:srgbClr val="F4F8FC"/>
                </a:solidFill>
                <a:latin typeface="Arial MT"/>
                <a:cs typeface="Arial MT"/>
              </a:rPr>
              <a:t> </a:t>
            </a:r>
            <a:r>
              <a:rPr sz="1100" spc="-35" dirty="0">
                <a:solidFill>
                  <a:srgbClr val="F4F8FC"/>
                </a:solidFill>
                <a:latin typeface="Arial MT"/>
                <a:cs typeface="Arial MT"/>
              </a:rPr>
              <a:t>financial</a:t>
            </a:r>
            <a:r>
              <a:rPr sz="1100" spc="10" dirty="0">
                <a:solidFill>
                  <a:srgbClr val="F4F8FC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F4F8FC"/>
                </a:solidFill>
                <a:latin typeface="Arial MT"/>
                <a:cs typeface="Arial MT"/>
              </a:rPr>
              <a:t>data.</a:t>
            </a:r>
            <a:endParaRPr sz="11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1100" dirty="0">
                <a:solidFill>
                  <a:srgbClr val="F4F8FC"/>
                </a:solidFill>
                <a:latin typeface="Arial MT"/>
                <a:cs typeface="Arial MT"/>
              </a:rPr>
              <a:t>It</a:t>
            </a:r>
            <a:r>
              <a:rPr sz="1100" spc="20" dirty="0">
                <a:solidFill>
                  <a:srgbClr val="F4F8FC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F4F8FC"/>
                </a:solidFill>
                <a:latin typeface="Arial MT"/>
                <a:cs typeface="Arial MT"/>
              </a:rPr>
              <a:t>is</a:t>
            </a:r>
            <a:r>
              <a:rPr sz="1100" spc="25" dirty="0">
                <a:solidFill>
                  <a:srgbClr val="F4F8FC"/>
                </a:solidFill>
                <a:latin typeface="Arial MT"/>
                <a:cs typeface="Arial MT"/>
              </a:rPr>
              <a:t> </a:t>
            </a:r>
            <a:r>
              <a:rPr sz="1100" b="1" dirty="0">
                <a:solidFill>
                  <a:srgbClr val="F4F8FC"/>
                </a:solidFill>
                <a:latin typeface="Arial"/>
                <a:cs typeface="Arial"/>
              </a:rPr>
              <a:t>not</a:t>
            </a:r>
            <a:r>
              <a:rPr sz="1100" b="1" spc="25" dirty="0">
                <a:solidFill>
                  <a:srgbClr val="F4F8FC"/>
                </a:solidFill>
                <a:latin typeface="Arial"/>
                <a:cs typeface="Arial"/>
              </a:rPr>
              <a:t> </a:t>
            </a:r>
            <a:r>
              <a:rPr sz="1100" spc="-50" dirty="0">
                <a:solidFill>
                  <a:srgbClr val="F4F8FC"/>
                </a:solidFill>
                <a:latin typeface="Arial MT"/>
                <a:cs typeface="Arial MT"/>
              </a:rPr>
              <a:t>intended</a:t>
            </a:r>
            <a:r>
              <a:rPr sz="1100" spc="20" dirty="0">
                <a:solidFill>
                  <a:srgbClr val="F4F8FC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F4F8FC"/>
                </a:solidFill>
                <a:latin typeface="Arial MT"/>
                <a:cs typeface="Arial MT"/>
              </a:rPr>
              <a:t>to</a:t>
            </a:r>
            <a:r>
              <a:rPr sz="1100" spc="25" dirty="0">
                <a:solidFill>
                  <a:srgbClr val="F4F8FC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F4F8FC"/>
                </a:solidFill>
                <a:latin typeface="Arial MT"/>
                <a:cs typeface="Arial MT"/>
              </a:rPr>
              <a:t>provide:</a:t>
            </a:r>
            <a:endParaRPr sz="1100">
              <a:latin typeface="Arial MT"/>
              <a:cs typeface="Arial MT"/>
            </a:endParaRPr>
          </a:p>
          <a:p>
            <a:pPr marL="287020" indent="-207645">
              <a:lnSpc>
                <a:spcPct val="100000"/>
              </a:lnSpc>
              <a:spcBef>
                <a:spcPts val="335"/>
              </a:spcBef>
              <a:buClr>
                <a:srgbClr val="27D2DC"/>
              </a:buClr>
              <a:buSzPct val="90909"/>
              <a:buFont typeface="Lucida Sans Unicode"/>
              <a:buChar char="►"/>
              <a:tabLst>
                <a:tab pos="287020" algn="l"/>
              </a:tabLst>
            </a:pPr>
            <a:r>
              <a:rPr sz="1100" spc="-35" dirty="0">
                <a:solidFill>
                  <a:srgbClr val="F4F8FC"/>
                </a:solidFill>
                <a:latin typeface="Arial MT"/>
                <a:cs typeface="Arial MT"/>
              </a:rPr>
              <a:t>Certified</a:t>
            </a:r>
            <a:r>
              <a:rPr sz="1100" dirty="0">
                <a:solidFill>
                  <a:srgbClr val="F4F8FC"/>
                </a:solidFill>
                <a:latin typeface="Arial MT"/>
                <a:cs typeface="Arial MT"/>
              </a:rPr>
              <a:t> </a:t>
            </a:r>
            <a:r>
              <a:rPr sz="1100" spc="-35" dirty="0">
                <a:solidFill>
                  <a:srgbClr val="F4F8FC"/>
                </a:solidFill>
                <a:latin typeface="Arial MT"/>
                <a:cs typeface="Arial MT"/>
              </a:rPr>
              <a:t>financial</a:t>
            </a:r>
            <a:r>
              <a:rPr sz="1100" spc="5" dirty="0">
                <a:solidFill>
                  <a:srgbClr val="F4F8FC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F4F8FC"/>
                </a:solidFill>
                <a:latin typeface="Arial MT"/>
                <a:cs typeface="Arial MT"/>
              </a:rPr>
              <a:t>advice</a:t>
            </a:r>
            <a:endParaRPr sz="1100">
              <a:latin typeface="Arial MT"/>
              <a:cs typeface="Arial MT"/>
            </a:endParaRPr>
          </a:p>
          <a:p>
            <a:pPr marL="287020" indent="-207645">
              <a:lnSpc>
                <a:spcPct val="100000"/>
              </a:lnSpc>
              <a:spcBef>
                <a:spcPts val="335"/>
              </a:spcBef>
              <a:buClr>
                <a:srgbClr val="27D2DC"/>
              </a:buClr>
              <a:buSzPct val="90909"/>
              <a:buFont typeface="Lucida Sans Unicode"/>
              <a:buChar char="►"/>
              <a:tabLst>
                <a:tab pos="287020" algn="l"/>
              </a:tabLst>
            </a:pPr>
            <a:r>
              <a:rPr sz="1100" spc="-50" dirty="0">
                <a:solidFill>
                  <a:srgbClr val="F4F8FC"/>
                </a:solidFill>
                <a:latin typeface="Arial MT"/>
                <a:cs typeface="Arial MT"/>
              </a:rPr>
              <a:t>Investment</a:t>
            </a:r>
            <a:r>
              <a:rPr sz="1100" spc="25" dirty="0">
                <a:solidFill>
                  <a:srgbClr val="F4F8FC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F4F8FC"/>
                </a:solidFill>
                <a:latin typeface="Arial MT"/>
                <a:cs typeface="Arial MT"/>
              </a:rPr>
              <a:t>advice</a:t>
            </a:r>
            <a:endParaRPr sz="1100">
              <a:latin typeface="Arial MT"/>
              <a:cs typeface="Arial MT"/>
            </a:endParaRPr>
          </a:p>
          <a:p>
            <a:pPr marL="287020" indent="-207645">
              <a:lnSpc>
                <a:spcPct val="100000"/>
              </a:lnSpc>
              <a:spcBef>
                <a:spcPts val="330"/>
              </a:spcBef>
              <a:buClr>
                <a:srgbClr val="27D2DC"/>
              </a:buClr>
              <a:buSzPct val="90909"/>
              <a:buFont typeface="Lucida Sans Unicode"/>
              <a:buChar char="►"/>
              <a:tabLst>
                <a:tab pos="287020" algn="l"/>
              </a:tabLst>
            </a:pPr>
            <a:r>
              <a:rPr sz="1100" spc="-40" dirty="0">
                <a:solidFill>
                  <a:srgbClr val="F4F8FC"/>
                </a:solidFill>
                <a:latin typeface="Arial MT"/>
                <a:cs typeface="Arial MT"/>
              </a:rPr>
              <a:t>Accounting</a:t>
            </a:r>
            <a:r>
              <a:rPr sz="1100" spc="-15" dirty="0">
                <a:solidFill>
                  <a:srgbClr val="F4F8FC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F4F8FC"/>
                </a:solidFill>
                <a:latin typeface="Arial MT"/>
                <a:cs typeface="Arial MT"/>
              </a:rPr>
              <a:t>advice</a:t>
            </a:r>
            <a:endParaRPr sz="1100">
              <a:latin typeface="Arial MT"/>
              <a:cs typeface="Arial MT"/>
            </a:endParaRPr>
          </a:p>
          <a:p>
            <a:pPr marL="287020" indent="-207645">
              <a:lnSpc>
                <a:spcPct val="100000"/>
              </a:lnSpc>
              <a:spcBef>
                <a:spcPts val="335"/>
              </a:spcBef>
              <a:buClr>
                <a:srgbClr val="27D2DC"/>
              </a:buClr>
              <a:buSzPct val="90909"/>
              <a:buFont typeface="Lucida Sans Unicode"/>
              <a:buChar char="►"/>
              <a:tabLst>
                <a:tab pos="287020" algn="l"/>
              </a:tabLst>
            </a:pPr>
            <a:r>
              <a:rPr sz="1100" spc="-60" dirty="0">
                <a:solidFill>
                  <a:srgbClr val="F4F8FC"/>
                </a:solidFill>
                <a:latin typeface="Arial MT"/>
                <a:cs typeface="Arial MT"/>
              </a:rPr>
              <a:t>Legal</a:t>
            </a:r>
            <a:r>
              <a:rPr sz="1100" spc="-15" dirty="0">
                <a:solidFill>
                  <a:srgbClr val="F4F8FC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F4F8FC"/>
                </a:solidFill>
                <a:latin typeface="Arial MT"/>
                <a:cs typeface="Arial MT"/>
              </a:rPr>
              <a:t>or</a:t>
            </a:r>
            <a:r>
              <a:rPr sz="1100" spc="-15" dirty="0">
                <a:solidFill>
                  <a:srgbClr val="F4F8FC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F4F8FC"/>
                </a:solidFill>
                <a:latin typeface="Arial MT"/>
                <a:cs typeface="Arial MT"/>
              </a:rPr>
              <a:t>tax</a:t>
            </a:r>
            <a:r>
              <a:rPr sz="1100" spc="-15" dirty="0">
                <a:solidFill>
                  <a:srgbClr val="F4F8FC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F4F8FC"/>
                </a:solidFill>
                <a:latin typeface="Arial MT"/>
                <a:cs typeface="Arial MT"/>
              </a:rPr>
              <a:t>advice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/>
              <a:t>FinPilot</a:t>
            </a:r>
            <a:r>
              <a:rPr spc="45" dirty="0"/>
              <a:t> </a:t>
            </a:r>
            <a:r>
              <a:rPr dirty="0"/>
              <a:t>—</a:t>
            </a:r>
            <a:r>
              <a:rPr spc="50" dirty="0"/>
              <a:t> </a:t>
            </a:r>
            <a:r>
              <a:rPr dirty="0"/>
              <a:t>AI</a:t>
            </a:r>
            <a:r>
              <a:rPr spc="55" dirty="0"/>
              <a:t> </a:t>
            </a:r>
            <a:r>
              <a:rPr spc="-20" dirty="0"/>
              <a:t>Personal</a:t>
            </a:r>
            <a:r>
              <a:rPr spc="50" dirty="0"/>
              <a:t> </a:t>
            </a:r>
            <a:r>
              <a:rPr spc="-20" dirty="0"/>
              <a:t>Finance</a:t>
            </a:r>
            <a:r>
              <a:rPr spc="55" dirty="0"/>
              <a:t> </a:t>
            </a:r>
            <a:r>
              <a:rPr spc="-10" dirty="0"/>
              <a:t>Decision</a:t>
            </a:r>
            <a:r>
              <a:rPr spc="50" dirty="0"/>
              <a:t> </a:t>
            </a:r>
            <a:r>
              <a:rPr dirty="0"/>
              <a:t>Support</a:t>
            </a:r>
            <a:r>
              <a:rPr spc="45" dirty="0"/>
              <a:t> </a:t>
            </a:r>
            <a:r>
              <a:rPr spc="-10" dirty="0"/>
              <a:t>Agent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pc="-25" dirty="0"/>
              <a:t>24</a:t>
            </a:r>
          </a:p>
        </p:txBody>
      </p:sp>
    </p:spTree>
  </p:cSld>
  <p:clrMapOvr>
    <a:masterClrMapping/>
  </p:clrMapOvr>
  <p:transition>
    <p:cut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Technology</a:t>
            </a:r>
            <a:r>
              <a:rPr spc="65" dirty="0"/>
              <a:t> </a:t>
            </a:r>
            <a:r>
              <a:rPr spc="-10" dirty="0"/>
              <a:t>Stack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45387" y="558417"/>
            <a:ext cx="1177925" cy="12414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b="1" spc="-10" dirty="0">
                <a:solidFill>
                  <a:srgbClr val="27D2DC"/>
                </a:solidFill>
                <a:latin typeface="Arial"/>
                <a:cs typeface="Arial"/>
              </a:rPr>
              <a:t>Frontend</a:t>
            </a:r>
            <a:endParaRPr sz="1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985"/>
              </a:spcBef>
            </a:pPr>
            <a:r>
              <a:rPr sz="1100" b="1" spc="-10" dirty="0">
                <a:solidFill>
                  <a:srgbClr val="27D2DC"/>
                </a:solidFill>
                <a:latin typeface="Arial"/>
                <a:cs typeface="Arial"/>
              </a:rPr>
              <a:t>Language</a:t>
            </a:r>
            <a:endParaRPr sz="1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980"/>
              </a:spcBef>
            </a:pPr>
            <a:r>
              <a:rPr sz="1100" b="1" dirty="0">
                <a:solidFill>
                  <a:srgbClr val="27D2DC"/>
                </a:solidFill>
                <a:latin typeface="Arial"/>
                <a:cs typeface="Arial"/>
              </a:rPr>
              <a:t>Data</a:t>
            </a:r>
            <a:r>
              <a:rPr sz="1100" b="1" spc="140" dirty="0">
                <a:solidFill>
                  <a:srgbClr val="27D2DC"/>
                </a:solidFill>
                <a:latin typeface="Arial"/>
                <a:cs typeface="Arial"/>
              </a:rPr>
              <a:t> </a:t>
            </a:r>
            <a:r>
              <a:rPr sz="1100" b="1" spc="-10" dirty="0">
                <a:solidFill>
                  <a:srgbClr val="27D2DC"/>
                </a:solidFill>
                <a:latin typeface="Arial"/>
                <a:cs typeface="Arial"/>
              </a:rPr>
              <a:t>Processing</a:t>
            </a:r>
            <a:endParaRPr sz="1100">
              <a:latin typeface="Arial"/>
              <a:cs typeface="Arial"/>
            </a:endParaRPr>
          </a:p>
          <a:p>
            <a:pPr marL="12700" marR="5080">
              <a:lnSpc>
                <a:spcPct val="102600"/>
              </a:lnSpc>
              <a:spcBef>
                <a:spcPts val="950"/>
              </a:spcBef>
              <a:tabLst>
                <a:tab pos="841375" algn="l"/>
              </a:tabLst>
            </a:pPr>
            <a:r>
              <a:rPr sz="1100" b="1" spc="-10" dirty="0">
                <a:solidFill>
                  <a:srgbClr val="27D2DC"/>
                </a:solidFill>
                <a:latin typeface="Arial"/>
                <a:cs typeface="Arial"/>
              </a:rPr>
              <a:t>Document</a:t>
            </a:r>
            <a:r>
              <a:rPr sz="1100" b="1" dirty="0">
                <a:solidFill>
                  <a:srgbClr val="27D2DC"/>
                </a:solidFill>
                <a:latin typeface="Arial"/>
                <a:cs typeface="Arial"/>
              </a:rPr>
              <a:t>	</a:t>
            </a:r>
            <a:r>
              <a:rPr sz="1100" b="1" spc="-45" dirty="0">
                <a:solidFill>
                  <a:srgbClr val="27D2DC"/>
                </a:solidFill>
                <a:latin typeface="Arial"/>
                <a:cs typeface="Arial"/>
              </a:rPr>
              <a:t>Pars-</a:t>
            </a:r>
            <a:r>
              <a:rPr sz="1100" b="1" spc="-25" dirty="0">
                <a:solidFill>
                  <a:srgbClr val="27D2DC"/>
                </a:solidFill>
                <a:latin typeface="Arial"/>
                <a:cs typeface="Arial"/>
              </a:rPr>
              <a:t>ing</a:t>
            </a:r>
            <a:endParaRPr sz="11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349220" y="437970"/>
            <a:ext cx="2044064" cy="106934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10" dirty="0">
                <a:solidFill>
                  <a:srgbClr val="F4F8FC"/>
                </a:solidFill>
                <a:latin typeface="Arial MT"/>
                <a:cs typeface="Arial MT"/>
              </a:rPr>
              <a:t>Streamlit</a:t>
            </a:r>
            <a:endParaRPr sz="11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985"/>
              </a:spcBef>
            </a:pPr>
            <a:r>
              <a:rPr sz="1100" spc="-10" dirty="0">
                <a:solidFill>
                  <a:srgbClr val="F4F8FC"/>
                </a:solidFill>
                <a:latin typeface="Arial MT"/>
                <a:cs typeface="Arial MT"/>
              </a:rPr>
              <a:t>Python</a:t>
            </a:r>
            <a:endParaRPr sz="1100">
              <a:latin typeface="Arial MT"/>
              <a:cs typeface="Arial MT"/>
            </a:endParaRPr>
          </a:p>
          <a:p>
            <a:pPr marL="12700" marR="5080">
              <a:lnSpc>
                <a:spcPct val="174500"/>
              </a:lnSpc>
            </a:pPr>
            <a:r>
              <a:rPr sz="1100" spc="-90" dirty="0">
                <a:solidFill>
                  <a:srgbClr val="F4F8FC"/>
                </a:solidFill>
                <a:latin typeface="Arial MT"/>
                <a:cs typeface="Arial MT"/>
              </a:rPr>
              <a:t>Pandas</a:t>
            </a:r>
            <a:r>
              <a:rPr sz="1100" spc="15" dirty="0">
                <a:solidFill>
                  <a:srgbClr val="F4F8FC"/>
                </a:solidFill>
                <a:latin typeface="Arial MT"/>
                <a:cs typeface="Arial MT"/>
              </a:rPr>
              <a:t> </a:t>
            </a:r>
            <a:r>
              <a:rPr sz="1100" spc="240" dirty="0">
                <a:solidFill>
                  <a:srgbClr val="F4F8FC"/>
                </a:solidFill>
                <a:latin typeface="Arial MT"/>
                <a:cs typeface="Arial MT"/>
              </a:rPr>
              <a:t>/</a:t>
            </a:r>
            <a:r>
              <a:rPr sz="1100" spc="10" dirty="0">
                <a:solidFill>
                  <a:srgbClr val="F4F8FC"/>
                </a:solidFill>
                <a:latin typeface="Arial MT"/>
                <a:cs typeface="Arial MT"/>
              </a:rPr>
              <a:t> </a:t>
            </a:r>
            <a:r>
              <a:rPr sz="1100" spc="-45" dirty="0">
                <a:solidFill>
                  <a:srgbClr val="F4F8FC"/>
                </a:solidFill>
                <a:latin typeface="Arial MT"/>
                <a:cs typeface="Arial MT"/>
              </a:rPr>
              <a:t>custom</a:t>
            </a:r>
            <a:r>
              <a:rPr sz="1100" spc="15" dirty="0">
                <a:solidFill>
                  <a:srgbClr val="F4F8FC"/>
                </a:solidFill>
                <a:latin typeface="Arial MT"/>
                <a:cs typeface="Arial MT"/>
              </a:rPr>
              <a:t> </a:t>
            </a:r>
            <a:r>
              <a:rPr sz="1100" spc="-45" dirty="0">
                <a:solidFill>
                  <a:srgbClr val="F4F8FC"/>
                </a:solidFill>
                <a:latin typeface="Arial MT"/>
                <a:cs typeface="Arial MT"/>
              </a:rPr>
              <a:t>ingestion</a:t>
            </a:r>
            <a:r>
              <a:rPr sz="1100" spc="10" dirty="0">
                <a:solidFill>
                  <a:srgbClr val="F4F8FC"/>
                </a:solidFill>
                <a:latin typeface="Arial MT"/>
                <a:cs typeface="Arial MT"/>
              </a:rPr>
              <a:t> </a:t>
            </a:r>
            <a:r>
              <a:rPr sz="1100" spc="-35" dirty="0">
                <a:solidFill>
                  <a:srgbClr val="F4F8FC"/>
                </a:solidFill>
                <a:latin typeface="Arial MT"/>
                <a:cs typeface="Arial MT"/>
              </a:rPr>
              <a:t>pipeline </a:t>
            </a:r>
            <a:r>
              <a:rPr sz="1100" spc="-85" dirty="0">
                <a:solidFill>
                  <a:srgbClr val="F4F8FC"/>
                </a:solidFill>
                <a:latin typeface="Arial MT"/>
                <a:cs typeface="Arial MT"/>
              </a:rPr>
              <a:t>CSV</a:t>
            </a:r>
            <a:r>
              <a:rPr sz="1100" spc="15" dirty="0">
                <a:solidFill>
                  <a:srgbClr val="F4F8FC"/>
                </a:solidFill>
                <a:latin typeface="Arial MT"/>
                <a:cs typeface="Arial MT"/>
              </a:rPr>
              <a:t> </a:t>
            </a:r>
            <a:r>
              <a:rPr sz="1100" spc="240" dirty="0">
                <a:solidFill>
                  <a:srgbClr val="F4F8FC"/>
                </a:solidFill>
                <a:latin typeface="Arial MT"/>
                <a:cs typeface="Arial MT"/>
              </a:rPr>
              <a:t>/</a:t>
            </a:r>
            <a:r>
              <a:rPr sz="1100" spc="15" dirty="0">
                <a:solidFill>
                  <a:srgbClr val="F4F8FC"/>
                </a:solidFill>
                <a:latin typeface="Arial MT"/>
                <a:cs typeface="Arial MT"/>
              </a:rPr>
              <a:t> </a:t>
            </a:r>
            <a:r>
              <a:rPr sz="1100" spc="-55" dirty="0">
                <a:solidFill>
                  <a:srgbClr val="F4F8FC"/>
                </a:solidFill>
                <a:latin typeface="Arial MT"/>
                <a:cs typeface="Arial MT"/>
              </a:rPr>
              <a:t>JSON</a:t>
            </a:r>
            <a:r>
              <a:rPr sz="1100" spc="20" dirty="0">
                <a:solidFill>
                  <a:srgbClr val="F4F8FC"/>
                </a:solidFill>
                <a:latin typeface="Arial MT"/>
                <a:cs typeface="Arial MT"/>
              </a:rPr>
              <a:t> </a:t>
            </a:r>
            <a:r>
              <a:rPr sz="1100" spc="240" dirty="0">
                <a:solidFill>
                  <a:srgbClr val="F4F8FC"/>
                </a:solidFill>
                <a:latin typeface="Arial MT"/>
                <a:cs typeface="Arial MT"/>
              </a:rPr>
              <a:t>/</a:t>
            </a:r>
            <a:r>
              <a:rPr sz="1100" spc="15" dirty="0">
                <a:solidFill>
                  <a:srgbClr val="F4F8FC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F4F8FC"/>
                </a:solidFill>
                <a:latin typeface="Arial MT"/>
                <a:cs typeface="Arial MT"/>
              </a:rPr>
              <a:t>PDF</a:t>
            </a:r>
            <a:r>
              <a:rPr sz="1100" spc="15" dirty="0">
                <a:solidFill>
                  <a:srgbClr val="F4F8FC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F4F8FC"/>
                </a:solidFill>
                <a:latin typeface="Arial MT"/>
                <a:cs typeface="Arial MT"/>
              </a:rPr>
              <a:t>processing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45387" y="1900604"/>
            <a:ext cx="1117600" cy="106934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b="1" spc="-35" dirty="0">
                <a:solidFill>
                  <a:srgbClr val="27D2DC"/>
                </a:solidFill>
                <a:latin typeface="Arial"/>
                <a:cs typeface="Arial"/>
              </a:rPr>
              <a:t>Analytics</a:t>
            </a:r>
            <a:r>
              <a:rPr sz="1100" b="1" spc="15" dirty="0">
                <a:solidFill>
                  <a:srgbClr val="27D2DC"/>
                </a:solidFill>
                <a:latin typeface="Arial"/>
                <a:cs typeface="Arial"/>
              </a:rPr>
              <a:t> </a:t>
            </a:r>
            <a:r>
              <a:rPr sz="1100" b="1" spc="-10" dirty="0">
                <a:solidFill>
                  <a:srgbClr val="27D2DC"/>
                </a:solidFill>
                <a:latin typeface="Arial"/>
                <a:cs typeface="Arial"/>
              </a:rPr>
              <a:t>Engine</a:t>
            </a:r>
            <a:endParaRPr sz="1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985"/>
              </a:spcBef>
            </a:pPr>
            <a:r>
              <a:rPr sz="1100" b="1" spc="-10" dirty="0">
                <a:solidFill>
                  <a:srgbClr val="27D2DC"/>
                </a:solidFill>
                <a:latin typeface="Arial"/>
                <a:cs typeface="Arial"/>
              </a:rPr>
              <a:t>Visualization</a:t>
            </a:r>
            <a:endParaRPr sz="1100">
              <a:latin typeface="Arial"/>
              <a:cs typeface="Arial"/>
            </a:endParaRPr>
          </a:p>
          <a:p>
            <a:pPr marL="12700" marR="5080">
              <a:lnSpc>
                <a:spcPct val="174500"/>
              </a:lnSpc>
            </a:pPr>
            <a:r>
              <a:rPr sz="1100" b="1" dirty="0">
                <a:solidFill>
                  <a:srgbClr val="27D2DC"/>
                </a:solidFill>
                <a:latin typeface="Arial"/>
                <a:cs typeface="Arial"/>
              </a:rPr>
              <a:t>AI</a:t>
            </a:r>
            <a:r>
              <a:rPr sz="1100" b="1" spc="55" dirty="0">
                <a:solidFill>
                  <a:srgbClr val="27D2DC"/>
                </a:solidFill>
                <a:latin typeface="Arial"/>
                <a:cs typeface="Arial"/>
              </a:rPr>
              <a:t> </a:t>
            </a:r>
            <a:r>
              <a:rPr sz="1100" b="1" spc="300" dirty="0">
                <a:solidFill>
                  <a:srgbClr val="27D2DC"/>
                </a:solidFill>
                <a:latin typeface="Arial"/>
                <a:cs typeface="Arial"/>
              </a:rPr>
              <a:t>/</a:t>
            </a:r>
            <a:r>
              <a:rPr sz="1100" b="1" spc="60" dirty="0">
                <a:solidFill>
                  <a:srgbClr val="27D2DC"/>
                </a:solidFill>
                <a:latin typeface="Arial"/>
                <a:cs typeface="Arial"/>
              </a:rPr>
              <a:t> </a:t>
            </a:r>
            <a:r>
              <a:rPr sz="1100" b="1" spc="-20" dirty="0">
                <a:solidFill>
                  <a:srgbClr val="27D2DC"/>
                </a:solidFill>
                <a:latin typeface="Arial"/>
                <a:cs typeface="Arial"/>
              </a:rPr>
              <a:t>Query</a:t>
            </a:r>
            <a:r>
              <a:rPr sz="1100" b="1" spc="65" dirty="0">
                <a:solidFill>
                  <a:srgbClr val="27D2DC"/>
                </a:solidFill>
                <a:latin typeface="Arial"/>
                <a:cs typeface="Arial"/>
              </a:rPr>
              <a:t> </a:t>
            </a:r>
            <a:r>
              <a:rPr sz="1100" b="1" spc="-55" dirty="0">
                <a:solidFill>
                  <a:srgbClr val="27D2DC"/>
                </a:solidFill>
                <a:latin typeface="Arial"/>
                <a:cs typeface="Arial"/>
              </a:rPr>
              <a:t>Layer </a:t>
            </a:r>
            <a:r>
              <a:rPr sz="1100" b="1" spc="-10" dirty="0">
                <a:solidFill>
                  <a:srgbClr val="27D2DC"/>
                </a:solidFill>
                <a:latin typeface="Arial"/>
                <a:cs typeface="Arial"/>
              </a:rPr>
              <a:t>Testing</a:t>
            </a:r>
            <a:endParaRPr sz="11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349220" y="1780145"/>
            <a:ext cx="1838960" cy="106934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10" dirty="0">
                <a:solidFill>
                  <a:srgbClr val="F4F8FC"/>
                </a:solidFill>
                <a:latin typeface="Arial MT"/>
                <a:cs typeface="Arial MT"/>
              </a:rPr>
              <a:t>DuckDB</a:t>
            </a:r>
            <a:endParaRPr sz="11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985"/>
              </a:spcBef>
            </a:pPr>
            <a:r>
              <a:rPr sz="1100" spc="-10" dirty="0">
                <a:solidFill>
                  <a:srgbClr val="F4F8FC"/>
                </a:solidFill>
                <a:latin typeface="Arial MT"/>
                <a:cs typeface="Arial MT"/>
              </a:rPr>
              <a:t>Plotly</a:t>
            </a:r>
            <a:endParaRPr sz="1100">
              <a:latin typeface="Arial MT"/>
              <a:cs typeface="Arial MT"/>
            </a:endParaRPr>
          </a:p>
          <a:p>
            <a:pPr marL="12700" marR="5080">
              <a:lnSpc>
                <a:spcPct val="174500"/>
              </a:lnSpc>
            </a:pPr>
            <a:r>
              <a:rPr sz="1100" spc="-55" dirty="0">
                <a:solidFill>
                  <a:srgbClr val="F4F8FC"/>
                </a:solidFill>
                <a:latin typeface="Arial MT"/>
                <a:cs typeface="Arial MT"/>
              </a:rPr>
              <a:t>Natural-</a:t>
            </a:r>
            <a:r>
              <a:rPr sz="1100" spc="-45" dirty="0">
                <a:solidFill>
                  <a:srgbClr val="F4F8FC"/>
                </a:solidFill>
                <a:latin typeface="Arial MT"/>
                <a:cs typeface="Arial MT"/>
              </a:rPr>
              <a:t>language</a:t>
            </a:r>
            <a:r>
              <a:rPr sz="1100" spc="-5" dirty="0">
                <a:solidFill>
                  <a:srgbClr val="F4F8FC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F4F8FC"/>
                </a:solidFill>
                <a:latin typeface="Arial MT"/>
                <a:cs typeface="Arial MT"/>
              </a:rPr>
              <a:t>intent </a:t>
            </a:r>
            <a:r>
              <a:rPr sz="1100" spc="-10" dirty="0">
                <a:solidFill>
                  <a:srgbClr val="F4F8FC"/>
                </a:solidFill>
                <a:latin typeface="Arial MT"/>
                <a:cs typeface="Arial MT"/>
              </a:rPr>
              <a:t>routing Pytest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349220" y="2950246"/>
            <a:ext cx="77216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solidFill>
                  <a:srgbClr val="F4F8FC"/>
                </a:solidFill>
                <a:latin typeface="Arial MT"/>
                <a:cs typeface="Arial MT"/>
              </a:rPr>
              <a:t>Git</a:t>
            </a:r>
            <a:r>
              <a:rPr sz="1100" spc="25" dirty="0">
                <a:solidFill>
                  <a:srgbClr val="F4F8FC"/>
                </a:solidFill>
                <a:latin typeface="Arial MT"/>
                <a:cs typeface="Arial MT"/>
              </a:rPr>
              <a:t> </a:t>
            </a:r>
            <a:r>
              <a:rPr sz="1100" spc="240" dirty="0">
                <a:solidFill>
                  <a:srgbClr val="F4F8FC"/>
                </a:solidFill>
                <a:latin typeface="Arial MT"/>
                <a:cs typeface="Arial MT"/>
              </a:rPr>
              <a:t>/</a:t>
            </a:r>
            <a:r>
              <a:rPr sz="1100" spc="30" dirty="0">
                <a:solidFill>
                  <a:srgbClr val="F4F8FC"/>
                </a:solidFill>
                <a:latin typeface="Arial MT"/>
                <a:cs typeface="Arial MT"/>
              </a:rPr>
              <a:t> </a:t>
            </a:r>
            <a:r>
              <a:rPr sz="1100" spc="-25" dirty="0">
                <a:solidFill>
                  <a:srgbClr val="F4F8FC"/>
                </a:solidFill>
                <a:latin typeface="Arial MT"/>
                <a:cs typeface="Arial MT"/>
              </a:rPr>
              <a:t>GitHub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71615" y="3045560"/>
            <a:ext cx="261302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800" dirty="0">
                <a:solidFill>
                  <a:srgbClr val="64728C"/>
                </a:solidFill>
                <a:latin typeface="Arial MT"/>
                <a:cs typeface="Arial MT"/>
              </a:rPr>
              <a:t>FinPilot</a:t>
            </a:r>
            <a:r>
              <a:rPr sz="800" spc="90" dirty="0">
                <a:solidFill>
                  <a:srgbClr val="64728C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64728C"/>
                </a:solidFill>
                <a:latin typeface="Arial MT"/>
                <a:cs typeface="Arial MT"/>
              </a:rPr>
              <a:t>—</a:t>
            </a:r>
            <a:r>
              <a:rPr sz="800" spc="95" dirty="0">
                <a:solidFill>
                  <a:srgbClr val="64728C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64728C"/>
                </a:solidFill>
                <a:latin typeface="Arial MT"/>
                <a:cs typeface="Arial MT"/>
              </a:rPr>
              <a:t>AI</a:t>
            </a:r>
            <a:r>
              <a:rPr sz="800" spc="95" dirty="0">
                <a:solidFill>
                  <a:srgbClr val="64728C"/>
                </a:solidFill>
                <a:latin typeface="Arial MT"/>
                <a:cs typeface="Arial MT"/>
              </a:rPr>
              <a:t> </a:t>
            </a:r>
            <a:r>
              <a:rPr sz="800" spc="-45" dirty="0">
                <a:solidFill>
                  <a:srgbClr val="64728C"/>
                </a:solidFill>
                <a:latin typeface="Arial MT"/>
                <a:cs typeface="Arial MT"/>
              </a:rPr>
              <a:t>P</a:t>
            </a:r>
            <a:r>
              <a:rPr sz="800" spc="-20" dirty="0">
                <a:solidFill>
                  <a:srgbClr val="64728C"/>
                </a:solidFill>
                <a:latin typeface="Arial MT"/>
                <a:cs typeface="Arial MT"/>
              </a:rPr>
              <a:t>er</a:t>
            </a:r>
            <a:r>
              <a:rPr sz="800" spc="-165" dirty="0">
                <a:solidFill>
                  <a:srgbClr val="64728C"/>
                </a:solidFill>
                <a:latin typeface="Arial MT"/>
                <a:cs typeface="Arial MT"/>
              </a:rPr>
              <a:t>s</a:t>
            </a:r>
            <a:r>
              <a:rPr sz="1650" b="1" spc="-997" baseline="-10101" dirty="0">
                <a:solidFill>
                  <a:srgbClr val="27D2DC"/>
                </a:solidFill>
                <a:latin typeface="Arial"/>
                <a:cs typeface="Arial"/>
              </a:rPr>
              <a:t>V</a:t>
            </a:r>
            <a:r>
              <a:rPr sz="800" spc="-20" dirty="0">
                <a:solidFill>
                  <a:srgbClr val="64728C"/>
                </a:solidFill>
                <a:latin typeface="Arial MT"/>
                <a:cs typeface="Arial MT"/>
              </a:rPr>
              <a:t>o</a:t>
            </a:r>
            <a:r>
              <a:rPr sz="800" spc="-245" dirty="0">
                <a:solidFill>
                  <a:srgbClr val="64728C"/>
                </a:solidFill>
                <a:latin typeface="Arial MT"/>
                <a:cs typeface="Arial MT"/>
              </a:rPr>
              <a:t>n</a:t>
            </a:r>
            <a:r>
              <a:rPr sz="1650" b="1" spc="-607" baseline="-10101" dirty="0">
                <a:solidFill>
                  <a:srgbClr val="27D2DC"/>
                </a:solidFill>
                <a:latin typeface="Arial"/>
                <a:cs typeface="Arial"/>
              </a:rPr>
              <a:t>e</a:t>
            </a:r>
            <a:r>
              <a:rPr sz="800" spc="-100" dirty="0">
                <a:solidFill>
                  <a:srgbClr val="64728C"/>
                </a:solidFill>
                <a:latin typeface="Arial MT"/>
                <a:cs typeface="Arial MT"/>
              </a:rPr>
              <a:t>a</a:t>
            </a:r>
            <a:r>
              <a:rPr sz="1650" b="1" spc="-562" baseline="-10101" dirty="0">
                <a:solidFill>
                  <a:srgbClr val="27D2DC"/>
                </a:solidFill>
                <a:latin typeface="Arial"/>
                <a:cs typeface="Arial"/>
              </a:rPr>
              <a:t>r</a:t>
            </a:r>
            <a:r>
              <a:rPr sz="800" spc="-20" dirty="0">
                <a:solidFill>
                  <a:srgbClr val="64728C"/>
                </a:solidFill>
                <a:latin typeface="Arial MT"/>
                <a:cs typeface="Arial MT"/>
              </a:rPr>
              <a:t>l</a:t>
            </a:r>
            <a:r>
              <a:rPr sz="800" spc="-75" dirty="0">
                <a:solidFill>
                  <a:srgbClr val="64728C"/>
                </a:solidFill>
                <a:latin typeface="Arial MT"/>
                <a:cs typeface="Arial MT"/>
              </a:rPr>
              <a:t> </a:t>
            </a:r>
            <a:r>
              <a:rPr sz="1650" b="1" spc="-660" baseline="-10101" dirty="0">
                <a:solidFill>
                  <a:srgbClr val="27D2DC"/>
                </a:solidFill>
                <a:latin typeface="Arial"/>
                <a:cs typeface="Arial"/>
              </a:rPr>
              <a:t>s</a:t>
            </a:r>
            <a:r>
              <a:rPr sz="800" spc="-195" dirty="0">
                <a:solidFill>
                  <a:srgbClr val="64728C"/>
                </a:solidFill>
                <a:latin typeface="Arial MT"/>
                <a:cs typeface="Arial MT"/>
              </a:rPr>
              <a:t>F</a:t>
            </a:r>
            <a:r>
              <a:rPr sz="1650" b="1" spc="-217" baseline="-10101" dirty="0">
                <a:solidFill>
                  <a:srgbClr val="27D2DC"/>
                </a:solidFill>
                <a:latin typeface="Arial"/>
                <a:cs typeface="Arial"/>
              </a:rPr>
              <a:t>i</a:t>
            </a:r>
            <a:r>
              <a:rPr sz="800" spc="-100" dirty="0">
                <a:solidFill>
                  <a:srgbClr val="64728C"/>
                </a:solidFill>
                <a:latin typeface="Arial MT"/>
                <a:cs typeface="Arial MT"/>
              </a:rPr>
              <a:t>i</a:t>
            </a:r>
            <a:r>
              <a:rPr sz="1650" b="1" spc="-900" baseline="-10101" dirty="0">
                <a:solidFill>
                  <a:srgbClr val="27D2DC"/>
                </a:solidFill>
                <a:latin typeface="Arial"/>
                <a:cs typeface="Arial"/>
              </a:rPr>
              <a:t>o</a:t>
            </a:r>
            <a:r>
              <a:rPr sz="800" spc="-20" dirty="0">
                <a:solidFill>
                  <a:srgbClr val="64728C"/>
                </a:solidFill>
                <a:latin typeface="Arial MT"/>
                <a:cs typeface="Arial MT"/>
              </a:rPr>
              <a:t>n</a:t>
            </a:r>
            <a:r>
              <a:rPr sz="800" spc="-395" dirty="0">
                <a:solidFill>
                  <a:srgbClr val="64728C"/>
                </a:solidFill>
                <a:latin typeface="Arial MT"/>
                <a:cs typeface="Arial MT"/>
              </a:rPr>
              <a:t>a</a:t>
            </a:r>
            <a:r>
              <a:rPr sz="1650" b="1" spc="-502" baseline="-10101" dirty="0">
                <a:solidFill>
                  <a:srgbClr val="27D2DC"/>
                </a:solidFill>
                <a:latin typeface="Arial"/>
                <a:cs typeface="Arial"/>
              </a:rPr>
              <a:t>n</a:t>
            </a:r>
            <a:r>
              <a:rPr sz="800" spc="-20" dirty="0">
                <a:solidFill>
                  <a:srgbClr val="64728C"/>
                </a:solidFill>
                <a:latin typeface="Arial MT"/>
                <a:cs typeface="Arial MT"/>
              </a:rPr>
              <a:t>n</a:t>
            </a:r>
            <a:r>
              <a:rPr sz="800" spc="-160" dirty="0">
                <a:solidFill>
                  <a:srgbClr val="64728C"/>
                </a:solidFill>
                <a:latin typeface="Arial MT"/>
                <a:cs typeface="Arial MT"/>
              </a:rPr>
              <a:t>c</a:t>
            </a:r>
            <a:r>
              <a:rPr sz="1650" b="1" spc="-1042" baseline="-10101" dirty="0">
                <a:solidFill>
                  <a:srgbClr val="27D2DC"/>
                </a:solidFill>
                <a:latin typeface="Arial"/>
                <a:cs typeface="Arial"/>
              </a:rPr>
              <a:t>C</a:t>
            </a:r>
            <a:r>
              <a:rPr sz="800" spc="-20" dirty="0">
                <a:solidFill>
                  <a:srgbClr val="64728C"/>
                </a:solidFill>
                <a:latin typeface="Arial MT"/>
                <a:cs typeface="Arial MT"/>
              </a:rPr>
              <a:t>e</a:t>
            </a:r>
            <a:r>
              <a:rPr sz="800" spc="75" dirty="0">
                <a:solidFill>
                  <a:srgbClr val="64728C"/>
                </a:solidFill>
                <a:latin typeface="Arial MT"/>
                <a:cs typeface="Arial MT"/>
              </a:rPr>
              <a:t> </a:t>
            </a:r>
            <a:r>
              <a:rPr sz="1650" b="1" spc="-997" baseline="-10101" dirty="0">
                <a:solidFill>
                  <a:srgbClr val="27D2DC"/>
                </a:solidFill>
                <a:latin typeface="Arial"/>
                <a:cs typeface="Arial"/>
              </a:rPr>
              <a:t>o</a:t>
            </a:r>
            <a:r>
              <a:rPr sz="800" spc="-35" dirty="0">
                <a:solidFill>
                  <a:srgbClr val="64728C"/>
                </a:solidFill>
                <a:latin typeface="Arial MT"/>
                <a:cs typeface="Arial MT"/>
              </a:rPr>
              <a:t>D</a:t>
            </a:r>
            <a:r>
              <a:rPr sz="1650" b="1" spc="-982" baseline="-10101" dirty="0">
                <a:solidFill>
                  <a:srgbClr val="27D2DC"/>
                </a:solidFill>
                <a:latin typeface="Arial"/>
                <a:cs typeface="Arial"/>
              </a:rPr>
              <a:t>n</a:t>
            </a:r>
            <a:r>
              <a:rPr sz="800" spc="-5" dirty="0">
                <a:solidFill>
                  <a:srgbClr val="64728C"/>
                </a:solidFill>
                <a:latin typeface="Arial MT"/>
                <a:cs typeface="Arial MT"/>
              </a:rPr>
              <a:t>e</a:t>
            </a:r>
            <a:r>
              <a:rPr sz="800" spc="-190" dirty="0">
                <a:solidFill>
                  <a:srgbClr val="64728C"/>
                </a:solidFill>
                <a:latin typeface="Arial MT"/>
                <a:cs typeface="Arial MT"/>
              </a:rPr>
              <a:t>c</a:t>
            </a:r>
            <a:r>
              <a:rPr sz="1650" b="1" spc="-352" baseline="-10101" dirty="0">
                <a:solidFill>
                  <a:srgbClr val="27D2DC"/>
                </a:solidFill>
                <a:latin typeface="Arial"/>
                <a:cs typeface="Arial"/>
              </a:rPr>
              <a:t>t</a:t>
            </a:r>
            <a:r>
              <a:rPr sz="800" spc="-5" dirty="0">
                <a:solidFill>
                  <a:srgbClr val="64728C"/>
                </a:solidFill>
                <a:latin typeface="Arial MT"/>
                <a:cs typeface="Arial MT"/>
              </a:rPr>
              <a:t>i</a:t>
            </a:r>
            <a:r>
              <a:rPr sz="800" spc="-330" dirty="0">
                <a:solidFill>
                  <a:srgbClr val="64728C"/>
                </a:solidFill>
                <a:latin typeface="Arial MT"/>
                <a:cs typeface="Arial MT"/>
              </a:rPr>
              <a:t>s</a:t>
            </a:r>
            <a:r>
              <a:rPr sz="1650" b="1" spc="-247" baseline="-10101" dirty="0">
                <a:solidFill>
                  <a:srgbClr val="27D2DC"/>
                </a:solidFill>
                <a:latin typeface="Arial"/>
                <a:cs typeface="Arial"/>
              </a:rPr>
              <a:t>r</a:t>
            </a:r>
            <a:r>
              <a:rPr sz="800" spc="-55" dirty="0">
                <a:solidFill>
                  <a:srgbClr val="64728C"/>
                </a:solidFill>
                <a:latin typeface="Arial MT"/>
                <a:cs typeface="Arial MT"/>
              </a:rPr>
              <a:t>i</a:t>
            </a:r>
            <a:r>
              <a:rPr sz="1650" b="1" spc="-937" baseline="-10101" dirty="0">
                <a:solidFill>
                  <a:srgbClr val="27D2DC"/>
                </a:solidFill>
                <a:latin typeface="Arial"/>
                <a:cs typeface="Arial"/>
              </a:rPr>
              <a:t>o</a:t>
            </a:r>
            <a:r>
              <a:rPr sz="800" spc="-5" dirty="0">
                <a:solidFill>
                  <a:srgbClr val="64728C"/>
                </a:solidFill>
                <a:latin typeface="Arial MT"/>
                <a:cs typeface="Arial MT"/>
              </a:rPr>
              <a:t>o</a:t>
            </a:r>
            <a:r>
              <a:rPr sz="800" spc="-330" dirty="0">
                <a:solidFill>
                  <a:srgbClr val="64728C"/>
                </a:solidFill>
                <a:latin typeface="Arial MT"/>
                <a:cs typeface="Arial MT"/>
              </a:rPr>
              <a:t>n</a:t>
            </a:r>
            <a:r>
              <a:rPr sz="1650" b="1" spc="-7" baseline="-10101" dirty="0">
                <a:solidFill>
                  <a:srgbClr val="27D2DC"/>
                </a:solidFill>
                <a:latin typeface="Arial"/>
                <a:cs typeface="Arial"/>
              </a:rPr>
              <a:t>l</a:t>
            </a:r>
            <a:r>
              <a:rPr sz="1650" b="1" spc="67" baseline="-10101" dirty="0">
                <a:solidFill>
                  <a:srgbClr val="27D2DC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64728C"/>
                </a:solidFill>
                <a:latin typeface="Arial MT"/>
                <a:cs typeface="Arial MT"/>
              </a:rPr>
              <a:t>Support</a:t>
            </a:r>
            <a:r>
              <a:rPr sz="800" spc="90" dirty="0">
                <a:solidFill>
                  <a:srgbClr val="64728C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64728C"/>
                </a:solidFill>
                <a:latin typeface="Arial MT"/>
                <a:cs typeface="Arial MT"/>
              </a:rPr>
              <a:t>Agent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518640" y="3082885"/>
            <a:ext cx="13335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25" dirty="0">
                <a:solidFill>
                  <a:srgbClr val="64728C"/>
                </a:solidFill>
                <a:latin typeface="Arial MT"/>
                <a:cs typeface="Arial MT"/>
              </a:rPr>
              <a:t>25</a:t>
            </a:r>
            <a:endParaRPr sz="800">
              <a:latin typeface="Arial MT"/>
              <a:cs typeface="Arial MT"/>
            </a:endParaRPr>
          </a:p>
        </p:txBody>
      </p:sp>
    </p:spTree>
  </p:cSld>
  <p:clrMapOvr>
    <a:masterClrMapping/>
  </p:clrMapOvr>
  <p:transition>
    <p:cut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90" dirty="0"/>
              <a:t>What</a:t>
            </a:r>
            <a:r>
              <a:rPr spc="200" dirty="0"/>
              <a:t> </a:t>
            </a:r>
            <a:r>
              <a:rPr spc="70" dirty="0"/>
              <a:t>We</a:t>
            </a:r>
            <a:r>
              <a:rPr spc="200" dirty="0"/>
              <a:t> </a:t>
            </a:r>
            <a:r>
              <a:rPr dirty="0"/>
              <a:t>Actually</a:t>
            </a:r>
            <a:r>
              <a:rPr spc="200" dirty="0"/>
              <a:t> </a:t>
            </a:r>
            <a:r>
              <a:rPr spc="-10" dirty="0"/>
              <a:t>Built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/>
              <a:t>FinPilot</a:t>
            </a:r>
            <a:r>
              <a:rPr spc="45" dirty="0"/>
              <a:t> </a:t>
            </a:r>
            <a:r>
              <a:rPr dirty="0"/>
              <a:t>—</a:t>
            </a:r>
            <a:r>
              <a:rPr spc="50" dirty="0"/>
              <a:t> </a:t>
            </a:r>
            <a:r>
              <a:rPr dirty="0"/>
              <a:t>AI</a:t>
            </a:r>
            <a:r>
              <a:rPr spc="55" dirty="0"/>
              <a:t> </a:t>
            </a:r>
            <a:r>
              <a:rPr spc="-20" dirty="0"/>
              <a:t>Personal</a:t>
            </a:r>
            <a:r>
              <a:rPr spc="50" dirty="0"/>
              <a:t> </a:t>
            </a:r>
            <a:r>
              <a:rPr spc="-20" dirty="0"/>
              <a:t>Finance</a:t>
            </a:r>
            <a:r>
              <a:rPr spc="55" dirty="0"/>
              <a:t> </a:t>
            </a:r>
            <a:r>
              <a:rPr spc="-10" dirty="0"/>
              <a:t>Decision</a:t>
            </a:r>
            <a:r>
              <a:rPr spc="50" dirty="0"/>
              <a:t> </a:t>
            </a:r>
            <a:r>
              <a:rPr dirty="0"/>
              <a:t>Support</a:t>
            </a:r>
            <a:r>
              <a:rPr spc="45" dirty="0"/>
              <a:t> </a:t>
            </a:r>
            <a:r>
              <a:rPr spc="-10" dirty="0"/>
              <a:t>Agent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pc="-25" dirty="0"/>
              <a:t>26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94513" y="497787"/>
            <a:ext cx="1563370" cy="2426335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34"/>
              </a:spcBef>
            </a:pPr>
            <a:r>
              <a:rPr sz="1100" b="1" dirty="0">
                <a:solidFill>
                  <a:srgbClr val="27D2DC"/>
                </a:solidFill>
                <a:latin typeface="Arial"/>
                <a:cs typeface="Arial"/>
              </a:rPr>
              <a:t>Data</a:t>
            </a:r>
            <a:r>
              <a:rPr sz="1100" b="1" spc="140" dirty="0">
                <a:solidFill>
                  <a:srgbClr val="27D2DC"/>
                </a:solidFill>
                <a:latin typeface="Arial"/>
                <a:cs typeface="Arial"/>
              </a:rPr>
              <a:t> </a:t>
            </a:r>
            <a:r>
              <a:rPr sz="1100" b="1" spc="-10" dirty="0">
                <a:solidFill>
                  <a:srgbClr val="27D2DC"/>
                </a:solidFill>
                <a:latin typeface="Arial"/>
                <a:cs typeface="Arial"/>
              </a:rPr>
              <a:t>Layer</a:t>
            </a:r>
            <a:endParaRPr sz="1100">
              <a:latin typeface="Arial"/>
              <a:cs typeface="Arial"/>
            </a:endParaRPr>
          </a:p>
          <a:p>
            <a:pPr marL="287020" indent="-207645">
              <a:lnSpc>
                <a:spcPct val="100000"/>
              </a:lnSpc>
              <a:spcBef>
                <a:spcPts val="334"/>
              </a:spcBef>
              <a:buClr>
                <a:srgbClr val="27D2DC"/>
              </a:buClr>
              <a:buSzPct val="90909"/>
              <a:buFont typeface="Lucida Sans Unicode"/>
              <a:buChar char="►"/>
              <a:tabLst>
                <a:tab pos="287020" algn="l"/>
              </a:tabLst>
            </a:pPr>
            <a:r>
              <a:rPr sz="1100" spc="-85" dirty="0">
                <a:solidFill>
                  <a:srgbClr val="F4F8FC"/>
                </a:solidFill>
                <a:latin typeface="Arial MT"/>
                <a:cs typeface="Arial MT"/>
              </a:rPr>
              <a:t>CSV</a:t>
            </a:r>
            <a:r>
              <a:rPr sz="1100" spc="25" dirty="0">
                <a:solidFill>
                  <a:srgbClr val="F4F8FC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F4F8FC"/>
                </a:solidFill>
                <a:latin typeface="Arial MT"/>
                <a:cs typeface="Arial MT"/>
              </a:rPr>
              <a:t>parser</a:t>
            </a:r>
            <a:endParaRPr sz="1100">
              <a:latin typeface="Arial MT"/>
              <a:cs typeface="Arial MT"/>
            </a:endParaRPr>
          </a:p>
          <a:p>
            <a:pPr marL="287020" indent="-207645">
              <a:lnSpc>
                <a:spcPct val="100000"/>
              </a:lnSpc>
              <a:spcBef>
                <a:spcPts val="330"/>
              </a:spcBef>
              <a:buClr>
                <a:srgbClr val="27D2DC"/>
              </a:buClr>
              <a:buSzPct val="90909"/>
              <a:buFont typeface="Lucida Sans Unicode"/>
              <a:buChar char="►"/>
              <a:tabLst>
                <a:tab pos="287020" algn="l"/>
              </a:tabLst>
            </a:pPr>
            <a:r>
              <a:rPr sz="1100" spc="-55" dirty="0">
                <a:solidFill>
                  <a:srgbClr val="F4F8FC"/>
                </a:solidFill>
                <a:latin typeface="Arial MT"/>
                <a:cs typeface="Arial MT"/>
              </a:rPr>
              <a:t>JSON</a:t>
            </a:r>
            <a:r>
              <a:rPr sz="1100" spc="-5" dirty="0">
                <a:solidFill>
                  <a:srgbClr val="F4F8FC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F4F8FC"/>
                </a:solidFill>
                <a:latin typeface="Arial MT"/>
                <a:cs typeface="Arial MT"/>
              </a:rPr>
              <a:t>parser</a:t>
            </a:r>
            <a:endParaRPr sz="1100">
              <a:latin typeface="Arial MT"/>
              <a:cs typeface="Arial MT"/>
            </a:endParaRPr>
          </a:p>
          <a:p>
            <a:pPr marL="287020" indent="-207645">
              <a:lnSpc>
                <a:spcPct val="100000"/>
              </a:lnSpc>
              <a:spcBef>
                <a:spcPts val="335"/>
              </a:spcBef>
              <a:buClr>
                <a:srgbClr val="27D2DC"/>
              </a:buClr>
              <a:buSzPct val="90909"/>
              <a:buFont typeface="Lucida Sans Unicode"/>
              <a:buChar char="►"/>
              <a:tabLst>
                <a:tab pos="287020" algn="l"/>
              </a:tabLst>
            </a:pPr>
            <a:r>
              <a:rPr sz="1100" spc="-10" dirty="0">
                <a:solidFill>
                  <a:srgbClr val="F4F8FC"/>
                </a:solidFill>
                <a:latin typeface="Arial MT"/>
                <a:cs typeface="Arial MT"/>
              </a:rPr>
              <a:t>PDF</a:t>
            </a:r>
            <a:r>
              <a:rPr sz="1100" spc="-50" dirty="0">
                <a:solidFill>
                  <a:srgbClr val="F4F8FC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F4F8FC"/>
                </a:solidFill>
                <a:latin typeface="Arial MT"/>
                <a:cs typeface="Arial MT"/>
              </a:rPr>
              <a:t>parser</a:t>
            </a:r>
            <a:endParaRPr sz="1100">
              <a:latin typeface="Arial MT"/>
              <a:cs typeface="Arial MT"/>
            </a:endParaRPr>
          </a:p>
          <a:p>
            <a:pPr marL="287020" indent="-207645">
              <a:lnSpc>
                <a:spcPct val="100000"/>
              </a:lnSpc>
              <a:spcBef>
                <a:spcPts val="335"/>
              </a:spcBef>
              <a:buClr>
                <a:srgbClr val="27D2DC"/>
              </a:buClr>
              <a:buSzPct val="90909"/>
              <a:buFont typeface="Lucida Sans Unicode"/>
              <a:buChar char="►"/>
              <a:tabLst>
                <a:tab pos="287020" algn="l"/>
              </a:tabLst>
            </a:pPr>
            <a:r>
              <a:rPr sz="1100" spc="-90" dirty="0">
                <a:solidFill>
                  <a:srgbClr val="F4F8FC"/>
                </a:solidFill>
                <a:latin typeface="Arial MT"/>
                <a:cs typeface="Arial MT"/>
              </a:rPr>
              <a:t>Schema</a:t>
            </a:r>
            <a:r>
              <a:rPr sz="1100" spc="25" dirty="0">
                <a:solidFill>
                  <a:srgbClr val="F4F8FC"/>
                </a:solidFill>
                <a:latin typeface="Arial MT"/>
                <a:cs typeface="Arial MT"/>
              </a:rPr>
              <a:t> </a:t>
            </a:r>
            <a:r>
              <a:rPr sz="1100" spc="-35" dirty="0">
                <a:solidFill>
                  <a:srgbClr val="F4F8FC"/>
                </a:solidFill>
                <a:latin typeface="Arial MT"/>
                <a:cs typeface="Arial MT"/>
              </a:rPr>
              <a:t>normalization</a:t>
            </a:r>
            <a:endParaRPr sz="1100">
              <a:latin typeface="Arial MT"/>
              <a:cs typeface="Arial MT"/>
            </a:endParaRPr>
          </a:p>
          <a:p>
            <a:pPr marL="287020" indent="-207645">
              <a:lnSpc>
                <a:spcPct val="100000"/>
              </a:lnSpc>
              <a:spcBef>
                <a:spcPts val="334"/>
              </a:spcBef>
              <a:buClr>
                <a:srgbClr val="27D2DC"/>
              </a:buClr>
              <a:buSzPct val="90909"/>
              <a:buFont typeface="Lucida Sans Unicode"/>
              <a:buChar char="►"/>
              <a:tabLst>
                <a:tab pos="287020" algn="l"/>
              </a:tabLst>
            </a:pPr>
            <a:r>
              <a:rPr sz="1100" spc="-35" dirty="0">
                <a:solidFill>
                  <a:srgbClr val="F4F8FC"/>
                </a:solidFill>
                <a:latin typeface="Arial MT"/>
                <a:cs typeface="Arial MT"/>
              </a:rPr>
              <a:t>Privacy</a:t>
            </a:r>
            <a:r>
              <a:rPr sz="1100" spc="-30" dirty="0">
                <a:solidFill>
                  <a:srgbClr val="F4F8FC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F4F8FC"/>
                </a:solidFill>
                <a:latin typeface="Arial MT"/>
                <a:cs typeface="Arial MT"/>
              </a:rPr>
              <a:t>masking</a:t>
            </a:r>
            <a:endParaRPr sz="11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040"/>
              </a:spcBef>
            </a:pPr>
            <a:r>
              <a:rPr sz="1100" b="1" spc="-35" dirty="0">
                <a:solidFill>
                  <a:srgbClr val="32CC81"/>
                </a:solidFill>
                <a:latin typeface="Arial"/>
                <a:cs typeface="Arial"/>
              </a:rPr>
              <a:t>Analytics</a:t>
            </a:r>
            <a:r>
              <a:rPr sz="1100" b="1" spc="15" dirty="0">
                <a:solidFill>
                  <a:srgbClr val="32CC81"/>
                </a:solidFill>
                <a:latin typeface="Arial"/>
                <a:cs typeface="Arial"/>
              </a:rPr>
              <a:t> </a:t>
            </a:r>
            <a:r>
              <a:rPr sz="1100" b="1" spc="-10" dirty="0">
                <a:solidFill>
                  <a:srgbClr val="32CC81"/>
                </a:solidFill>
                <a:latin typeface="Arial"/>
                <a:cs typeface="Arial"/>
              </a:rPr>
              <a:t>Layer</a:t>
            </a:r>
            <a:endParaRPr sz="1100">
              <a:latin typeface="Arial"/>
              <a:cs typeface="Arial"/>
            </a:endParaRPr>
          </a:p>
          <a:p>
            <a:pPr marL="287020" indent="-207645">
              <a:lnSpc>
                <a:spcPct val="100000"/>
              </a:lnSpc>
              <a:spcBef>
                <a:spcPts val="335"/>
              </a:spcBef>
              <a:buClr>
                <a:srgbClr val="27D2DC"/>
              </a:buClr>
              <a:buSzPct val="90909"/>
              <a:buFont typeface="Lucida Sans Unicode"/>
              <a:buChar char="►"/>
              <a:tabLst>
                <a:tab pos="287020" algn="l"/>
              </a:tabLst>
            </a:pPr>
            <a:r>
              <a:rPr sz="1100" spc="-10" dirty="0">
                <a:solidFill>
                  <a:srgbClr val="F4F8FC"/>
                </a:solidFill>
                <a:latin typeface="Arial MT"/>
                <a:cs typeface="Arial MT"/>
              </a:rPr>
              <a:t>Categorization</a:t>
            </a:r>
            <a:endParaRPr sz="1100">
              <a:latin typeface="Arial MT"/>
              <a:cs typeface="Arial MT"/>
            </a:endParaRPr>
          </a:p>
          <a:p>
            <a:pPr marL="287020" indent="-207645">
              <a:lnSpc>
                <a:spcPct val="100000"/>
              </a:lnSpc>
              <a:spcBef>
                <a:spcPts val="334"/>
              </a:spcBef>
              <a:buClr>
                <a:srgbClr val="27D2DC"/>
              </a:buClr>
              <a:buSzPct val="90909"/>
              <a:buFont typeface="Lucida Sans Unicode"/>
              <a:buChar char="►"/>
              <a:tabLst>
                <a:tab pos="287020" algn="l"/>
              </a:tabLst>
            </a:pPr>
            <a:r>
              <a:rPr sz="1100" spc="-45" dirty="0">
                <a:solidFill>
                  <a:srgbClr val="F4F8FC"/>
                </a:solidFill>
                <a:latin typeface="Arial MT"/>
                <a:cs typeface="Arial MT"/>
              </a:rPr>
              <a:t>Subscription</a:t>
            </a:r>
            <a:r>
              <a:rPr sz="1100" spc="-10" dirty="0">
                <a:solidFill>
                  <a:srgbClr val="F4F8FC"/>
                </a:solidFill>
                <a:latin typeface="Arial MT"/>
                <a:cs typeface="Arial MT"/>
              </a:rPr>
              <a:t> tracker</a:t>
            </a:r>
            <a:endParaRPr sz="1100">
              <a:latin typeface="Arial MT"/>
              <a:cs typeface="Arial MT"/>
            </a:endParaRPr>
          </a:p>
          <a:p>
            <a:pPr marL="287020" indent="-207645">
              <a:lnSpc>
                <a:spcPct val="100000"/>
              </a:lnSpc>
              <a:spcBef>
                <a:spcPts val="330"/>
              </a:spcBef>
              <a:buClr>
                <a:srgbClr val="27D2DC"/>
              </a:buClr>
              <a:buSzPct val="90909"/>
              <a:buFont typeface="Lucida Sans Unicode"/>
              <a:buChar char="►"/>
              <a:tabLst>
                <a:tab pos="287020" algn="l"/>
              </a:tabLst>
            </a:pPr>
            <a:r>
              <a:rPr sz="1100" spc="-40" dirty="0">
                <a:solidFill>
                  <a:srgbClr val="F4F8FC"/>
                </a:solidFill>
                <a:latin typeface="Arial MT"/>
                <a:cs typeface="Arial MT"/>
              </a:rPr>
              <a:t>Anomaly</a:t>
            </a:r>
            <a:r>
              <a:rPr sz="1100" spc="-10" dirty="0">
                <a:solidFill>
                  <a:srgbClr val="F4F8FC"/>
                </a:solidFill>
                <a:latin typeface="Arial MT"/>
                <a:cs typeface="Arial MT"/>
              </a:rPr>
              <a:t> detector</a:t>
            </a:r>
            <a:endParaRPr sz="1100">
              <a:latin typeface="Arial MT"/>
              <a:cs typeface="Arial MT"/>
            </a:endParaRPr>
          </a:p>
          <a:p>
            <a:pPr marL="287020" indent="-207645">
              <a:lnSpc>
                <a:spcPct val="100000"/>
              </a:lnSpc>
              <a:spcBef>
                <a:spcPts val="335"/>
              </a:spcBef>
              <a:buClr>
                <a:srgbClr val="27D2DC"/>
              </a:buClr>
              <a:buSzPct val="90909"/>
              <a:buFont typeface="Lucida Sans Unicode"/>
              <a:buChar char="►"/>
              <a:tabLst>
                <a:tab pos="287020" algn="l"/>
              </a:tabLst>
            </a:pPr>
            <a:r>
              <a:rPr sz="1100" spc="-35" dirty="0">
                <a:solidFill>
                  <a:srgbClr val="F4F8FC"/>
                </a:solidFill>
                <a:latin typeface="Arial MT"/>
                <a:cs typeface="Arial MT"/>
              </a:rPr>
              <a:t>Committed</a:t>
            </a:r>
            <a:r>
              <a:rPr sz="1100" spc="10" dirty="0">
                <a:solidFill>
                  <a:srgbClr val="F4F8FC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F4F8FC"/>
                </a:solidFill>
                <a:latin typeface="Arial MT"/>
                <a:cs typeface="Arial MT"/>
              </a:rPr>
              <a:t>spending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020910" y="546301"/>
            <a:ext cx="96774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b="1" spc="-35" dirty="0">
                <a:solidFill>
                  <a:srgbClr val="9664F0"/>
                </a:solidFill>
                <a:latin typeface="Arial"/>
                <a:cs typeface="Arial"/>
              </a:rPr>
              <a:t>Planning</a:t>
            </a:r>
            <a:r>
              <a:rPr sz="1100" b="1" spc="5" dirty="0">
                <a:solidFill>
                  <a:srgbClr val="9664F0"/>
                </a:solidFill>
                <a:latin typeface="Arial"/>
                <a:cs typeface="Arial"/>
              </a:rPr>
              <a:t> </a:t>
            </a:r>
            <a:r>
              <a:rPr sz="1100" b="1" spc="-35" dirty="0">
                <a:solidFill>
                  <a:srgbClr val="9664F0"/>
                </a:solidFill>
                <a:latin typeface="Arial"/>
                <a:cs typeface="Arial"/>
              </a:rPr>
              <a:t>Layer</a:t>
            </a:r>
            <a:endParaRPr sz="11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088157" y="712556"/>
            <a:ext cx="1273175" cy="866140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220345" indent="-207645">
              <a:lnSpc>
                <a:spcPct val="100000"/>
              </a:lnSpc>
              <a:spcBef>
                <a:spcPts val="434"/>
              </a:spcBef>
              <a:buClr>
                <a:srgbClr val="27D2DC"/>
              </a:buClr>
              <a:buSzPct val="90909"/>
              <a:buFont typeface="Lucida Sans Unicode"/>
              <a:buChar char="►"/>
              <a:tabLst>
                <a:tab pos="220345" algn="l"/>
              </a:tabLst>
            </a:pPr>
            <a:r>
              <a:rPr sz="1100" spc="-30" dirty="0">
                <a:solidFill>
                  <a:srgbClr val="F4F8FC"/>
                </a:solidFill>
                <a:latin typeface="Arial MT"/>
                <a:cs typeface="Arial MT"/>
              </a:rPr>
              <a:t>Budget</a:t>
            </a:r>
            <a:r>
              <a:rPr sz="1100" spc="-35" dirty="0">
                <a:solidFill>
                  <a:srgbClr val="F4F8FC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F4F8FC"/>
                </a:solidFill>
                <a:latin typeface="Arial MT"/>
                <a:cs typeface="Arial MT"/>
              </a:rPr>
              <a:t>manager</a:t>
            </a:r>
            <a:endParaRPr sz="1100">
              <a:latin typeface="Arial MT"/>
              <a:cs typeface="Arial MT"/>
            </a:endParaRPr>
          </a:p>
          <a:p>
            <a:pPr marL="220345" indent="-207645">
              <a:lnSpc>
                <a:spcPct val="100000"/>
              </a:lnSpc>
              <a:spcBef>
                <a:spcPts val="334"/>
              </a:spcBef>
              <a:buClr>
                <a:srgbClr val="27D2DC"/>
              </a:buClr>
              <a:buSzPct val="90909"/>
              <a:buFont typeface="Lucida Sans Unicode"/>
              <a:buChar char="►"/>
              <a:tabLst>
                <a:tab pos="220345" algn="l"/>
              </a:tabLst>
            </a:pPr>
            <a:r>
              <a:rPr sz="1100" spc="-65" dirty="0">
                <a:solidFill>
                  <a:srgbClr val="F4F8FC"/>
                </a:solidFill>
                <a:latin typeface="Arial MT"/>
                <a:cs typeface="Arial MT"/>
              </a:rPr>
              <a:t>Goal</a:t>
            </a:r>
            <a:r>
              <a:rPr sz="1100" spc="-5" dirty="0">
                <a:solidFill>
                  <a:srgbClr val="F4F8FC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F4F8FC"/>
                </a:solidFill>
                <a:latin typeface="Arial MT"/>
                <a:cs typeface="Arial MT"/>
              </a:rPr>
              <a:t>manager</a:t>
            </a:r>
            <a:endParaRPr sz="1100">
              <a:latin typeface="Arial MT"/>
              <a:cs typeface="Arial MT"/>
            </a:endParaRPr>
          </a:p>
          <a:p>
            <a:pPr marL="220345" indent="-207645">
              <a:lnSpc>
                <a:spcPct val="100000"/>
              </a:lnSpc>
              <a:spcBef>
                <a:spcPts val="330"/>
              </a:spcBef>
              <a:buClr>
                <a:srgbClr val="27D2DC"/>
              </a:buClr>
              <a:buSzPct val="90909"/>
              <a:buFont typeface="Lucida Sans Unicode"/>
              <a:buChar char="►"/>
              <a:tabLst>
                <a:tab pos="220345" algn="l"/>
              </a:tabLst>
            </a:pPr>
            <a:r>
              <a:rPr sz="1100" spc="-65" dirty="0">
                <a:solidFill>
                  <a:srgbClr val="F4F8FC"/>
                </a:solidFill>
                <a:latin typeface="Arial MT"/>
                <a:cs typeface="Arial MT"/>
              </a:rPr>
              <a:t>Goal</a:t>
            </a:r>
            <a:r>
              <a:rPr sz="1100" spc="-5" dirty="0">
                <a:solidFill>
                  <a:srgbClr val="F4F8FC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F4F8FC"/>
                </a:solidFill>
                <a:latin typeface="Arial MT"/>
                <a:cs typeface="Arial MT"/>
              </a:rPr>
              <a:t>simulator</a:t>
            </a:r>
            <a:endParaRPr sz="1100">
              <a:latin typeface="Arial MT"/>
              <a:cs typeface="Arial MT"/>
            </a:endParaRPr>
          </a:p>
          <a:p>
            <a:pPr marL="220345" indent="-207645">
              <a:lnSpc>
                <a:spcPct val="100000"/>
              </a:lnSpc>
              <a:spcBef>
                <a:spcPts val="335"/>
              </a:spcBef>
              <a:buClr>
                <a:srgbClr val="27D2DC"/>
              </a:buClr>
              <a:buSzPct val="90909"/>
              <a:buFont typeface="Lucida Sans Unicode"/>
              <a:buChar char="►"/>
              <a:tabLst>
                <a:tab pos="220345" algn="l"/>
              </a:tabLst>
            </a:pPr>
            <a:r>
              <a:rPr sz="1100" spc="-75" dirty="0">
                <a:solidFill>
                  <a:srgbClr val="F4F8FC"/>
                </a:solidFill>
                <a:latin typeface="Arial MT"/>
                <a:cs typeface="Arial MT"/>
              </a:rPr>
              <a:t>Cash-</a:t>
            </a:r>
            <a:r>
              <a:rPr sz="1100" spc="-35" dirty="0">
                <a:solidFill>
                  <a:srgbClr val="F4F8FC"/>
                </a:solidFill>
                <a:latin typeface="Arial MT"/>
                <a:cs typeface="Arial MT"/>
              </a:rPr>
              <a:t>flow</a:t>
            </a:r>
            <a:r>
              <a:rPr sz="1100" spc="-10" dirty="0">
                <a:solidFill>
                  <a:srgbClr val="F4F8FC"/>
                </a:solidFill>
                <a:latin typeface="Arial MT"/>
                <a:cs typeface="Arial MT"/>
              </a:rPr>
              <a:t> </a:t>
            </a:r>
            <a:r>
              <a:rPr sz="1100" spc="-60" dirty="0">
                <a:solidFill>
                  <a:srgbClr val="F4F8FC"/>
                </a:solidFill>
                <a:latin typeface="Arial MT"/>
                <a:cs typeface="Arial MT"/>
              </a:rPr>
              <a:t>analysis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020910" y="1642679"/>
            <a:ext cx="2030730" cy="866140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34"/>
              </a:spcBef>
            </a:pPr>
            <a:r>
              <a:rPr sz="1100" b="1" dirty="0">
                <a:solidFill>
                  <a:srgbClr val="F4BE3B"/>
                </a:solidFill>
                <a:latin typeface="Arial"/>
                <a:cs typeface="Arial"/>
              </a:rPr>
              <a:t>AI</a:t>
            </a:r>
            <a:r>
              <a:rPr sz="1100" b="1" spc="105" dirty="0">
                <a:solidFill>
                  <a:srgbClr val="F4BE3B"/>
                </a:solidFill>
                <a:latin typeface="Arial"/>
                <a:cs typeface="Arial"/>
              </a:rPr>
              <a:t> </a:t>
            </a:r>
            <a:r>
              <a:rPr sz="1100" b="1" spc="-10" dirty="0">
                <a:solidFill>
                  <a:srgbClr val="F4BE3B"/>
                </a:solidFill>
                <a:latin typeface="Arial"/>
                <a:cs typeface="Arial"/>
              </a:rPr>
              <a:t>Interaction</a:t>
            </a:r>
            <a:endParaRPr sz="1100">
              <a:latin typeface="Arial"/>
              <a:cs typeface="Arial"/>
            </a:endParaRPr>
          </a:p>
          <a:p>
            <a:pPr marL="287020" indent="-207645">
              <a:lnSpc>
                <a:spcPct val="100000"/>
              </a:lnSpc>
              <a:spcBef>
                <a:spcPts val="334"/>
              </a:spcBef>
              <a:buClr>
                <a:srgbClr val="27D2DC"/>
              </a:buClr>
              <a:buSzPct val="90909"/>
              <a:buFont typeface="Lucida Sans Unicode"/>
              <a:buChar char="►"/>
              <a:tabLst>
                <a:tab pos="287020" algn="l"/>
              </a:tabLst>
            </a:pPr>
            <a:r>
              <a:rPr sz="1100" spc="-55" dirty="0">
                <a:solidFill>
                  <a:srgbClr val="F4F8FC"/>
                </a:solidFill>
                <a:latin typeface="Arial MT"/>
                <a:cs typeface="Arial MT"/>
              </a:rPr>
              <a:t>Natural-</a:t>
            </a:r>
            <a:r>
              <a:rPr sz="1100" spc="-45" dirty="0">
                <a:solidFill>
                  <a:srgbClr val="F4F8FC"/>
                </a:solidFill>
                <a:latin typeface="Arial MT"/>
                <a:cs typeface="Arial MT"/>
              </a:rPr>
              <a:t>language</a:t>
            </a:r>
            <a:r>
              <a:rPr sz="1100" spc="-5" dirty="0">
                <a:solidFill>
                  <a:srgbClr val="F4F8FC"/>
                </a:solidFill>
                <a:latin typeface="Arial MT"/>
                <a:cs typeface="Arial MT"/>
              </a:rPr>
              <a:t> </a:t>
            </a:r>
            <a:r>
              <a:rPr sz="1100" spc="-45" dirty="0">
                <a:solidFill>
                  <a:srgbClr val="F4F8FC"/>
                </a:solidFill>
                <a:latin typeface="Arial MT"/>
                <a:cs typeface="Arial MT"/>
              </a:rPr>
              <a:t>query</a:t>
            </a:r>
            <a:r>
              <a:rPr sz="1100" dirty="0">
                <a:solidFill>
                  <a:srgbClr val="F4F8FC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F4F8FC"/>
                </a:solidFill>
                <a:latin typeface="Arial MT"/>
                <a:cs typeface="Arial MT"/>
              </a:rPr>
              <a:t>router</a:t>
            </a:r>
            <a:endParaRPr sz="1100">
              <a:latin typeface="Arial MT"/>
              <a:cs typeface="Arial MT"/>
            </a:endParaRPr>
          </a:p>
          <a:p>
            <a:pPr marL="287020" indent="-207645">
              <a:lnSpc>
                <a:spcPct val="100000"/>
              </a:lnSpc>
              <a:spcBef>
                <a:spcPts val="330"/>
              </a:spcBef>
              <a:buClr>
                <a:srgbClr val="27D2DC"/>
              </a:buClr>
              <a:buSzPct val="90909"/>
              <a:buFont typeface="Lucida Sans Unicode"/>
              <a:buChar char="►"/>
              <a:tabLst>
                <a:tab pos="287020" algn="l"/>
              </a:tabLst>
            </a:pPr>
            <a:r>
              <a:rPr sz="1100" spc="-30" dirty="0">
                <a:solidFill>
                  <a:srgbClr val="F4F8FC"/>
                </a:solidFill>
                <a:latin typeface="Arial MT"/>
                <a:cs typeface="Arial MT"/>
              </a:rPr>
              <a:t>Structured</a:t>
            </a:r>
            <a:r>
              <a:rPr sz="1100" spc="-10" dirty="0">
                <a:solidFill>
                  <a:srgbClr val="F4F8FC"/>
                </a:solidFill>
                <a:latin typeface="Arial MT"/>
                <a:cs typeface="Arial MT"/>
              </a:rPr>
              <a:t> </a:t>
            </a:r>
            <a:r>
              <a:rPr sz="1100" spc="-25" dirty="0">
                <a:solidFill>
                  <a:srgbClr val="F4F8FC"/>
                </a:solidFill>
                <a:latin typeface="Arial MT"/>
                <a:cs typeface="Arial MT"/>
              </a:rPr>
              <a:t>DuckDB</a:t>
            </a:r>
            <a:r>
              <a:rPr sz="1100" spc="-10" dirty="0">
                <a:solidFill>
                  <a:srgbClr val="F4F8FC"/>
                </a:solidFill>
                <a:latin typeface="Arial MT"/>
                <a:cs typeface="Arial MT"/>
              </a:rPr>
              <a:t> queries</a:t>
            </a:r>
            <a:endParaRPr sz="1100">
              <a:latin typeface="Arial MT"/>
              <a:cs typeface="Arial MT"/>
            </a:endParaRPr>
          </a:p>
          <a:p>
            <a:pPr marL="287020" indent="-207645">
              <a:lnSpc>
                <a:spcPct val="100000"/>
              </a:lnSpc>
              <a:spcBef>
                <a:spcPts val="335"/>
              </a:spcBef>
              <a:buClr>
                <a:srgbClr val="27D2DC"/>
              </a:buClr>
              <a:buSzPct val="90909"/>
              <a:buFont typeface="Lucida Sans Unicode"/>
              <a:buChar char="►"/>
              <a:tabLst>
                <a:tab pos="287020" algn="l"/>
              </a:tabLst>
            </a:pPr>
            <a:r>
              <a:rPr sz="1100" dirty="0">
                <a:solidFill>
                  <a:srgbClr val="F4F8FC"/>
                </a:solidFill>
                <a:latin typeface="Arial MT"/>
                <a:cs typeface="Arial MT"/>
              </a:rPr>
              <a:t>Monthly</a:t>
            </a:r>
            <a:r>
              <a:rPr sz="1100" spc="-55" dirty="0">
                <a:solidFill>
                  <a:srgbClr val="F4F8FC"/>
                </a:solidFill>
                <a:latin typeface="Arial MT"/>
                <a:cs typeface="Arial MT"/>
              </a:rPr>
              <a:t> </a:t>
            </a:r>
            <a:r>
              <a:rPr sz="1100" spc="-20" dirty="0">
                <a:solidFill>
                  <a:srgbClr val="F4F8FC"/>
                </a:solidFill>
                <a:latin typeface="Arial MT"/>
                <a:cs typeface="Arial MT"/>
              </a:rPr>
              <a:t>brief</a:t>
            </a:r>
            <a:r>
              <a:rPr sz="1100" spc="-50" dirty="0">
                <a:solidFill>
                  <a:srgbClr val="F4F8FC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F4F8FC"/>
                </a:solidFill>
                <a:latin typeface="Arial MT"/>
                <a:cs typeface="Arial MT"/>
              </a:rPr>
              <a:t>generator</a:t>
            </a:r>
            <a:endParaRPr sz="1100">
              <a:latin typeface="Arial MT"/>
              <a:cs typeface="Arial MT"/>
            </a:endParaRPr>
          </a:p>
        </p:txBody>
      </p:sp>
    </p:spTree>
  </p:cSld>
  <p:clrMapOvr>
    <a:masterClrMapping/>
  </p:clrMapOvr>
  <p:transition>
    <p:cut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End-to-End</a:t>
            </a:r>
            <a:r>
              <a:rPr spc="415" dirty="0"/>
              <a:t> </a:t>
            </a:r>
            <a:r>
              <a:rPr spc="-10" dirty="0"/>
              <a:t>Workflow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359986" y="886874"/>
            <a:ext cx="851535" cy="365125"/>
            <a:chOff x="359986" y="886874"/>
            <a:chExt cx="851535" cy="365125"/>
          </a:xfrm>
        </p:grpSpPr>
        <p:sp>
          <p:nvSpPr>
            <p:cNvPr id="4" name="object 4"/>
            <p:cNvSpPr/>
            <p:nvPr/>
          </p:nvSpPr>
          <p:spPr>
            <a:xfrm>
              <a:off x="362526" y="889414"/>
              <a:ext cx="846455" cy="360045"/>
            </a:xfrm>
            <a:custGeom>
              <a:avLst/>
              <a:gdLst/>
              <a:ahLst/>
              <a:cxnLst/>
              <a:rect l="l" t="t" r="r" b="b"/>
              <a:pathLst>
                <a:path w="846455" h="360044">
                  <a:moveTo>
                    <a:pt x="782749" y="0"/>
                  </a:moveTo>
                  <a:lnTo>
                    <a:pt x="63263" y="0"/>
                  </a:lnTo>
                  <a:lnTo>
                    <a:pt x="38638" y="4971"/>
                  </a:lnTo>
                  <a:lnTo>
                    <a:pt x="18529" y="18529"/>
                  </a:lnTo>
                  <a:lnTo>
                    <a:pt x="4971" y="38638"/>
                  </a:lnTo>
                  <a:lnTo>
                    <a:pt x="0" y="63263"/>
                  </a:lnTo>
                  <a:lnTo>
                    <a:pt x="0" y="296740"/>
                  </a:lnTo>
                  <a:lnTo>
                    <a:pt x="4971" y="321365"/>
                  </a:lnTo>
                  <a:lnTo>
                    <a:pt x="18529" y="341474"/>
                  </a:lnTo>
                  <a:lnTo>
                    <a:pt x="38638" y="355032"/>
                  </a:lnTo>
                  <a:lnTo>
                    <a:pt x="63263" y="360004"/>
                  </a:lnTo>
                  <a:lnTo>
                    <a:pt x="782749" y="360004"/>
                  </a:lnTo>
                  <a:lnTo>
                    <a:pt x="807374" y="355032"/>
                  </a:lnTo>
                  <a:lnTo>
                    <a:pt x="827483" y="341474"/>
                  </a:lnTo>
                  <a:lnTo>
                    <a:pt x="841041" y="321365"/>
                  </a:lnTo>
                  <a:lnTo>
                    <a:pt x="846012" y="296740"/>
                  </a:lnTo>
                  <a:lnTo>
                    <a:pt x="846012" y="63263"/>
                  </a:lnTo>
                  <a:lnTo>
                    <a:pt x="841041" y="38638"/>
                  </a:lnTo>
                  <a:lnTo>
                    <a:pt x="827483" y="18529"/>
                  </a:lnTo>
                  <a:lnTo>
                    <a:pt x="807374" y="4971"/>
                  </a:lnTo>
                  <a:lnTo>
                    <a:pt x="782749" y="0"/>
                  </a:lnTo>
                  <a:close/>
                </a:path>
              </a:pathLst>
            </a:custGeom>
            <a:solidFill>
              <a:srgbClr val="0C18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62526" y="889414"/>
              <a:ext cx="846455" cy="360045"/>
            </a:xfrm>
            <a:custGeom>
              <a:avLst/>
              <a:gdLst/>
              <a:ahLst/>
              <a:cxnLst/>
              <a:rect l="l" t="t" r="r" b="b"/>
              <a:pathLst>
                <a:path w="846455" h="360044">
                  <a:moveTo>
                    <a:pt x="782749" y="0"/>
                  </a:moveTo>
                  <a:lnTo>
                    <a:pt x="63263" y="0"/>
                  </a:lnTo>
                  <a:lnTo>
                    <a:pt x="38638" y="4971"/>
                  </a:lnTo>
                  <a:lnTo>
                    <a:pt x="18529" y="18529"/>
                  </a:lnTo>
                  <a:lnTo>
                    <a:pt x="4971" y="38638"/>
                  </a:lnTo>
                  <a:lnTo>
                    <a:pt x="0" y="63263"/>
                  </a:lnTo>
                  <a:lnTo>
                    <a:pt x="0" y="296740"/>
                  </a:lnTo>
                  <a:lnTo>
                    <a:pt x="4971" y="321365"/>
                  </a:lnTo>
                  <a:lnTo>
                    <a:pt x="18529" y="341474"/>
                  </a:lnTo>
                  <a:lnTo>
                    <a:pt x="38638" y="355032"/>
                  </a:lnTo>
                  <a:lnTo>
                    <a:pt x="63263" y="360004"/>
                  </a:lnTo>
                  <a:lnTo>
                    <a:pt x="782749" y="360004"/>
                  </a:lnTo>
                  <a:lnTo>
                    <a:pt x="807374" y="355032"/>
                  </a:lnTo>
                  <a:lnTo>
                    <a:pt x="827483" y="341474"/>
                  </a:lnTo>
                  <a:lnTo>
                    <a:pt x="841041" y="321365"/>
                  </a:lnTo>
                  <a:lnTo>
                    <a:pt x="846012" y="296740"/>
                  </a:lnTo>
                  <a:lnTo>
                    <a:pt x="846012" y="63263"/>
                  </a:lnTo>
                  <a:lnTo>
                    <a:pt x="841041" y="38638"/>
                  </a:lnTo>
                  <a:lnTo>
                    <a:pt x="827483" y="18529"/>
                  </a:lnTo>
                  <a:lnTo>
                    <a:pt x="807374" y="4971"/>
                  </a:lnTo>
                  <a:lnTo>
                    <a:pt x="782749" y="0"/>
                  </a:lnTo>
                  <a:close/>
                </a:path>
              </a:pathLst>
            </a:custGeom>
            <a:ln w="5060">
              <a:solidFill>
                <a:srgbClr val="308C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586866" y="963566"/>
            <a:ext cx="39751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35" dirty="0">
                <a:solidFill>
                  <a:srgbClr val="F4F8FC"/>
                </a:solidFill>
                <a:latin typeface="Arial MT"/>
                <a:cs typeface="Arial MT"/>
              </a:rPr>
              <a:t>Upload</a:t>
            </a:r>
            <a:endParaRPr sz="1000">
              <a:latin typeface="Arial MT"/>
              <a:cs typeface="Arial MT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1362261" y="886874"/>
            <a:ext cx="851535" cy="365125"/>
            <a:chOff x="1362261" y="886874"/>
            <a:chExt cx="851535" cy="365125"/>
          </a:xfrm>
        </p:grpSpPr>
        <p:sp>
          <p:nvSpPr>
            <p:cNvPr id="8" name="object 8"/>
            <p:cNvSpPr/>
            <p:nvPr/>
          </p:nvSpPr>
          <p:spPr>
            <a:xfrm>
              <a:off x="1364801" y="889414"/>
              <a:ext cx="846455" cy="360045"/>
            </a:xfrm>
            <a:custGeom>
              <a:avLst/>
              <a:gdLst/>
              <a:ahLst/>
              <a:cxnLst/>
              <a:rect l="l" t="t" r="r" b="b"/>
              <a:pathLst>
                <a:path w="846455" h="360044">
                  <a:moveTo>
                    <a:pt x="782749" y="0"/>
                  </a:moveTo>
                  <a:lnTo>
                    <a:pt x="63263" y="0"/>
                  </a:lnTo>
                  <a:lnTo>
                    <a:pt x="38638" y="4971"/>
                  </a:lnTo>
                  <a:lnTo>
                    <a:pt x="18529" y="18529"/>
                  </a:lnTo>
                  <a:lnTo>
                    <a:pt x="4971" y="38638"/>
                  </a:lnTo>
                  <a:lnTo>
                    <a:pt x="0" y="63263"/>
                  </a:lnTo>
                  <a:lnTo>
                    <a:pt x="0" y="296740"/>
                  </a:lnTo>
                  <a:lnTo>
                    <a:pt x="4971" y="321365"/>
                  </a:lnTo>
                  <a:lnTo>
                    <a:pt x="18529" y="341474"/>
                  </a:lnTo>
                  <a:lnTo>
                    <a:pt x="38638" y="355032"/>
                  </a:lnTo>
                  <a:lnTo>
                    <a:pt x="63263" y="360004"/>
                  </a:lnTo>
                  <a:lnTo>
                    <a:pt x="782749" y="360004"/>
                  </a:lnTo>
                  <a:lnTo>
                    <a:pt x="807374" y="355032"/>
                  </a:lnTo>
                  <a:lnTo>
                    <a:pt x="827483" y="341474"/>
                  </a:lnTo>
                  <a:lnTo>
                    <a:pt x="841041" y="321365"/>
                  </a:lnTo>
                  <a:lnTo>
                    <a:pt x="846012" y="296740"/>
                  </a:lnTo>
                  <a:lnTo>
                    <a:pt x="846012" y="63263"/>
                  </a:lnTo>
                  <a:lnTo>
                    <a:pt x="841041" y="38638"/>
                  </a:lnTo>
                  <a:lnTo>
                    <a:pt x="827483" y="18529"/>
                  </a:lnTo>
                  <a:lnTo>
                    <a:pt x="807374" y="4971"/>
                  </a:lnTo>
                  <a:lnTo>
                    <a:pt x="782749" y="0"/>
                  </a:lnTo>
                  <a:close/>
                </a:path>
              </a:pathLst>
            </a:custGeom>
            <a:solidFill>
              <a:srgbClr val="0C18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364801" y="889414"/>
              <a:ext cx="846455" cy="360045"/>
            </a:xfrm>
            <a:custGeom>
              <a:avLst/>
              <a:gdLst/>
              <a:ahLst/>
              <a:cxnLst/>
              <a:rect l="l" t="t" r="r" b="b"/>
              <a:pathLst>
                <a:path w="846455" h="360044">
                  <a:moveTo>
                    <a:pt x="782749" y="0"/>
                  </a:moveTo>
                  <a:lnTo>
                    <a:pt x="63263" y="0"/>
                  </a:lnTo>
                  <a:lnTo>
                    <a:pt x="38638" y="4971"/>
                  </a:lnTo>
                  <a:lnTo>
                    <a:pt x="18529" y="18529"/>
                  </a:lnTo>
                  <a:lnTo>
                    <a:pt x="4971" y="38638"/>
                  </a:lnTo>
                  <a:lnTo>
                    <a:pt x="0" y="63263"/>
                  </a:lnTo>
                  <a:lnTo>
                    <a:pt x="0" y="296740"/>
                  </a:lnTo>
                  <a:lnTo>
                    <a:pt x="4971" y="321365"/>
                  </a:lnTo>
                  <a:lnTo>
                    <a:pt x="18529" y="341474"/>
                  </a:lnTo>
                  <a:lnTo>
                    <a:pt x="38638" y="355032"/>
                  </a:lnTo>
                  <a:lnTo>
                    <a:pt x="63263" y="360004"/>
                  </a:lnTo>
                  <a:lnTo>
                    <a:pt x="782749" y="360004"/>
                  </a:lnTo>
                  <a:lnTo>
                    <a:pt x="807374" y="355032"/>
                  </a:lnTo>
                  <a:lnTo>
                    <a:pt x="827483" y="341474"/>
                  </a:lnTo>
                  <a:lnTo>
                    <a:pt x="841041" y="321365"/>
                  </a:lnTo>
                  <a:lnTo>
                    <a:pt x="846012" y="296740"/>
                  </a:lnTo>
                  <a:lnTo>
                    <a:pt x="846012" y="63263"/>
                  </a:lnTo>
                  <a:lnTo>
                    <a:pt x="841041" y="38638"/>
                  </a:lnTo>
                  <a:lnTo>
                    <a:pt x="827483" y="18529"/>
                  </a:lnTo>
                  <a:lnTo>
                    <a:pt x="807374" y="4971"/>
                  </a:lnTo>
                  <a:lnTo>
                    <a:pt x="782749" y="0"/>
                  </a:lnTo>
                  <a:close/>
                </a:path>
              </a:pathLst>
            </a:custGeom>
            <a:ln w="5060">
              <a:solidFill>
                <a:srgbClr val="308C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1633842" y="974107"/>
            <a:ext cx="30861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70" dirty="0">
                <a:solidFill>
                  <a:srgbClr val="F4F8FC"/>
                </a:solidFill>
                <a:latin typeface="Arial MT"/>
                <a:cs typeface="Arial MT"/>
              </a:rPr>
              <a:t>Parse</a:t>
            </a:r>
            <a:endParaRPr sz="1000">
              <a:latin typeface="Arial MT"/>
              <a:cs typeface="Arial MT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2364536" y="886874"/>
            <a:ext cx="851535" cy="365125"/>
            <a:chOff x="2364536" y="886874"/>
            <a:chExt cx="851535" cy="365125"/>
          </a:xfrm>
        </p:grpSpPr>
        <p:sp>
          <p:nvSpPr>
            <p:cNvPr id="12" name="object 12"/>
            <p:cNvSpPr/>
            <p:nvPr/>
          </p:nvSpPr>
          <p:spPr>
            <a:xfrm>
              <a:off x="2367076" y="889414"/>
              <a:ext cx="846455" cy="360045"/>
            </a:xfrm>
            <a:custGeom>
              <a:avLst/>
              <a:gdLst/>
              <a:ahLst/>
              <a:cxnLst/>
              <a:rect l="l" t="t" r="r" b="b"/>
              <a:pathLst>
                <a:path w="846455" h="360044">
                  <a:moveTo>
                    <a:pt x="782749" y="0"/>
                  </a:moveTo>
                  <a:lnTo>
                    <a:pt x="63263" y="0"/>
                  </a:lnTo>
                  <a:lnTo>
                    <a:pt x="38638" y="4971"/>
                  </a:lnTo>
                  <a:lnTo>
                    <a:pt x="18529" y="18529"/>
                  </a:lnTo>
                  <a:lnTo>
                    <a:pt x="4971" y="38638"/>
                  </a:lnTo>
                  <a:lnTo>
                    <a:pt x="0" y="63263"/>
                  </a:lnTo>
                  <a:lnTo>
                    <a:pt x="0" y="296740"/>
                  </a:lnTo>
                  <a:lnTo>
                    <a:pt x="4971" y="321365"/>
                  </a:lnTo>
                  <a:lnTo>
                    <a:pt x="18529" y="341474"/>
                  </a:lnTo>
                  <a:lnTo>
                    <a:pt x="38638" y="355032"/>
                  </a:lnTo>
                  <a:lnTo>
                    <a:pt x="63263" y="360004"/>
                  </a:lnTo>
                  <a:lnTo>
                    <a:pt x="782749" y="360004"/>
                  </a:lnTo>
                  <a:lnTo>
                    <a:pt x="807374" y="355032"/>
                  </a:lnTo>
                  <a:lnTo>
                    <a:pt x="827483" y="341474"/>
                  </a:lnTo>
                  <a:lnTo>
                    <a:pt x="841041" y="321365"/>
                  </a:lnTo>
                  <a:lnTo>
                    <a:pt x="846013" y="296740"/>
                  </a:lnTo>
                  <a:lnTo>
                    <a:pt x="846013" y="63263"/>
                  </a:lnTo>
                  <a:lnTo>
                    <a:pt x="841041" y="38638"/>
                  </a:lnTo>
                  <a:lnTo>
                    <a:pt x="827483" y="18529"/>
                  </a:lnTo>
                  <a:lnTo>
                    <a:pt x="807374" y="4971"/>
                  </a:lnTo>
                  <a:lnTo>
                    <a:pt x="782749" y="0"/>
                  </a:lnTo>
                  <a:close/>
                </a:path>
              </a:pathLst>
            </a:custGeom>
            <a:solidFill>
              <a:srgbClr val="0C18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2367076" y="889414"/>
              <a:ext cx="846455" cy="360045"/>
            </a:xfrm>
            <a:custGeom>
              <a:avLst/>
              <a:gdLst/>
              <a:ahLst/>
              <a:cxnLst/>
              <a:rect l="l" t="t" r="r" b="b"/>
              <a:pathLst>
                <a:path w="846455" h="360044">
                  <a:moveTo>
                    <a:pt x="782749" y="0"/>
                  </a:moveTo>
                  <a:lnTo>
                    <a:pt x="63263" y="0"/>
                  </a:lnTo>
                  <a:lnTo>
                    <a:pt x="38638" y="4971"/>
                  </a:lnTo>
                  <a:lnTo>
                    <a:pt x="18529" y="18529"/>
                  </a:lnTo>
                  <a:lnTo>
                    <a:pt x="4971" y="38638"/>
                  </a:lnTo>
                  <a:lnTo>
                    <a:pt x="0" y="63263"/>
                  </a:lnTo>
                  <a:lnTo>
                    <a:pt x="0" y="296740"/>
                  </a:lnTo>
                  <a:lnTo>
                    <a:pt x="4971" y="321365"/>
                  </a:lnTo>
                  <a:lnTo>
                    <a:pt x="18529" y="341474"/>
                  </a:lnTo>
                  <a:lnTo>
                    <a:pt x="38638" y="355032"/>
                  </a:lnTo>
                  <a:lnTo>
                    <a:pt x="63263" y="360004"/>
                  </a:lnTo>
                  <a:lnTo>
                    <a:pt x="782749" y="360004"/>
                  </a:lnTo>
                  <a:lnTo>
                    <a:pt x="807374" y="355032"/>
                  </a:lnTo>
                  <a:lnTo>
                    <a:pt x="827483" y="341474"/>
                  </a:lnTo>
                  <a:lnTo>
                    <a:pt x="841041" y="321365"/>
                  </a:lnTo>
                  <a:lnTo>
                    <a:pt x="846013" y="296740"/>
                  </a:lnTo>
                  <a:lnTo>
                    <a:pt x="846013" y="63263"/>
                  </a:lnTo>
                  <a:lnTo>
                    <a:pt x="841041" y="38638"/>
                  </a:lnTo>
                  <a:lnTo>
                    <a:pt x="827483" y="18529"/>
                  </a:lnTo>
                  <a:lnTo>
                    <a:pt x="807374" y="4971"/>
                  </a:lnTo>
                  <a:lnTo>
                    <a:pt x="782749" y="0"/>
                  </a:lnTo>
                  <a:close/>
                </a:path>
              </a:pathLst>
            </a:custGeom>
            <a:ln w="5060">
              <a:solidFill>
                <a:srgbClr val="308C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2514612" y="975860"/>
            <a:ext cx="55118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40" dirty="0">
                <a:solidFill>
                  <a:srgbClr val="F4F8FC"/>
                </a:solidFill>
                <a:latin typeface="Arial MT"/>
                <a:cs typeface="Arial MT"/>
              </a:rPr>
              <a:t>Normalize</a:t>
            </a:r>
            <a:endParaRPr sz="1000">
              <a:latin typeface="Arial MT"/>
              <a:cs typeface="Arial MT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3366812" y="886874"/>
            <a:ext cx="851535" cy="365125"/>
            <a:chOff x="3366812" y="886874"/>
            <a:chExt cx="851535" cy="365125"/>
          </a:xfrm>
        </p:grpSpPr>
        <p:sp>
          <p:nvSpPr>
            <p:cNvPr id="16" name="object 16"/>
            <p:cNvSpPr/>
            <p:nvPr/>
          </p:nvSpPr>
          <p:spPr>
            <a:xfrm>
              <a:off x="3369352" y="889414"/>
              <a:ext cx="846455" cy="360045"/>
            </a:xfrm>
            <a:custGeom>
              <a:avLst/>
              <a:gdLst/>
              <a:ahLst/>
              <a:cxnLst/>
              <a:rect l="l" t="t" r="r" b="b"/>
              <a:pathLst>
                <a:path w="846454" h="360044">
                  <a:moveTo>
                    <a:pt x="782749" y="0"/>
                  </a:moveTo>
                  <a:lnTo>
                    <a:pt x="63263" y="0"/>
                  </a:lnTo>
                  <a:lnTo>
                    <a:pt x="38638" y="4971"/>
                  </a:lnTo>
                  <a:lnTo>
                    <a:pt x="18529" y="18529"/>
                  </a:lnTo>
                  <a:lnTo>
                    <a:pt x="4971" y="38638"/>
                  </a:lnTo>
                  <a:lnTo>
                    <a:pt x="0" y="63263"/>
                  </a:lnTo>
                  <a:lnTo>
                    <a:pt x="0" y="296740"/>
                  </a:lnTo>
                  <a:lnTo>
                    <a:pt x="4971" y="321365"/>
                  </a:lnTo>
                  <a:lnTo>
                    <a:pt x="18529" y="341474"/>
                  </a:lnTo>
                  <a:lnTo>
                    <a:pt x="38638" y="355032"/>
                  </a:lnTo>
                  <a:lnTo>
                    <a:pt x="63263" y="360004"/>
                  </a:lnTo>
                  <a:lnTo>
                    <a:pt x="782749" y="360004"/>
                  </a:lnTo>
                  <a:lnTo>
                    <a:pt x="807374" y="355032"/>
                  </a:lnTo>
                  <a:lnTo>
                    <a:pt x="827483" y="341474"/>
                  </a:lnTo>
                  <a:lnTo>
                    <a:pt x="841041" y="321365"/>
                  </a:lnTo>
                  <a:lnTo>
                    <a:pt x="846012" y="296740"/>
                  </a:lnTo>
                  <a:lnTo>
                    <a:pt x="846012" y="63263"/>
                  </a:lnTo>
                  <a:lnTo>
                    <a:pt x="841041" y="38638"/>
                  </a:lnTo>
                  <a:lnTo>
                    <a:pt x="827483" y="18529"/>
                  </a:lnTo>
                  <a:lnTo>
                    <a:pt x="807374" y="4971"/>
                  </a:lnTo>
                  <a:lnTo>
                    <a:pt x="782749" y="0"/>
                  </a:lnTo>
                  <a:close/>
                </a:path>
              </a:pathLst>
            </a:custGeom>
            <a:solidFill>
              <a:srgbClr val="0C18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3369352" y="889414"/>
              <a:ext cx="846455" cy="360045"/>
            </a:xfrm>
            <a:custGeom>
              <a:avLst/>
              <a:gdLst/>
              <a:ahLst/>
              <a:cxnLst/>
              <a:rect l="l" t="t" r="r" b="b"/>
              <a:pathLst>
                <a:path w="846454" h="360044">
                  <a:moveTo>
                    <a:pt x="782749" y="0"/>
                  </a:moveTo>
                  <a:lnTo>
                    <a:pt x="63263" y="0"/>
                  </a:lnTo>
                  <a:lnTo>
                    <a:pt x="38638" y="4971"/>
                  </a:lnTo>
                  <a:lnTo>
                    <a:pt x="18529" y="18529"/>
                  </a:lnTo>
                  <a:lnTo>
                    <a:pt x="4971" y="38638"/>
                  </a:lnTo>
                  <a:lnTo>
                    <a:pt x="0" y="63263"/>
                  </a:lnTo>
                  <a:lnTo>
                    <a:pt x="0" y="296740"/>
                  </a:lnTo>
                  <a:lnTo>
                    <a:pt x="4971" y="321365"/>
                  </a:lnTo>
                  <a:lnTo>
                    <a:pt x="18529" y="341474"/>
                  </a:lnTo>
                  <a:lnTo>
                    <a:pt x="38638" y="355032"/>
                  </a:lnTo>
                  <a:lnTo>
                    <a:pt x="63263" y="360004"/>
                  </a:lnTo>
                  <a:lnTo>
                    <a:pt x="782749" y="360004"/>
                  </a:lnTo>
                  <a:lnTo>
                    <a:pt x="807374" y="355032"/>
                  </a:lnTo>
                  <a:lnTo>
                    <a:pt x="827483" y="341474"/>
                  </a:lnTo>
                  <a:lnTo>
                    <a:pt x="841041" y="321365"/>
                  </a:lnTo>
                  <a:lnTo>
                    <a:pt x="846012" y="296740"/>
                  </a:lnTo>
                  <a:lnTo>
                    <a:pt x="846012" y="63263"/>
                  </a:lnTo>
                  <a:lnTo>
                    <a:pt x="841041" y="38638"/>
                  </a:lnTo>
                  <a:lnTo>
                    <a:pt x="827483" y="18529"/>
                  </a:lnTo>
                  <a:lnTo>
                    <a:pt x="807374" y="4971"/>
                  </a:lnTo>
                  <a:lnTo>
                    <a:pt x="782749" y="0"/>
                  </a:lnTo>
                  <a:close/>
                </a:path>
              </a:pathLst>
            </a:custGeom>
            <a:ln w="5060">
              <a:solidFill>
                <a:srgbClr val="308C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3504057" y="961814"/>
            <a:ext cx="57721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50" dirty="0">
                <a:solidFill>
                  <a:srgbClr val="F4F8FC"/>
                </a:solidFill>
                <a:latin typeface="Arial MT"/>
                <a:cs typeface="Arial MT"/>
              </a:rPr>
              <a:t>Categorize</a:t>
            </a:r>
            <a:endParaRPr sz="1000">
              <a:latin typeface="Arial MT"/>
              <a:cs typeface="Arial MT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4369087" y="886874"/>
            <a:ext cx="851535" cy="365125"/>
            <a:chOff x="4369087" y="886874"/>
            <a:chExt cx="851535" cy="365125"/>
          </a:xfrm>
        </p:grpSpPr>
        <p:sp>
          <p:nvSpPr>
            <p:cNvPr id="20" name="object 20"/>
            <p:cNvSpPr/>
            <p:nvPr/>
          </p:nvSpPr>
          <p:spPr>
            <a:xfrm>
              <a:off x="4371627" y="889414"/>
              <a:ext cx="846455" cy="360045"/>
            </a:xfrm>
            <a:custGeom>
              <a:avLst/>
              <a:gdLst/>
              <a:ahLst/>
              <a:cxnLst/>
              <a:rect l="l" t="t" r="r" b="b"/>
              <a:pathLst>
                <a:path w="846454" h="360044">
                  <a:moveTo>
                    <a:pt x="782749" y="0"/>
                  </a:moveTo>
                  <a:lnTo>
                    <a:pt x="63263" y="0"/>
                  </a:lnTo>
                  <a:lnTo>
                    <a:pt x="38638" y="4971"/>
                  </a:lnTo>
                  <a:lnTo>
                    <a:pt x="18529" y="18529"/>
                  </a:lnTo>
                  <a:lnTo>
                    <a:pt x="4971" y="38638"/>
                  </a:lnTo>
                  <a:lnTo>
                    <a:pt x="0" y="63263"/>
                  </a:lnTo>
                  <a:lnTo>
                    <a:pt x="0" y="296740"/>
                  </a:lnTo>
                  <a:lnTo>
                    <a:pt x="4971" y="321365"/>
                  </a:lnTo>
                  <a:lnTo>
                    <a:pt x="18529" y="341474"/>
                  </a:lnTo>
                  <a:lnTo>
                    <a:pt x="38638" y="355032"/>
                  </a:lnTo>
                  <a:lnTo>
                    <a:pt x="63263" y="360004"/>
                  </a:lnTo>
                  <a:lnTo>
                    <a:pt x="782749" y="360004"/>
                  </a:lnTo>
                  <a:lnTo>
                    <a:pt x="807374" y="355032"/>
                  </a:lnTo>
                  <a:lnTo>
                    <a:pt x="827483" y="341474"/>
                  </a:lnTo>
                  <a:lnTo>
                    <a:pt x="841041" y="321365"/>
                  </a:lnTo>
                  <a:lnTo>
                    <a:pt x="846012" y="296740"/>
                  </a:lnTo>
                  <a:lnTo>
                    <a:pt x="846012" y="63263"/>
                  </a:lnTo>
                  <a:lnTo>
                    <a:pt x="841041" y="38638"/>
                  </a:lnTo>
                  <a:lnTo>
                    <a:pt x="827483" y="18529"/>
                  </a:lnTo>
                  <a:lnTo>
                    <a:pt x="807374" y="4971"/>
                  </a:lnTo>
                  <a:lnTo>
                    <a:pt x="782749" y="0"/>
                  </a:lnTo>
                  <a:close/>
                </a:path>
              </a:pathLst>
            </a:custGeom>
            <a:solidFill>
              <a:srgbClr val="0C18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4371627" y="889414"/>
              <a:ext cx="846455" cy="360045"/>
            </a:xfrm>
            <a:custGeom>
              <a:avLst/>
              <a:gdLst/>
              <a:ahLst/>
              <a:cxnLst/>
              <a:rect l="l" t="t" r="r" b="b"/>
              <a:pathLst>
                <a:path w="846454" h="360044">
                  <a:moveTo>
                    <a:pt x="782749" y="0"/>
                  </a:moveTo>
                  <a:lnTo>
                    <a:pt x="63263" y="0"/>
                  </a:lnTo>
                  <a:lnTo>
                    <a:pt x="38638" y="4971"/>
                  </a:lnTo>
                  <a:lnTo>
                    <a:pt x="18529" y="18529"/>
                  </a:lnTo>
                  <a:lnTo>
                    <a:pt x="4971" y="38638"/>
                  </a:lnTo>
                  <a:lnTo>
                    <a:pt x="0" y="63263"/>
                  </a:lnTo>
                  <a:lnTo>
                    <a:pt x="0" y="296740"/>
                  </a:lnTo>
                  <a:lnTo>
                    <a:pt x="4971" y="321365"/>
                  </a:lnTo>
                  <a:lnTo>
                    <a:pt x="18529" y="341474"/>
                  </a:lnTo>
                  <a:lnTo>
                    <a:pt x="38638" y="355032"/>
                  </a:lnTo>
                  <a:lnTo>
                    <a:pt x="63263" y="360004"/>
                  </a:lnTo>
                  <a:lnTo>
                    <a:pt x="782749" y="360004"/>
                  </a:lnTo>
                  <a:lnTo>
                    <a:pt x="807374" y="355032"/>
                  </a:lnTo>
                  <a:lnTo>
                    <a:pt x="827483" y="341474"/>
                  </a:lnTo>
                  <a:lnTo>
                    <a:pt x="841041" y="321365"/>
                  </a:lnTo>
                  <a:lnTo>
                    <a:pt x="846012" y="296740"/>
                  </a:lnTo>
                  <a:lnTo>
                    <a:pt x="846012" y="63263"/>
                  </a:lnTo>
                  <a:lnTo>
                    <a:pt x="841041" y="38638"/>
                  </a:lnTo>
                  <a:lnTo>
                    <a:pt x="827483" y="18529"/>
                  </a:lnTo>
                  <a:lnTo>
                    <a:pt x="807374" y="4971"/>
                  </a:lnTo>
                  <a:lnTo>
                    <a:pt x="782749" y="0"/>
                  </a:lnTo>
                  <a:close/>
                </a:path>
              </a:pathLst>
            </a:custGeom>
            <a:ln w="5060">
              <a:solidFill>
                <a:srgbClr val="308C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4606188" y="974107"/>
            <a:ext cx="37719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10" dirty="0">
                <a:solidFill>
                  <a:srgbClr val="F4F8FC"/>
                </a:solidFill>
                <a:latin typeface="Arial MT"/>
                <a:cs typeface="Arial MT"/>
              </a:rPr>
              <a:t>Detect</a:t>
            </a:r>
            <a:endParaRPr sz="1000">
              <a:latin typeface="Arial MT"/>
              <a:cs typeface="Arial MT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5371362" y="886874"/>
            <a:ext cx="391795" cy="365125"/>
            <a:chOff x="5371362" y="886874"/>
            <a:chExt cx="391795" cy="365125"/>
          </a:xfrm>
        </p:grpSpPr>
        <p:sp>
          <p:nvSpPr>
            <p:cNvPr id="24" name="object 24"/>
            <p:cNvSpPr/>
            <p:nvPr/>
          </p:nvSpPr>
          <p:spPr>
            <a:xfrm>
              <a:off x="5373902" y="889414"/>
              <a:ext cx="386715" cy="360045"/>
            </a:xfrm>
            <a:custGeom>
              <a:avLst/>
              <a:gdLst/>
              <a:ahLst/>
              <a:cxnLst/>
              <a:rect l="l" t="t" r="r" b="b"/>
              <a:pathLst>
                <a:path w="386714" h="360044">
                  <a:moveTo>
                    <a:pt x="386093" y="0"/>
                  </a:moveTo>
                  <a:lnTo>
                    <a:pt x="63263" y="0"/>
                  </a:lnTo>
                  <a:lnTo>
                    <a:pt x="38638" y="4971"/>
                  </a:lnTo>
                  <a:lnTo>
                    <a:pt x="18529" y="18529"/>
                  </a:lnTo>
                  <a:lnTo>
                    <a:pt x="4971" y="38638"/>
                  </a:lnTo>
                  <a:lnTo>
                    <a:pt x="0" y="63263"/>
                  </a:lnTo>
                  <a:lnTo>
                    <a:pt x="0" y="296740"/>
                  </a:lnTo>
                  <a:lnTo>
                    <a:pt x="4971" y="321365"/>
                  </a:lnTo>
                  <a:lnTo>
                    <a:pt x="18529" y="341474"/>
                  </a:lnTo>
                  <a:lnTo>
                    <a:pt x="38638" y="355032"/>
                  </a:lnTo>
                  <a:lnTo>
                    <a:pt x="63263" y="360004"/>
                  </a:lnTo>
                  <a:lnTo>
                    <a:pt x="386093" y="360004"/>
                  </a:lnTo>
                  <a:lnTo>
                    <a:pt x="386093" y="0"/>
                  </a:lnTo>
                  <a:close/>
                </a:path>
              </a:pathLst>
            </a:custGeom>
            <a:solidFill>
              <a:srgbClr val="0C18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5373902" y="889414"/>
              <a:ext cx="386715" cy="360045"/>
            </a:xfrm>
            <a:custGeom>
              <a:avLst/>
              <a:gdLst/>
              <a:ahLst/>
              <a:cxnLst/>
              <a:rect l="l" t="t" r="r" b="b"/>
              <a:pathLst>
                <a:path w="386714" h="360044">
                  <a:moveTo>
                    <a:pt x="386093" y="0"/>
                  </a:moveTo>
                  <a:lnTo>
                    <a:pt x="63263" y="0"/>
                  </a:lnTo>
                  <a:lnTo>
                    <a:pt x="38638" y="4971"/>
                  </a:lnTo>
                  <a:lnTo>
                    <a:pt x="18529" y="18529"/>
                  </a:lnTo>
                  <a:lnTo>
                    <a:pt x="4971" y="38638"/>
                  </a:lnTo>
                  <a:lnTo>
                    <a:pt x="0" y="63263"/>
                  </a:lnTo>
                  <a:lnTo>
                    <a:pt x="0" y="296740"/>
                  </a:lnTo>
                  <a:lnTo>
                    <a:pt x="4971" y="321365"/>
                  </a:lnTo>
                  <a:lnTo>
                    <a:pt x="18529" y="341474"/>
                  </a:lnTo>
                  <a:lnTo>
                    <a:pt x="38638" y="355032"/>
                  </a:lnTo>
                  <a:lnTo>
                    <a:pt x="63263" y="360004"/>
                  </a:lnTo>
                  <a:lnTo>
                    <a:pt x="386093" y="360004"/>
                  </a:lnTo>
                </a:path>
              </a:pathLst>
            </a:custGeom>
            <a:ln w="5060">
              <a:solidFill>
                <a:srgbClr val="308C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5665558" y="975860"/>
            <a:ext cx="10668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50" dirty="0">
                <a:solidFill>
                  <a:srgbClr val="F4F8FC"/>
                </a:solidFill>
                <a:latin typeface="Arial MT"/>
                <a:cs typeface="Arial MT"/>
              </a:rPr>
              <a:t>P</a:t>
            </a:r>
            <a:endParaRPr sz="1000">
              <a:latin typeface="Arial MT"/>
              <a:cs typeface="Arial MT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1211069" y="1035185"/>
            <a:ext cx="4137025" cy="68580"/>
            <a:chOff x="1211069" y="1035185"/>
            <a:chExt cx="4137025" cy="68580"/>
          </a:xfrm>
        </p:grpSpPr>
        <p:pic>
          <p:nvPicPr>
            <p:cNvPr id="28" name="object 2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11069" y="1035185"/>
              <a:ext cx="127491" cy="68460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213345" y="1035185"/>
              <a:ext cx="127491" cy="68460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215620" y="1035185"/>
              <a:ext cx="127491" cy="68460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217895" y="1035185"/>
              <a:ext cx="127491" cy="68460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220170" y="1035185"/>
              <a:ext cx="127491" cy="68460"/>
            </a:xfrm>
            <a:prstGeom prst="rect">
              <a:avLst/>
            </a:prstGeom>
          </p:spPr>
        </p:pic>
      </p:grpSp>
      <p:grpSp>
        <p:nvGrpSpPr>
          <p:cNvPr id="33" name="object 33"/>
          <p:cNvGrpSpPr/>
          <p:nvPr/>
        </p:nvGrpSpPr>
        <p:grpSpPr>
          <a:xfrm>
            <a:off x="933451" y="1624584"/>
            <a:ext cx="3893185" cy="965835"/>
            <a:chOff x="933451" y="1624584"/>
            <a:chExt cx="3893185" cy="965835"/>
          </a:xfrm>
        </p:grpSpPr>
        <p:sp>
          <p:nvSpPr>
            <p:cNvPr id="34" name="object 34"/>
            <p:cNvSpPr/>
            <p:nvPr/>
          </p:nvSpPr>
          <p:spPr>
            <a:xfrm>
              <a:off x="935981" y="1627114"/>
              <a:ext cx="3888104" cy="960755"/>
            </a:xfrm>
            <a:custGeom>
              <a:avLst/>
              <a:gdLst/>
              <a:ahLst/>
              <a:cxnLst/>
              <a:rect l="l" t="t" r="r" b="b"/>
              <a:pathLst>
                <a:path w="3888104" h="960755">
                  <a:moveTo>
                    <a:pt x="3786823" y="0"/>
                  </a:moveTo>
                  <a:lnTo>
                    <a:pt x="101221" y="0"/>
                  </a:lnTo>
                  <a:lnTo>
                    <a:pt x="61821" y="7954"/>
                  </a:lnTo>
                  <a:lnTo>
                    <a:pt x="29646" y="29646"/>
                  </a:lnTo>
                  <a:lnTo>
                    <a:pt x="7954" y="61821"/>
                  </a:lnTo>
                  <a:lnTo>
                    <a:pt x="0" y="101221"/>
                  </a:lnTo>
                  <a:lnTo>
                    <a:pt x="0" y="859069"/>
                  </a:lnTo>
                  <a:lnTo>
                    <a:pt x="7954" y="898469"/>
                  </a:lnTo>
                  <a:lnTo>
                    <a:pt x="29646" y="930644"/>
                  </a:lnTo>
                  <a:lnTo>
                    <a:pt x="61821" y="952336"/>
                  </a:lnTo>
                  <a:lnTo>
                    <a:pt x="101221" y="960290"/>
                  </a:lnTo>
                  <a:lnTo>
                    <a:pt x="3786823" y="960290"/>
                  </a:lnTo>
                  <a:lnTo>
                    <a:pt x="3826223" y="952336"/>
                  </a:lnTo>
                  <a:lnTo>
                    <a:pt x="3858398" y="930644"/>
                  </a:lnTo>
                  <a:lnTo>
                    <a:pt x="3880090" y="898469"/>
                  </a:lnTo>
                  <a:lnTo>
                    <a:pt x="3888045" y="859069"/>
                  </a:lnTo>
                  <a:lnTo>
                    <a:pt x="3888045" y="101221"/>
                  </a:lnTo>
                  <a:lnTo>
                    <a:pt x="3880090" y="61821"/>
                  </a:lnTo>
                  <a:lnTo>
                    <a:pt x="3858398" y="29646"/>
                  </a:lnTo>
                  <a:lnTo>
                    <a:pt x="3826223" y="7954"/>
                  </a:lnTo>
                  <a:lnTo>
                    <a:pt x="3786823" y="0"/>
                  </a:lnTo>
                  <a:close/>
                </a:path>
              </a:pathLst>
            </a:custGeom>
            <a:solidFill>
              <a:srgbClr val="0C18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935981" y="1627114"/>
              <a:ext cx="3888104" cy="960755"/>
            </a:xfrm>
            <a:custGeom>
              <a:avLst/>
              <a:gdLst/>
              <a:ahLst/>
              <a:cxnLst/>
              <a:rect l="l" t="t" r="r" b="b"/>
              <a:pathLst>
                <a:path w="3888104" h="960755">
                  <a:moveTo>
                    <a:pt x="3786823" y="0"/>
                  </a:moveTo>
                  <a:lnTo>
                    <a:pt x="101221" y="0"/>
                  </a:lnTo>
                  <a:lnTo>
                    <a:pt x="61821" y="7954"/>
                  </a:lnTo>
                  <a:lnTo>
                    <a:pt x="29646" y="29646"/>
                  </a:lnTo>
                  <a:lnTo>
                    <a:pt x="7954" y="61821"/>
                  </a:lnTo>
                  <a:lnTo>
                    <a:pt x="0" y="101221"/>
                  </a:lnTo>
                  <a:lnTo>
                    <a:pt x="0" y="859069"/>
                  </a:lnTo>
                  <a:lnTo>
                    <a:pt x="7954" y="898469"/>
                  </a:lnTo>
                  <a:lnTo>
                    <a:pt x="29646" y="930644"/>
                  </a:lnTo>
                  <a:lnTo>
                    <a:pt x="61821" y="952336"/>
                  </a:lnTo>
                  <a:lnTo>
                    <a:pt x="101221" y="960290"/>
                  </a:lnTo>
                  <a:lnTo>
                    <a:pt x="3786823" y="960290"/>
                  </a:lnTo>
                  <a:lnTo>
                    <a:pt x="3826223" y="952336"/>
                  </a:lnTo>
                  <a:lnTo>
                    <a:pt x="3858398" y="930644"/>
                  </a:lnTo>
                  <a:lnTo>
                    <a:pt x="3880090" y="898469"/>
                  </a:lnTo>
                  <a:lnTo>
                    <a:pt x="3888045" y="859069"/>
                  </a:lnTo>
                  <a:lnTo>
                    <a:pt x="3888045" y="101221"/>
                  </a:lnTo>
                  <a:lnTo>
                    <a:pt x="3880090" y="61821"/>
                  </a:lnTo>
                  <a:lnTo>
                    <a:pt x="3858398" y="29646"/>
                  </a:lnTo>
                  <a:lnTo>
                    <a:pt x="3826223" y="7954"/>
                  </a:lnTo>
                  <a:lnTo>
                    <a:pt x="3786823" y="0"/>
                  </a:lnTo>
                  <a:close/>
                </a:path>
              </a:pathLst>
            </a:custGeom>
            <a:ln w="5060">
              <a:solidFill>
                <a:srgbClr val="27D2D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object 36"/>
          <p:cNvSpPr txBox="1"/>
          <p:nvPr/>
        </p:nvSpPr>
        <p:spPr>
          <a:xfrm>
            <a:off x="1516303" y="1642240"/>
            <a:ext cx="2727960" cy="815340"/>
          </a:xfrm>
          <a:prstGeom prst="rect">
            <a:avLst/>
          </a:prstGeom>
        </p:spPr>
        <p:txBody>
          <a:bodyPr vert="horz" wrap="square" lIns="0" tIns="8001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630"/>
              </a:spcBef>
            </a:pPr>
            <a:r>
              <a:rPr sz="1400" b="1" dirty="0">
                <a:solidFill>
                  <a:srgbClr val="F4F8FC"/>
                </a:solidFill>
                <a:latin typeface="Arial"/>
                <a:cs typeface="Arial"/>
              </a:rPr>
              <a:t>Raw</a:t>
            </a:r>
            <a:r>
              <a:rPr sz="1400" b="1" spc="-35" dirty="0">
                <a:solidFill>
                  <a:srgbClr val="F4F8FC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F4F8FC"/>
                </a:solidFill>
                <a:latin typeface="Arial"/>
                <a:cs typeface="Arial"/>
              </a:rPr>
              <a:t>financial</a:t>
            </a:r>
            <a:r>
              <a:rPr sz="1400" b="1" spc="-35" dirty="0">
                <a:solidFill>
                  <a:srgbClr val="F4F8FC"/>
                </a:solidFill>
                <a:latin typeface="Arial"/>
                <a:cs typeface="Arial"/>
              </a:rPr>
              <a:t> </a:t>
            </a:r>
            <a:r>
              <a:rPr sz="1400" b="1" spc="-10" dirty="0">
                <a:solidFill>
                  <a:srgbClr val="F4F8FC"/>
                </a:solidFill>
                <a:latin typeface="Arial"/>
                <a:cs typeface="Arial"/>
              </a:rPr>
              <a:t>records</a:t>
            </a:r>
            <a:endParaRPr sz="14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540"/>
              </a:spcBef>
            </a:pPr>
            <a:r>
              <a:rPr sz="1400" spc="-50" dirty="0">
                <a:solidFill>
                  <a:srgbClr val="27D2DC"/>
                </a:solidFill>
                <a:latin typeface="Lucida Sans Unicode"/>
                <a:cs typeface="Lucida Sans Unicode"/>
              </a:rPr>
              <a:t>⇓</a:t>
            </a:r>
            <a:endParaRPr sz="1400">
              <a:latin typeface="Lucida Sans Unicode"/>
              <a:cs typeface="Lucida Sans Unicode"/>
            </a:endParaRPr>
          </a:p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solidFill>
                  <a:srgbClr val="27D2DC"/>
                </a:solidFill>
                <a:latin typeface="Arial"/>
                <a:cs typeface="Arial"/>
              </a:rPr>
              <a:t>Actionable</a:t>
            </a:r>
            <a:r>
              <a:rPr sz="1400" b="1" spc="-55" dirty="0">
                <a:solidFill>
                  <a:srgbClr val="27D2DC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27D2DC"/>
                </a:solidFill>
                <a:latin typeface="Arial"/>
                <a:cs typeface="Arial"/>
              </a:rPr>
              <a:t>financial</a:t>
            </a:r>
            <a:r>
              <a:rPr sz="1400" b="1" spc="-55" dirty="0">
                <a:solidFill>
                  <a:srgbClr val="27D2DC"/>
                </a:solidFill>
                <a:latin typeface="Arial"/>
                <a:cs typeface="Arial"/>
              </a:rPr>
              <a:t> </a:t>
            </a:r>
            <a:r>
              <a:rPr sz="1400" b="1" spc="-10" dirty="0">
                <a:solidFill>
                  <a:srgbClr val="27D2DC"/>
                </a:solidFill>
                <a:latin typeface="Arial"/>
                <a:cs typeface="Arial"/>
              </a:rPr>
              <a:t>intelligence</a:t>
            </a:r>
            <a:endParaRPr sz="1400">
              <a:latin typeface="Arial"/>
              <a:cs typeface="Arial"/>
            </a:endParaRPr>
          </a:p>
        </p:txBody>
      </p:sp>
      <p:sp>
        <p:nvSpPr>
          <p:cNvPr id="37" name="object 3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/>
              <a:t>FinPilot</a:t>
            </a:r>
            <a:r>
              <a:rPr spc="45" dirty="0"/>
              <a:t> </a:t>
            </a:r>
            <a:r>
              <a:rPr dirty="0"/>
              <a:t>—</a:t>
            </a:r>
            <a:r>
              <a:rPr spc="50" dirty="0"/>
              <a:t> </a:t>
            </a:r>
            <a:r>
              <a:rPr dirty="0"/>
              <a:t>AI</a:t>
            </a:r>
            <a:r>
              <a:rPr spc="55" dirty="0"/>
              <a:t> </a:t>
            </a:r>
            <a:r>
              <a:rPr spc="-20" dirty="0"/>
              <a:t>Personal</a:t>
            </a:r>
            <a:r>
              <a:rPr spc="50" dirty="0"/>
              <a:t> </a:t>
            </a:r>
            <a:r>
              <a:rPr spc="-20" dirty="0"/>
              <a:t>Finance</a:t>
            </a:r>
            <a:r>
              <a:rPr spc="55" dirty="0"/>
              <a:t> </a:t>
            </a:r>
            <a:r>
              <a:rPr spc="-10" dirty="0"/>
              <a:t>Decision</a:t>
            </a:r>
            <a:r>
              <a:rPr spc="50" dirty="0"/>
              <a:t> </a:t>
            </a:r>
            <a:r>
              <a:rPr dirty="0"/>
              <a:t>Support</a:t>
            </a:r>
            <a:r>
              <a:rPr spc="45" dirty="0"/>
              <a:t> </a:t>
            </a:r>
            <a:r>
              <a:rPr spc="-10" dirty="0"/>
              <a:t>Agent</a:t>
            </a:r>
          </a:p>
        </p:txBody>
      </p:sp>
      <p:sp>
        <p:nvSpPr>
          <p:cNvPr id="38" name="object 3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pc="-25" dirty="0"/>
              <a:t>27</a:t>
            </a:r>
          </a:p>
        </p:txBody>
      </p:sp>
    </p:spTree>
  </p:cSld>
  <p:clrMapOvr>
    <a:masterClrMapping/>
  </p:clrMapOvr>
  <p:transition>
    <p:cut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Live</a:t>
            </a:r>
            <a:r>
              <a:rPr spc="254" dirty="0"/>
              <a:t> </a:t>
            </a:r>
            <a:r>
              <a:rPr dirty="0"/>
              <a:t>Demonstration</a:t>
            </a:r>
            <a:r>
              <a:rPr spc="254" dirty="0"/>
              <a:t> </a:t>
            </a:r>
            <a:r>
              <a:rPr spc="-20" dirty="0"/>
              <a:t>Flow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/>
              <a:t>FinPilot</a:t>
            </a:r>
            <a:r>
              <a:rPr spc="45" dirty="0"/>
              <a:t> </a:t>
            </a:r>
            <a:r>
              <a:rPr dirty="0"/>
              <a:t>—</a:t>
            </a:r>
            <a:r>
              <a:rPr spc="50" dirty="0"/>
              <a:t> </a:t>
            </a:r>
            <a:r>
              <a:rPr dirty="0"/>
              <a:t>AI</a:t>
            </a:r>
            <a:r>
              <a:rPr spc="55" dirty="0"/>
              <a:t> </a:t>
            </a:r>
            <a:r>
              <a:rPr spc="-20" dirty="0"/>
              <a:t>Personal</a:t>
            </a:r>
            <a:r>
              <a:rPr spc="50" dirty="0"/>
              <a:t> </a:t>
            </a:r>
            <a:r>
              <a:rPr spc="-20" dirty="0"/>
              <a:t>Finance</a:t>
            </a:r>
            <a:r>
              <a:rPr spc="55" dirty="0"/>
              <a:t> </a:t>
            </a:r>
            <a:r>
              <a:rPr spc="-10" dirty="0"/>
              <a:t>Decision</a:t>
            </a:r>
            <a:r>
              <a:rPr spc="50" dirty="0"/>
              <a:t> </a:t>
            </a:r>
            <a:r>
              <a:rPr dirty="0"/>
              <a:t>Support</a:t>
            </a:r>
            <a:r>
              <a:rPr spc="45" dirty="0"/>
              <a:t> </a:t>
            </a:r>
            <a:r>
              <a:rPr spc="-10" dirty="0"/>
              <a:t>Agent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pc="-25" dirty="0"/>
              <a:t>28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48055" y="449894"/>
            <a:ext cx="4137660" cy="2383790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186690" indent="-173990">
              <a:lnSpc>
                <a:spcPct val="100000"/>
              </a:lnSpc>
              <a:spcBef>
                <a:spcPts val="434"/>
              </a:spcBef>
              <a:buClr>
                <a:srgbClr val="3333B2"/>
              </a:buClr>
              <a:buFont typeface="Arial MT"/>
              <a:buAutoNum type="arabicPeriod"/>
              <a:tabLst>
                <a:tab pos="186690" algn="l"/>
              </a:tabLst>
            </a:pPr>
            <a:r>
              <a:rPr sz="1100" b="1" spc="-25" dirty="0">
                <a:solidFill>
                  <a:srgbClr val="27D2DC"/>
                </a:solidFill>
                <a:latin typeface="Arial"/>
                <a:cs typeface="Arial"/>
              </a:rPr>
              <a:t>Load</a:t>
            </a:r>
            <a:r>
              <a:rPr sz="1100" b="1" spc="-10" dirty="0">
                <a:solidFill>
                  <a:srgbClr val="27D2DC"/>
                </a:solidFill>
                <a:latin typeface="Arial"/>
                <a:cs typeface="Arial"/>
              </a:rPr>
              <a:t> </a:t>
            </a:r>
            <a:r>
              <a:rPr sz="1100" b="1" spc="-30" dirty="0">
                <a:solidFill>
                  <a:srgbClr val="27D2DC"/>
                </a:solidFill>
                <a:latin typeface="Arial"/>
                <a:cs typeface="Arial"/>
              </a:rPr>
              <a:t>financial</a:t>
            </a:r>
            <a:r>
              <a:rPr sz="1100" b="1" spc="-10" dirty="0">
                <a:solidFill>
                  <a:srgbClr val="27D2DC"/>
                </a:solidFill>
                <a:latin typeface="Arial"/>
                <a:cs typeface="Arial"/>
              </a:rPr>
              <a:t> </a:t>
            </a:r>
            <a:r>
              <a:rPr sz="1100" b="1" spc="-20" dirty="0">
                <a:solidFill>
                  <a:srgbClr val="27D2DC"/>
                </a:solidFill>
                <a:latin typeface="Arial"/>
                <a:cs typeface="Arial"/>
              </a:rPr>
              <a:t>data</a:t>
            </a:r>
            <a:endParaRPr sz="1100">
              <a:latin typeface="Arial"/>
              <a:cs typeface="Arial"/>
            </a:endParaRPr>
          </a:p>
          <a:p>
            <a:pPr marL="186690" indent="-173990">
              <a:lnSpc>
                <a:spcPct val="100000"/>
              </a:lnSpc>
              <a:spcBef>
                <a:spcPts val="334"/>
              </a:spcBef>
              <a:buClr>
                <a:srgbClr val="3333B2"/>
              </a:buClr>
              <a:buFont typeface="Arial MT"/>
              <a:buAutoNum type="arabicPeriod"/>
              <a:tabLst>
                <a:tab pos="186690" algn="l"/>
              </a:tabLst>
            </a:pPr>
            <a:r>
              <a:rPr sz="1100" b="1" spc="-40" dirty="0">
                <a:solidFill>
                  <a:srgbClr val="27D2DC"/>
                </a:solidFill>
                <a:latin typeface="Arial"/>
                <a:cs typeface="Arial"/>
              </a:rPr>
              <a:t>Review</a:t>
            </a:r>
            <a:r>
              <a:rPr sz="1100" b="1" dirty="0">
                <a:solidFill>
                  <a:srgbClr val="27D2DC"/>
                </a:solidFill>
                <a:latin typeface="Arial"/>
                <a:cs typeface="Arial"/>
              </a:rPr>
              <a:t> </a:t>
            </a:r>
            <a:r>
              <a:rPr sz="1100" b="1" spc="-35" dirty="0">
                <a:solidFill>
                  <a:srgbClr val="27D2DC"/>
                </a:solidFill>
                <a:latin typeface="Arial"/>
                <a:cs typeface="Arial"/>
              </a:rPr>
              <a:t>Executive</a:t>
            </a:r>
            <a:r>
              <a:rPr sz="1100" b="1" spc="5" dirty="0">
                <a:solidFill>
                  <a:srgbClr val="27D2DC"/>
                </a:solidFill>
                <a:latin typeface="Arial"/>
                <a:cs typeface="Arial"/>
              </a:rPr>
              <a:t> </a:t>
            </a:r>
            <a:r>
              <a:rPr sz="1100" b="1" spc="-10" dirty="0">
                <a:solidFill>
                  <a:srgbClr val="27D2DC"/>
                </a:solidFill>
                <a:latin typeface="Arial"/>
                <a:cs typeface="Arial"/>
              </a:rPr>
              <a:t>Overview</a:t>
            </a:r>
            <a:endParaRPr sz="1100">
              <a:latin typeface="Arial"/>
              <a:cs typeface="Arial"/>
            </a:endParaRPr>
          </a:p>
          <a:p>
            <a:pPr marL="186690" indent="-173990">
              <a:lnSpc>
                <a:spcPct val="100000"/>
              </a:lnSpc>
              <a:spcBef>
                <a:spcPts val="330"/>
              </a:spcBef>
              <a:buClr>
                <a:srgbClr val="3333B2"/>
              </a:buClr>
              <a:buFont typeface="Arial MT"/>
              <a:buAutoNum type="arabicPeriod"/>
              <a:tabLst>
                <a:tab pos="186690" algn="l"/>
              </a:tabLst>
            </a:pPr>
            <a:r>
              <a:rPr sz="1100" b="1" spc="-30" dirty="0">
                <a:solidFill>
                  <a:srgbClr val="27D2DC"/>
                </a:solidFill>
                <a:latin typeface="Arial"/>
                <a:cs typeface="Arial"/>
              </a:rPr>
              <a:t>Inspect</a:t>
            </a:r>
            <a:r>
              <a:rPr sz="1100" b="1" spc="-10" dirty="0">
                <a:solidFill>
                  <a:srgbClr val="27D2DC"/>
                </a:solidFill>
                <a:latin typeface="Arial"/>
                <a:cs typeface="Arial"/>
              </a:rPr>
              <a:t> transactions</a:t>
            </a:r>
            <a:endParaRPr sz="1100">
              <a:latin typeface="Arial"/>
              <a:cs typeface="Arial"/>
            </a:endParaRPr>
          </a:p>
          <a:p>
            <a:pPr marL="186690" indent="-173990">
              <a:lnSpc>
                <a:spcPct val="100000"/>
              </a:lnSpc>
              <a:spcBef>
                <a:spcPts val="335"/>
              </a:spcBef>
              <a:buClr>
                <a:srgbClr val="3333B2"/>
              </a:buClr>
              <a:buFont typeface="Arial MT"/>
              <a:buAutoNum type="arabicPeriod"/>
              <a:tabLst>
                <a:tab pos="186690" algn="l"/>
              </a:tabLst>
            </a:pPr>
            <a:r>
              <a:rPr sz="1100" b="1" spc="-35" dirty="0">
                <a:solidFill>
                  <a:srgbClr val="27D2DC"/>
                </a:solidFill>
                <a:latin typeface="Arial"/>
                <a:cs typeface="Arial"/>
              </a:rPr>
              <a:t>Check</a:t>
            </a:r>
            <a:r>
              <a:rPr sz="1100" b="1" spc="15" dirty="0">
                <a:solidFill>
                  <a:srgbClr val="27D2DC"/>
                </a:solidFill>
                <a:latin typeface="Arial"/>
                <a:cs typeface="Arial"/>
              </a:rPr>
              <a:t> </a:t>
            </a:r>
            <a:r>
              <a:rPr sz="1100" b="1" spc="-65" dirty="0">
                <a:solidFill>
                  <a:srgbClr val="27D2DC"/>
                </a:solidFill>
                <a:latin typeface="Arial"/>
                <a:cs typeface="Arial"/>
              </a:rPr>
              <a:t>subscriptions</a:t>
            </a:r>
            <a:r>
              <a:rPr sz="1100" b="1" spc="15" dirty="0">
                <a:solidFill>
                  <a:srgbClr val="27D2DC"/>
                </a:solidFill>
                <a:latin typeface="Arial"/>
                <a:cs typeface="Arial"/>
              </a:rPr>
              <a:t> </a:t>
            </a:r>
            <a:r>
              <a:rPr sz="1100" b="1" spc="-10" dirty="0">
                <a:solidFill>
                  <a:srgbClr val="27D2DC"/>
                </a:solidFill>
                <a:latin typeface="Arial"/>
                <a:cs typeface="Arial"/>
              </a:rPr>
              <a:t>and</a:t>
            </a:r>
            <a:r>
              <a:rPr sz="1100" b="1" spc="10" dirty="0">
                <a:solidFill>
                  <a:srgbClr val="27D2DC"/>
                </a:solidFill>
                <a:latin typeface="Arial"/>
                <a:cs typeface="Arial"/>
              </a:rPr>
              <a:t> </a:t>
            </a:r>
            <a:r>
              <a:rPr sz="1100" b="1" spc="-10" dirty="0">
                <a:solidFill>
                  <a:srgbClr val="27D2DC"/>
                </a:solidFill>
                <a:latin typeface="Arial"/>
                <a:cs typeface="Arial"/>
              </a:rPr>
              <a:t>anomalies</a:t>
            </a:r>
            <a:endParaRPr sz="1100">
              <a:latin typeface="Arial"/>
              <a:cs typeface="Arial"/>
            </a:endParaRPr>
          </a:p>
          <a:p>
            <a:pPr marL="186690" indent="-173990">
              <a:lnSpc>
                <a:spcPct val="100000"/>
              </a:lnSpc>
              <a:spcBef>
                <a:spcPts val="335"/>
              </a:spcBef>
              <a:buClr>
                <a:srgbClr val="3333B2"/>
              </a:buClr>
              <a:buFont typeface="Arial MT"/>
              <a:buAutoNum type="arabicPeriod"/>
              <a:tabLst>
                <a:tab pos="186690" algn="l"/>
              </a:tabLst>
            </a:pPr>
            <a:r>
              <a:rPr sz="1100" b="1" spc="-10" dirty="0">
                <a:solidFill>
                  <a:srgbClr val="27D2DC"/>
                </a:solidFill>
                <a:latin typeface="Arial"/>
                <a:cs typeface="Arial"/>
              </a:rPr>
              <a:t>Create</a:t>
            </a:r>
            <a:r>
              <a:rPr sz="1100" b="1" dirty="0">
                <a:solidFill>
                  <a:srgbClr val="27D2DC"/>
                </a:solidFill>
                <a:latin typeface="Arial"/>
                <a:cs typeface="Arial"/>
              </a:rPr>
              <a:t> a</a:t>
            </a:r>
            <a:r>
              <a:rPr sz="1100" b="1" spc="5" dirty="0">
                <a:solidFill>
                  <a:srgbClr val="27D2DC"/>
                </a:solidFill>
                <a:latin typeface="Arial"/>
                <a:cs typeface="Arial"/>
              </a:rPr>
              <a:t> </a:t>
            </a:r>
            <a:r>
              <a:rPr sz="1100" b="1" spc="-10" dirty="0">
                <a:solidFill>
                  <a:srgbClr val="27D2DC"/>
                </a:solidFill>
                <a:latin typeface="Arial"/>
                <a:cs typeface="Arial"/>
              </a:rPr>
              <a:t>budget</a:t>
            </a:r>
            <a:endParaRPr sz="1100">
              <a:latin typeface="Arial"/>
              <a:cs typeface="Arial"/>
            </a:endParaRPr>
          </a:p>
          <a:p>
            <a:pPr marL="186690" indent="-173990">
              <a:lnSpc>
                <a:spcPct val="100000"/>
              </a:lnSpc>
              <a:spcBef>
                <a:spcPts val="334"/>
              </a:spcBef>
              <a:buClr>
                <a:srgbClr val="3333B2"/>
              </a:buClr>
              <a:buFont typeface="Arial MT"/>
              <a:buAutoNum type="arabicPeriod"/>
              <a:tabLst>
                <a:tab pos="186690" algn="l"/>
              </a:tabLst>
            </a:pPr>
            <a:r>
              <a:rPr sz="1100" b="1" spc="-10" dirty="0">
                <a:solidFill>
                  <a:srgbClr val="27D2DC"/>
                </a:solidFill>
                <a:latin typeface="Arial"/>
                <a:cs typeface="Arial"/>
              </a:rPr>
              <a:t>Create</a:t>
            </a:r>
            <a:r>
              <a:rPr sz="1100" b="1" dirty="0">
                <a:solidFill>
                  <a:srgbClr val="27D2DC"/>
                </a:solidFill>
                <a:latin typeface="Arial"/>
                <a:cs typeface="Arial"/>
              </a:rPr>
              <a:t> a</a:t>
            </a:r>
            <a:r>
              <a:rPr sz="1100" b="1" spc="10" dirty="0">
                <a:solidFill>
                  <a:srgbClr val="27D2DC"/>
                </a:solidFill>
                <a:latin typeface="Arial"/>
                <a:cs typeface="Arial"/>
              </a:rPr>
              <a:t> </a:t>
            </a:r>
            <a:r>
              <a:rPr sz="1100" b="1" spc="-70" dirty="0">
                <a:solidFill>
                  <a:srgbClr val="27D2DC"/>
                </a:solidFill>
                <a:latin typeface="Arial"/>
                <a:cs typeface="Arial"/>
              </a:rPr>
              <a:t>savings</a:t>
            </a:r>
            <a:r>
              <a:rPr sz="1100" b="1" spc="5" dirty="0">
                <a:solidFill>
                  <a:srgbClr val="27D2DC"/>
                </a:solidFill>
                <a:latin typeface="Arial"/>
                <a:cs typeface="Arial"/>
              </a:rPr>
              <a:t> </a:t>
            </a:r>
            <a:r>
              <a:rPr sz="1100" b="1" spc="-20" dirty="0">
                <a:solidFill>
                  <a:srgbClr val="27D2DC"/>
                </a:solidFill>
                <a:latin typeface="Arial"/>
                <a:cs typeface="Arial"/>
              </a:rPr>
              <a:t>goal</a:t>
            </a:r>
            <a:endParaRPr sz="1100">
              <a:latin typeface="Arial"/>
              <a:cs typeface="Arial"/>
            </a:endParaRPr>
          </a:p>
          <a:p>
            <a:pPr marL="186690" indent="-173990">
              <a:lnSpc>
                <a:spcPct val="100000"/>
              </a:lnSpc>
              <a:spcBef>
                <a:spcPts val="330"/>
              </a:spcBef>
              <a:buClr>
                <a:srgbClr val="3333B2"/>
              </a:buClr>
              <a:buFont typeface="Arial MT"/>
              <a:buAutoNum type="arabicPeriod"/>
              <a:tabLst>
                <a:tab pos="186690" algn="l"/>
              </a:tabLst>
            </a:pPr>
            <a:r>
              <a:rPr sz="1100" b="1" spc="-10" dirty="0">
                <a:solidFill>
                  <a:srgbClr val="27D2DC"/>
                </a:solidFill>
                <a:latin typeface="Arial"/>
                <a:cs typeface="Arial"/>
              </a:rPr>
              <a:t>Run</a:t>
            </a:r>
            <a:r>
              <a:rPr sz="1100" b="1" spc="45" dirty="0">
                <a:solidFill>
                  <a:srgbClr val="27D2DC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27D2DC"/>
                </a:solidFill>
                <a:latin typeface="Arial"/>
                <a:cs typeface="Arial"/>
              </a:rPr>
              <a:t>a</a:t>
            </a:r>
            <a:r>
              <a:rPr sz="1100" b="1" spc="50" dirty="0">
                <a:solidFill>
                  <a:srgbClr val="27D2DC"/>
                </a:solidFill>
                <a:latin typeface="Arial"/>
                <a:cs typeface="Arial"/>
              </a:rPr>
              <a:t> </a:t>
            </a:r>
            <a:r>
              <a:rPr sz="1100" b="1" spc="-20" dirty="0">
                <a:solidFill>
                  <a:srgbClr val="27D2DC"/>
                </a:solidFill>
                <a:latin typeface="Arial"/>
                <a:cs typeface="Arial"/>
              </a:rPr>
              <a:t>what-</a:t>
            </a:r>
            <a:r>
              <a:rPr sz="1100" b="1" dirty="0">
                <a:solidFill>
                  <a:srgbClr val="27D2DC"/>
                </a:solidFill>
                <a:latin typeface="Arial"/>
                <a:cs typeface="Arial"/>
              </a:rPr>
              <a:t>if</a:t>
            </a:r>
            <a:r>
              <a:rPr sz="1100" b="1" spc="55" dirty="0">
                <a:solidFill>
                  <a:srgbClr val="27D2DC"/>
                </a:solidFill>
                <a:latin typeface="Arial"/>
                <a:cs typeface="Arial"/>
              </a:rPr>
              <a:t> </a:t>
            </a:r>
            <a:r>
              <a:rPr sz="1100" b="1" spc="-10" dirty="0">
                <a:solidFill>
                  <a:srgbClr val="27D2DC"/>
                </a:solidFill>
                <a:latin typeface="Arial"/>
                <a:cs typeface="Arial"/>
              </a:rPr>
              <a:t>scenario</a:t>
            </a:r>
            <a:endParaRPr sz="1100">
              <a:latin typeface="Arial"/>
              <a:cs typeface="Arial"/>
            </a:endParaRPr>
          </a:p>
          <a:p>
            <a:pPr marL="186690" indent="-173990">
              <a:lnSpc>
                <a:spcPct val="100000"/>
              </a:lnSpc>
              <a:spcBef>
                <a:spcPts val="335"/>
              </a:spcBef>
              <a:buClr>
                <a:srgbClr val="3333B2"/>
              </a:buClr>
              <a:buFont typeface="Arial MT"/>
              <a:buAutoNum type="arabicPeriod"/>
              <a:tabLst>
                <a:tab pos="186690" algn="l"/>
              </a:tabLst>
            </a:pPr>
            <a:r>
              <a:rPr sz="1100" b="1" spc="-30" dirty="0">
                <a:solidFill>
                  <a:srgbClr val="27D2DC"/>
                </a:solidFill>
                <a:latin typeface="Arial"/>
                <a:cs typeface="Arial"/>
              </a:rPr>
              <a:t>Ask</a:t>
            </a:r>
            <a:r>
              <a:rPr sz="1100" b="1" spc="40" dirty="0">
                <a:solidFill>
                  <a:srgbClr val="27D2DC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27D2DC"/>
                </a:solidFill>
                <a:latin typeface="Arial"/>
                <a:cs typeface="Arial"/>
              </a:rPr>
              <a:t>the</a:t>
            </a:r>
            <a:r>
              <a:rPr sz="1100" b="1" spc="40" dirty="0">
                <a:solidFill>
                  <a:srgbClr val="27D2DC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27D2DC"/>
                </a:solidFill>
                <a:latin typeface="Arial"/>
                <a:cs typeface="Arial"/>
              </a:rPr>
              <a:t>AI</a:t>
            </a:r>
            <a:r>
              <a:rPr sz="1100" b="1" spc="40" dirty="0">
                <a:solidFill>
                  <a:srgbClr val="27D2DC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27D2DC"/>
                </a:solidFill>
                <a:latin typeface="Arial"/>
                <a:cs typeface="Arial"/>
              </a:rPr>
              <a:t>CFO</a:t>
            </a:r>
            <a:r>
              <a:rPr sz="1100" b="1" spc="40" dirty="0">
                <a:solidFill>
                  <a:srgbClr val="27D2DC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27D2DC"/>
                </a:solidFill>
                <a:latin typeface="Arial"/>
                <a:cs typeface="Arial"/>
              </a:rPr>
              <a:t>a</a:t>
            </a:r>
            <a:r>
              <a:rPr sz="1100" b="1" spc="45" dirty="0">
                <a:solidFill>
                  <a:srgbClr val="27D2DC"/>
                </a:solidFill>
                <a:latin typeface="Arial"/>
                <a:cs typeface="Arial"/>
              </a:rPr>
              <a:t> </a:t>
            </a:r>
            <a:r>
              <a:rPr sz="1100" b="1" spc="-10" dirty="0">
                <a:solidFill>
                  <a:srgbClr val="27D2DC"/>
                </a:solidFill>
                <a:latin typeface="Arial"/>
                <a:cs typeface="Arial"/>
              </a:rPr>
              <a:t>question</a:t>
            </a:r>
            <a:endParaRPr sz="1100">
              <a:latin typeface="Arial"/>
              <a:cs typeface="Arial"/>
            </a:endParaRPr>
          </a:p>
          <a:p>
            <a:pPr marL="186690" indent="-173990">
              <a:lnSpc>
                <a:spcPct val="100000"/>
              </a:lnSpc>
              <a:spcBef>
                <a:spcPts val="335"/>
              </a:spcBef>
              <a:buClr>
                <a:srgbClr val="3333B2"/>
              </a:buClr>
              <a:buFont typeface="Arial MT"/>
              <a:buAutoNum type="arabicPeriod"/>
              <a:tabLst>
                <a:tab pos="186690" algn="l"/>
              </a:tabLst>
            </a:pPr>
            <a:r>
              <a:rPr sz="1100" b="1" spc="-40" dirty="0">
                <a:solidFill>
                  <a:srgbClr val="27D2DC"/>
                </a:solidFill>
                <a:latin typeface="Arial"/>
                <a:cs typeface="Arial"/>
              </a:rPr>
              <a:t>Review</a:t>
            </a:r>
            <a:r>
              <a:rPr sz="1100" b="1" spc="5" dirty="0">
                <a:solidFill>
                  <a:srgbClr val="27D2DC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27D2DC"/>
                </a:solidFill>
                <a:latin typeface="Arial"/>
                <a:cs typeface="Arial"/>
              </a:rPr>
              <a:t>the</a:t>
            </a:r>
            <a:r>
              <a:rPr sz="1100" b="1" spc="10" dirty="0">
                <a:solidFill>
                  <a:srgbClr val="27D2DC"/>
                </a:solidFill>
                <a:latin typeface="Arial"/>
                <a:cs typeface="Arial"/>
              </a:rPr>
              <a:t> </a:t>
            </a:r>
            <a:r>
              <a:rPr sz="1100" b="1" spc="-30" dirty="0">
                <a:solidFill>
                  <a:srgbClr val="27D2DC"/>
                </a:solidFill>
                <a:latin typeface="Arial"/>
                <a:cs typeface="Arial"/>
              </a:rPr>
              <a:t>monthly</a:t>
            </a:r>
            <a:r>
              <a:rPr sz="1100" b="1" spc="10" dirty="0">
                <a:solidFill>
                  <a:srgbClr val="27D2DC"/>
                </a:solidFill>
                <a:latin typeface="Arial"/>
                <a:cs typeface="Arial"/>
              </a:rPr>
              <a:t> </a:t>
            </a:r>
            <a:r>
              <a:rPr sz="1100" b="1" spc="-30" dirty="0">
                <a:solidFill>
                  <a:srgbClr val="27D2DC"/>
                </a:solidFill>
                <a:latin typeface="Arial"/>
                <a:cs typeface="Arial"/>
              </a:rPr>
              <a:t>financial</a:t>
            </a:r>
            <a:r>
              <a:rPr sz="1100" b="1" spc="10" dirty="0">
                <a:solidFill>
                  <a:srgbClr val="27D2DC"/>
                </a:solidFill>
                <a:latin typeface="Arial"/>
                <a:cs typeface="Arial"/>
              </a:rPr>
              <a:t> </a:t>
            </a:r>
            <a:r>
              <a:rPr sz="1100" b="1" spc="-10" dirty="0">
                <a:solidFill>
                  <a:srgbClr val="27D2DC"/>
                </a:solidFill>
                <a:latin typeface="Arial"/>
                <a:cs typeface="Arial"/>
              </a:rPr>
              <a:t>brief</a:t>
            </a:r>
            <a:endParaRPr sz="11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100"/>
              </a:spcBef>
            </a:pPr>
            <a:endParaRPr sz="1100">
              <a:latin typeface="Arial"/>
              <a:cs typeface="Arial"/>
            </a:endParaRPr>
          </a:p>
          <a:p>
            <a:pPr marL="739140">
              <a:lnSpc>
                <a:spcPct val="100000"/>
              </a:lnSpc>
            </a:pPr>
            <a:r>
              <a:rPr sz="1100" spc="-10" dirty="0">
                <a:solidFill>
                  <a:srgbClr val="A5B2C5"/>
                </a:solidFill>
                <a:latin typeface="Arial MT"/>
                <a:cs typeface="Arial MT"/>
              </a:rPr>
              <a:t>The</a:t>
            </a:r>
            <a:r>
              <a:rPr sz="1100" spc="-65" dirty="0">
                <a:solidFill>
                  <a:srgbClr val="A5B2C5"/>
                </a:solidFill>
                <a:latin typeface="Arial MT"/>
                <a:cs typeface="Arial MT"/>
              </a:rPr>
              <a:t> </a:t>
            </a:r>
            <a:r>
              <a:rPr sz="1100" spc="-75" dirty="0">
                <a:solidFill>
                  <a:srgbClr val="A5B2C5"/>
                </a:solidFill>
                <a:latin typeface="Arial MT"/>
                <a:cs typeface="Arial MT"/>
              </a:rPr>
              <a:t>demo</a:t>
            </a:r>
            <a:r>
              <a:rPr sz="1100" dirty="0">
                <a:solidFill>
                  <a:srgbClr val="A5B2C5"/>
                </a:solidFill>
                <a:latin typeface="Arial MT"/>
                <a:cs typeface="Arial MT"/>
              </a:rPr>
              <a:t> </a:t>
            </a:r>
            <a:r>
              <a:rPr sz="1100" spc="-40" dirty="0">
                <a:solidFill>
                  <a:srgbClr val="A5B2C5"/>
                </a:solidFill>
                <a:latin typeface="Arial MT"/>
                <a:cs typeface="Arial MT"/>
              </a:rPr>
              <a:t>follows</a:t>
            </a:r>
            <a:r>
              <a:rPr sz="1100" spc="-35" dirty="0">
                <a:solidFill>
                  <a:srgbClr val="A5B2C5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A5B2C5"/>
                </a:solidFill>
                <a:latin typeface="Arial MT"/>
                <a:cs typeface="Arial MT"/>
              </a:rPr>
              <a:t>the</a:t>
            </a:r>
            <a:r>
              <a:rPr sz="1100" spc="-25" dirty="0">
                <a:solidFill>
                  <a:srgbClr val="A5B2C5"/>
                </a:solidFill>
                <a:latin typeface="Arial MT"/>
                <a:cs typeface="Arial MT"/>
              </a:rPr>
              <a:t> </a:t>
            </a:r>
            <a:r>
              <a:rPr sz="1100" spc="-105" dirty="0">
                <a:solidFill>
                  <a:srgbClr val="A5B2C5"/>
                </a:solidFill>
                <a:latin typeface="Arial MT"/>
                <a:cs typeface="Arial MT"/>
              </a:rPr>
              <a:t>same</a:t>
            </a:r>
            <a:r>
              <a:rPr sz="1100" spc="30" dirty="0">
                <a:solidFill>
                  <a:srgbClr val="A5B2C5"/>
                </a:solidFill>
                <a:latin typeface="Arial MT"/>
                <a:cs typeface="Arial MT"/>
              </a:rPr>
              <a:t> </a:t>
            </a:r>
            <a:r>
              <a:rPr sz="1100" spc="-35" dirty="0">
                <a:solidFill>
                  <a:srgbClr val="A5B2C5"/>
                </a:solidFill>
                <a:latin typeface="Arial MT"/>
                <a:cs typeface="Arial MT"/>
              </a:rPr>
              <a:t>journey</a:t>
            </a:r>
            <a:r>
              <a:rPr sz="1100" spc="-15" dirty="0">
                <a:solidFill>
                  <a:srgbClr val="A5B2C5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A5B2C5"/>
                </a:solidFill>
                <a:latin typeface="Arial MT"/>
                <a:cs typeface="Arial MT"/>
              </a:rPr>
              <a:t>a</a:t>
            </a:r>
            <a:r>
              <a:rPr sz="1100" spc="-20" dirty="0">
                <a:solidFill>
                  <a:srgbClr val="A5B2C5"/>
                </a:solidFill>
                <a:latin typeface="Arial MT"/>
                <a:cs typeface="Arial MT"/>
              </a:rPr>
              <a:t> </a:t>
            </a:r>
            <a:r>
              <a:rPr sz="1100" spc="-45" dirty="0">
                <a:solidFill>
                  <a:srgbClr val="A5B2C5"/>
                </a:solidFill>
                <a:latin typeface="Arial MT"/>
                <a:cs typeface="Arial MT"/>
              </a:rPr>
              <a:t>real</a:t>
            </a:r>
            <a:r>
              <a:rPr sz="1100" spc="-15" dirty="0">
                <a:solidFill>
                  <a:srgbClr val="A5B2C5"/>
                </a:solidFill>
                <a:latin typeface="Arial MT"/>
                <a:cs typeface="Arial MT"/>
              </a:rPr>
              <a:t> </a:t>
            </a:r>
            <a:r>
              <a:rPr sz="1100" spc="-65" dirty="0">
                <a:solidFill>
                  <a:srgbClr val="A5B2C5"/>
                </a:solidFill>
                <a:latin typeface="Arial MT"/>
                <a:cs typeface="Arial MT"/>
              </a:rPr>
              <a:t>user</a:t>
            </a:r>
            <a:r>
              <a:rPr sz="1100" spc="-10" dirty="0">
                <a:solidFill>
                  <a:srgbClr val="A5B2C5"/>
                </a:solidFill>
                <a:latin typeface="Arial MT"/>
                <a:cs typeface="Arial MT"/>
              </a:rPr>
              <a:t> </a:t>
            </a:r>
            <a:r>
              <a:rPr sz="1100" spc="-50" dirty="0">
                <a:solidFill>
                  <a:srgbClr val="A5B2C5"/>
                </a:solidFill>
                <a:latin typeface="Arial MT"/>
                <a:cs typeface="Arial MT"/>
              </a:rPr>
              <a:t>would</a:t>
            </a:r>
            <a:r>
              <a:rPr sz="1100" spc="-15" dirty="0">
                <a:solidFill>
                  <a:srgbClr val="A5B2C5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A5B2C5"/>
                </a:solidFill>
                <a:latin typeface="Arial MT"/>
                <a:cs typeface="Arial MT"/>
              </a:rPr>
              <a:t>take.</a:t>
            </a:r>
            <a:endParaRPr sz="1100">
              <a:latin typeface="Arial MT"/>
              <a:cs typeface="Arial MT"/>
            </a:endParaRPr>
          </a:p>
        </p:txBody>
      </p:sp>
    </p:spTree>
  </p:cSld>
  <p:clrMapOvr>
    <a:masterClrMapping/>
  </p:clrMapOvr>
  <p:transition>
    <p:cut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90" dirty="0"/>
              <a:t>What</a:t>
            </a:r>
            <a:r>
              <a:rPr spc="280" dirty="0"/>
              <a:t> </a:t>
            </a:r>
            <a:r>
              <a:rPr dirty="0"/>
              <a:t>Makes</a:t>
            </a:r>
            <a:r>
              <a:rPr spc="280" dirty="0"/>
              <a:t> </a:t>
            </a:r>
            <a:r>
              <a:rPr dirty="0"/>
              <a:t>FinPilot</a:t>
            </a:r>
            <a:r>
              <a:rPr spc="285" dirty="0"/>
              <a:t> </a:t>
            </a:r>
            <a:r>
              <a:rPr spc="-10" dirty="0"/>
              <a:t>Different?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307201" y="497298"/>
            <a:ext cx="2165350" cy="2073275"/>
            <a:chOff x="307201" y="497298"/>
            <a:chExt cx="2165350" cy="2073275"/>
          </a:xfrm>
        </p:grpSpPr>
        <p:sp>
          <p:nvSpPr>
            <p:cNvPr id="4" name="object 4"/>
            <p:cNvSpPr/>
            <p:nvPr/>
          </p:nvSpPr>
          <p:spPr>
            <a:xfrm>
              <a:off x="309731" y="499828"/>
              <a:ext cx="2160270" cy="2068195"/>
            </a:xfrm>
            <a:custGeom>
              <a:avLst/>
              <a:gdLst/>
              <a:ahLst/>
              <a:cxnLst/>
              <a:rect l="l" t="t" r="r" b="b"/>
              <a:pathLst>
                <a:path w="2160270" h="2068195">
                  <a:moveTo>
                    <a:pt x="2071463" y="0"/>
                  </a:moveTo>
                  <a:lnTo>
                    <a:pt x="88568" y="0"/>
                  </a:lnTo>
                  <a:lnTo>
                    <a:pt x="54093" y="6960"/>
                  </a:lnTo>
                  <a:lnTo>
                    <a:pt x="25940" y="25941"/>
                  </a:lnTo>
                  <a:lnTo>
                    <a:pt x="6960" y="54093"/>
                  </a:lnTo>
                  <a:lnTo>
                    <a:pt x="0" y="88569"/>
                  </a:lnTo>
                  <a:lnTo>
                    <a:pt x="0" y="1979229"/>
                  </a:lnTo>
                  <a:lnTo>
                    <a:pt x="6960" y="2013705"/>
                  </a:lnTo>
                  <a:lnTo>
                    <a:pt x="25940" y="2041857"/>
                  </a:lnTo>
                  <a:lnTo>
                    <a:pt x="54093" y="2060838"/>
                  </a:lnTo>
                  <a:lnTo>
                    <a:pt x="88568" y="2067798"/>
                  </a:lnTo>
                  <a:lnTo>
                    <a:pt x="2071463" y="2067798"/>
                  </a:lnTo>
                  <a:lnTo>
                    <a:pt x="2105939" y="2060838"/>
                  </a:lnTo>
                  <a:lnTo>
                    <a:pt x="2134091" y="2041857"/>
                  </a:lnTo>
                  <a:lnTo>
                    <a:pt x="2153072" y="2013705"/>
                  </a:lnTo>
                  <a:lnTo>
                    <a:pt x="2160032" y="1979229"/>
                  </a:lnTo>
                  <a:lnTo>
                    <a:pt x="2160032" y="88569"/>
                  </a:lnTo>
                  <a:lnTo>
                    <a:pt x="2153072" y="54093"/>
                  </a:lnTo>
                  <a:lnTo>
                    <a:pt x="2134091" y="25941"/>
                  </a:lnTo>
                  <a:lnTo>
                    <a:pt x="2105939" y="6960"/>
                  </a:lnTo>
                  <a:lnTo>
                    <a:pt x="2071463" y="0"/>
                  </a:lnTo>
                  <a:close/>
                </a:path>
              </a:pathLst>
            </a:custGeom>
            <a:solidFill>
              <a:srgbClr val="0C18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09731" y="499828"/>
              <a:ext cx="2160270" cy="2068195"/>
            </a:xfrm>
            <a:custGeom>
              <a:avLst/>
              <a:gdLst/>
              <a:ahLst/>
              <a:cxnLst/>
              <a:rect l="l" t="t" r="r" b="b"/>
              <a:pathLst>
                <a:path w="2160270" h="2068195">
                  <a:moveTo>
                    <a:pt x="2071463" y="0"/>
                  </a:moveTo>
                  <a:lnTo>
                    <a:pt x="88568" y="0"/>
                  </a:lnTo>
                  <a:lnTo>
                    <a:pt x="54093" y="6960"/>
                  </a:lnTo>
                  <a:lnTo>
                    <a:pt x="25940" y="25941"/>
                  </a:lnTo>
                  <a:lnTo>
                    <a:pt x="6960" y="54093"/>
                  </a:lnTo>
                  <a:lnTo>
                    <a:pt x="0" y="88569"/>
                  </a:lnTo>
                  <a:lnTo>
                    <a:pt x="0" y="1979229"/>
                  </a:lnTo>
                  <a:lnTo>
                    <a:pt x="6960" y="2013705"/>
                  </a:lnTo>
                  <a:lnTo>
                    <a:pt x="25940" y="2041857"/>
                  </a:lnTo>
                  <a:lnTo>
                    <a:pt x="54093" y="2060838"/>
                  </a:lnTo>
                  <a:lnTo>
                    <a:pt x="88568" y="2067798"/>
                  </a:lnTo>
                  <a:lnTo>
                    <a:pt x="2071463" y="2067798"/>
                  </a:lnTo>
                  <a:lnTo>
                    <a:pt x="2105939" y="2060838"/>
                  </a:lnTo>
                  <a:lnTo>
                    <a:pt x="2134091" y="2041857"/>
                  </a:lnTo>
                  <a:lnTo>
                    <a:pt x="2153072" y="2013705"/>
                  </a:lnTo>
                  <a:lnTo>
                    <a:pt x="2160032" y="1979229"/>
                  </a:lnTo>
                  <a:lnTo>
                    <a:pt x="2160032" y="88569"/>
                  </a:lnTo>
                  <a:lnTo>
                    <a:pt x="2153072" y="54093"/>
                  </a:lnTo>
                  <a:lnTo>
                    <a:pt x="2134091" y="25941"/>
                  </a:lnTo>
                  <a:lnTo>
                    <a:pt x="2105939" y="6960"/>
                  </a:lnTo>
                  <a:lnTo>
                    <a:pt x="2071463" y="0"/>
                  </a:lnTo>
                  <a:close/>
                </a:path>
              </a:pathLst>
            </a:custGeom>
            <a:ln w="5060">
              <a:solidFill>
                <a:srgbClr val="27D2D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423049" y="497723"/>
            <a:ext cx="1807845" cy="1979930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0"/>
              </a:spcBef>
            </a:pPr>
            <a:r>
              <a:rPr sz="1100" b="1" spc="-60" dirty="0">
                <a:solidFill>
                  <a:srgbClr val="27D2DC"/>
                </a:solidFill>
                <a:latin typeface="Arial"/>
                <a:cs typeface="Arial"/>
              </a:rPr>
              <a:t>Beyond</a:t>
            </a:r>
            <a:r>
              <a:rPr sz="1100" b="1" spc="25" dirty="0">
                <a:solidFill>
                  <a:srgbClr val="27D2DC"/>
                </a:solidFill>
                <a:latin typeface="Arial"/>
                <a:cs typeface="Arial"/>
              </a:rPr>
              <a:t> </a:t>
            </a:r>
            <a:r>
              <a:rPr sz="1100" b="1" spc="-35" dirty="0">
                <a:solidFill>
                  <a:srgbClr val="27D2DC"/>
                </a:solidFill>
                <a:latin typeface="Arial"/>
                <a:cs typeface="Arial"/>
              </a:rPr>
              <a:t>transaction</a:t>
            </a:r>
            <a:r>
              <a:rPr sz="1100" b="1" spc="25" dirty="0">
                <a:solidFill>
                  <a:srgbClr val="27D2DC"/>
                </a:solidFill>
                <a:latin typeface="Arial"/>
                <a:cs typeface="Arial"/>
              </a:rPr>
              <a:t> </a:t>
            </a:r>
            <a:r>
              <a:rPr sz="1100" b="1" spc="-10" dirty="0">
                <a:solidFill>
                  <a:srgbClr val="27D2DC"/>
                </a:solidFill>
                <a:latin typeface="Arial"/>
                <a:cs typeface="Arial"/>
              </a:rPr>
              <a:t>tracking</a:t>
            </a:r>
            <a:endParaRPr sz="1100">
              <a:latin typeface="Arial"/>
              <a:cs typeface="Arial"/>
            </a:endParaRPr>
          </a:p>
          <a:p>
            <a:pPr marL="12700" marR="5080">
              <a:lnSpc>
                <a:spcPct val="102600"/>
              </a:lnSpc>
              <a:spcBef>
                <a:spcPts val="570"/>
              </a:spcBef>
            </a:pPr>
            <a:r>
              <a:rPr sz="1100" spc="-10" dirty="0">
                <a:solidFill>
                  <a:srgbClr val="A5B2C5"/>
                </a:solidFill>
                <a:latin typeface="Arial MT"/>
                <a:cs typeface="Arial MT"/>
              </a:rPr>
              <a:t>The</a:t>
            </a:r>
            <a:r>
              <a:rPr sz="1100" spc="-45" dirty="0">
                <a:solidFill>
                  <a:srgbClr val="A5B2C5"/>
                </a:solidFill>
                <a:latin typeface="Arial MT"/>
                <a:cs typeface="Arial MT"/>
              </a:rPr>
              <a:t> </a:t>
            </a:r>
            <a:r>
              <a:rPr sz="1100" spc="-70" dirty="0">
                <a:solidFill>
                  <a:srgbClr val="A5B2C5"/>
                </a:solidFill>
                <a:latin typeface="Arial MT"/>
                <a:cs typeface="Arial MT"/>
              </a:rPr>
              <a:t>system</a:t>
            </a:r>
            <a:r>
              <a:rPr sz="1100" spc="-5" dirty="0">
                <a:solidFill>
                  <a:srgbClr val="A5B2C5"/>
                </a:solidFill>
                <a:latin typeface="Arial MT"/>
                <a:cs typeface="Arial MT"/>
              </a:rPr>
              <a:t> </a:t>
            </a:r>
            <a:r>
              <a:rPr sz="1100" spc="-85" dirty="0">
                <a:solidFill>
                  <a:srgbClr val="A5B2C5"/>
                </a:solidFill>
                <a:latin typeface="Arial MT"/>
                <a:cs typeface="Arial MT"/>
              </a:rPr>
              <a:t>does</a:t>
            </a:r>
            <a:r>
              <a:rPr sz="1100" spc="10" dirty="0">
                <a:solidFill>
                  <a:srgbClr val="A5B2C5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A5B2C5"/>
                </a:solidFill>
                <a:latin typeface="Arial MT"/>
                <a:cs typeface="Arial MT"/>
              </a:rPr>
              <a:t>not</a:t>
            </a:r>
            <a:r>
              <a:rPr sz="1100" spc="-10" dirty="0">
                <a:solidFill>
                  <a:srgbClr val="A5B2C5"/>
                </a:solidFill>
                <a:latin typeface="Arial MT"/>
                <a:cs typeface="Arial MT"/>
              </a:rPr>
              <a:t> </a:t>
            </a:r>
            <a:r>
              <a:rPr sz="1100" spc="-25" dirty="0">
                <a:solidFill>
                  <a:srgbClr val="A5B2C5"/>
                </a:solidFill>
                <a:latin typeface="Arial MT"/>
                <a:cs typeface="Arial MT"/>
              </a:rPr>
              <a:t>stop</a:t>
            </a:r>
            <a:r>
              <a:rPr sz="1100" spc="-10" dirty="0">
                <a:solidFill>
                  <a:srgbClr val="A5B2C5"/>
                </a:solidFill>
                <a:latin typeface="Arial MT"/>
                <a:cs typeface="Arial MT"/>
              </a:rPr>
              <a:t> </a:t>
            </a:r>
            <a:r>
              <a:rPr sz="1100" spc="-25" dirty="0">
                <a:solidFill>
                  <a:srgbClr val="A5B2C5"/>
                </a:solidFill>
                <a:latin typeface="Arial MT"/>
                <a:cs typeface="Arial MT"/>
              </a:rPr>
              <a:t>at </a:t>
            </a:r>
            <a:r>
              <a:rPr sz="1100" spc="-70" dirty="0">
                <a:solidFill>
                  <a:srgbClr val="A5B2C5"/>
                </a:solidFill>
                <a:latin typeface="Arial MT"/>
                <a:cs typeface="Arial MT"/>
              </a:rPr>
              <a:t>showing</a:t>
            </a:r>
            <a:r>
              <a:rPr sz="1100" spc="20" dirty="0">
                <a:solidFill>
                  <a:srgbClr val="A5B2C5"/>
                </a:solidFill>
                <a:latin typeface="Arial MT"/>
                <a:cs typeface="Arial MT"/>
              </a:rPr>
              <a:t> </a:t>
            </a:r>
            <a:r>
              <a:rPr sz="1100" spc="-35" dirty="0">
                <a:solidFill>
                  <a:srgbClr val="A5B2C5"/>
                </a:solidFill>
                <a:latin typeface="Arial MT"/>
                <a:cs typeface="Arial MT"/>
              </a:rPr>
              <a:t>historical</a:t>
            </a:r>
            <a:r>
              <a:rPr sz="1100" spc="20" dirty="0">
                <a:solidFill>
                  <a:srgbClr val="A5B2C5"/>
                </a:solidFill>
                <a:latin typeface="Arial MT"/>
                <a:cs typeface="Arial MT"/>
              </a:rPr>
              <a:t> </a:t>
            </a:r>
            <a:r>
              <a:rPr sz="1100" spc="-40" dirty="0">
                <a:solidFill>
                  <a:srgbClr val="A5B2C5"/>
                </a:solidFill>
                <a:latin typeface="Arial MT"/>
                <a:cs typeface="Arial MT"/>
              </a:rPr>
              <a:t>transactions.</a:t>
            </a:r>
            <a:endParaRPr sz="11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1100" dirty="0">
                <a:solidFill>
                  <a:srgbClr val="A5B2C5"/>
                </a:solidFill>
                <a:latin typeface="Arial MT"/>
                <a:cs typeface="Arial MT"/>
              </a:rPr>
              <a:t>It</a:t>
            </a:r>
            <a:r>
              <a:rPr sz="1100" spc="60" dirty="0">
                <a:solidFill>
                  <a:srgbClr val="A5B2C5"/>
                </a:solidFill>
                <a:latin typeface="Arial MT"/>
                <a:cs typeface="Arial MT"/>
              </a:rPr>
              <a:t> </a:t>
            </a:r>
            <a:r>
              <a:rPr sz="1100" spc="-70" dirty="0">
                <a:solidFill>
                  <a:srgbClr val="A5B2C5"/>
                </a:solidFill>
                <a:latin typeface="Arial MT"/>
                <a:cs typeface="Arial MT"/>
              </a:rPr>
              <a:t>connects</a:t>
            </a:r>
            <a:r>
              <a:rPr sz="1100" spc="65" dirty="0">
                <a:solidFill>
                  <a:srgbClr val="A5B2C5"/>
                </a:solidFill>
                <a:latin typeface="Arial MT"/>
                <a:cs typeface="Arial MT"/>
              </a:rPr>
              <a:t> </a:t>
            </a:r>
            <a:r>
              <a:rPr sz="1100" spc="-45" dirty="0">
                <a:solidFill>
                  <a:srgbClr val="A5B2C5"/>
                </a:solidFill>
                <a:latin typeface="Arial MT"/>
                <a:cs typeface="Arial MT"/>
              </a:rPr>
              <a:t>transactions</a:t>
            </a:r>
            <a:r>
              <a:rPr sz="1100" spc="65" dirty="0">
                <a:solidFill>
                  <a:srgbClr val="A5B2C5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A5B2C5"/>
                </a:solidFill>
                <a:latin typeface="Arial MT"/>
                <a:cs typeface="Arial MT"/>
              </a:rPr>
              <a:t>with:</a:t>
            </a:r>
            <a:endParaRPr sz="1100">
              <a:latin typeface="Arial MT"/>
              <a:cs typeface="Arial MT"/>
            </a:endParaRPr>
          </a:p>
          <a:p>
            <a:pPr marL="287655" indent="-211454">
              <a:lnSpc>
                <a:spcPct val="100000"/>
              </a:lnSpc>
              <a:spcBef>
                <a:spcPts val="335"/>
              </a:spcBef>
              <a:buClr>
                <a:srgbClr val="27D2DC"/>
              </a:buClr>
              <a:buSzPct val="90909"/>
              <a:buFont typeface="Lucida Sans Unicode"/>
              <a:buChar char="►"/>
              <a:tabLst>
                <a:tab pos="287655" algn="l"/>
              </a:tabLst>
            </a:pPr>
            <a:r>
              <a:rPr sz="1100" spc="-40" dirty="0">
                <a:solidFill>
                  <a:srgbClr val="F4F8FC"/>
                </a:solidFill>
                <a:latin typeface="Arial MT"/>
                <a:cs typeface="Arial MT"/>
              </a:rPr>
              <a:t>recurring</a:t>
            </a:r>
            <a:r>
              <a:rPr sz="1100" spc="-20" dirty="0">
                <a:solidFill>
                  <a:srgbClr val="F4F8FC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F4F8FC"/>
                </a:solidFill>
                <a:latin typeface="Arial MT"/>
                <a:cs typeface="Arial MT"/>
              </a:rPr>
              <a:t>obligations</a:t>
            </a:r>
            <a:endParaRPr sz="1100">
              <a:latin typeface="Arial MT"/>
              <a:cs typeface="Arial MT"/>
            </a:endParaRPr>
          </a:p>
          <a:p>
            <a:pPr marL="287655" indent="-211454">
              <a:lnSpc>
                <a:spcPct val="100000"/>
              </a:lnSpc>
              <a:spcBef>
                <a:spcPts val="335"/>
              </a:spcBef>
              <a:buClr>
                <a:srgbClr val="27D2DC"/>
              </a:buClr>
              <a:buSzPct val="90909"/>
              <a:buFont typeface="Lucida Sans Unicode"/>
              <a:buChar char="►"/>
              <a:tabLst>
                <a:tab pos="287655" algn="l"/>
              </a:tabLst>
            </a:pPr>
            <a:r>
              <a:rPr sz="1100" spc="-10" dirty="0">
                <a:solidFill>
                  <a:srgbClr val="F4F8FC"/>
                </a:solidFill>
                <a:latin typeface="Arial MT"/>
                <a:cs typeface="Arial MT"/>
              </a:rPr>
              <a:t>anomalies</a:t>
            </a:r>
            <a:endParaRPr sz="1100">
              <a:latin typeface="Arial MT"/>
              <a:cs typeface="Arial MT"/>
            </a:endParaRPr>
          </a:p>
          <a:p>
            <a:pPr marL="287655" indent="-211454">
              <a:lnSpc>
                <a:spcPct val="100000"/>
              </a:lnSpc>
              <a:spcBef>
                <a:spcPts val="334"/>
              </a:spcBef>
              <a:buClr>
                <a:srgbClr val="27D2DC"/>
              </a:buClr>
              <a:buSzPct val="90909"/>
              <a:buFont typeface="Lucida Sans Unicode"/>
              <a:buChar char="►"/>
              <a:tabLst>
                <a:tab pos="287655" algn="l"/>
              </a:tabLst>
            </a:pPr>
            <a:r>
              <a:rPr sz="1100" spc="-10" dirty="0">
                <a:solidFill>
                  <a:srgbClr val="F4F8FC"/>
                </a:solidFill>
                <a:latin typeface="Arial MT"/>
                <a:cs typeface="Arial MT"/>
              </a:rPr>
              <a:t>budgets</a:t>
            </a:r>
            <a:endParaRPr sz="1100">
              <a:latin typeface="Arial MT"/>
              <a:cs typeface="Arial MT"/>
            </a:endParaRPr>
          </a:p>
          <a:p>
            <a:pPr marL="287655" indent="-211454">
              <a:lnSpc>
                <a:spcPct val="100000"/>
              </a:lnSpc>
              <a:spcBef>
                <a:spcPts val="330"/>
              </a:spcBef>
              <a:buClr>
                <a:srgbClr val="27D2DC"/>
              </a:buClr>
              <a:buSzPct val="90909"/>
              <a:buFont typeface="Lucida Sans Unicode"/>
              <a:buChar char="►"/>
              <a:tabLst>
                <a:tab pos="287655" algn="l"/>
              </a:tabLst>
            </a:pPr>
            <a:r>
              <a:rPr sz="1100" spc="-10" dirty="0">
                <a:solidFill>
                  <a:srgbClr val="F4F8FC"/>
                </a:solidFill>
                <a:latin typeface="Arial MT"/>
                <a:cs typeface="Arial MT"/>
              </a:rPr>
              <a:t>goals</a:t>
            </a:r>
            <a:endParaRPr sz="1100">
              <a:latin typeface="Arial MT"/>
              <a:cs typeface="Arial MT"/>
            </a:endParaRPr>
          </a:p>
          <a:p>
            <a:pPr marL="287655" indent="-211454">
              <a:lnSpc>
                <a:spcPct val="100000"/>
              </a:lnSpc>
              <a:spcBef>
                <a:spcPts val="335"/>
              </a:spcBef>
              <a:buClr>
                <a:srgbClr val="27D2DC"/>
              </a:buClr>
              <a:buSzPct val="90909"/>
              <a:buFont typeface="Lucida Sans Unicode"/>
              <a:buChar char="►"/>
              <a:tabLst>
                <a:tab pos="287655" algn="l"/>
              </a:tabLst>
            </a:pPr>
            <a:r>
              <a:rPr sz="1100" spc="-90" dirty="0">
                <a:solidFill>
                  <a:srgbClr val="F4F8FC"/>
                </a:solidFill>
                <a:latin typeface="Arial MT"/>
                <a:cs typeface="Arial MT"/>
              </a:rPr>
              <a:t>cash</a:t>
            </a:r>
            <a:r>
              <a:rPr sz="1100" spc="25" dirty="0">
                <a:solidFill>
                  <a:srgbClr val="F4F8FC"/>
                </a:solidFill>
                <a:latin typeface="Arial MT"/>
                <a:cs typeface="Arial MT"/>
              </a:rPr>
              <a:t> </a:t>
            </a:r>
            <a:r>
              <a:rPr sz="1100" spc="-20" dirty="0">
                <a:solidFill>
                  <a:srgbClr val="F4F8FC"/>
                </a:solidFill>
                <a:latin typeface="Arial MT"/>
                <a:cs typeface="Arial MT"/>
              </a:rPr>
              <a:t>flow</a:t>
            </a:r>
            <a:endParaRPr sz="1100">
              <a:latin typeface="Arial MT"/>
              <a:cs typeface="Arial MT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3033599" y="497297"/>
            <a:ext cx="2165350" cy="2508885"/>
            <a:chOff x="3033599" y="497297"/>
            <a:chExt cx="2165350" cy="2508885"/>
          </a:xfrm>
        </p:grpSpPr>
        <p:sp>
          <p:nvSpPr>
            <p:cNvPr id="8" name="object 8"/>
            <p:cNvSpPr/>
            <p:nvPr/>
          </p:nvSpPr>
          <p:spPr>
            <a:xfrm>
              <a:off x="3036129" y="499828"/>
              <a:ext cx="2160270" cy="2503805"/>
            </a:xfrm>
            <a:custGeom>
              <a:avLst/>
              <a:gdLst/>
              <a:ahLst/>
              <a:cxnLst/>
              <a:rect l="l" t="t" r="r" b="b"/>
              <a:pathLst>
                <a:path w="2160270" h="2503805">
                  <a:moveTo>
                    <a:pt x="2071463" y="0"/>
                  </a:moveTo>
                  <a:lnTo>
                    <a:pt x="88568" y="0"/>
                  </a:lnTo>
                  <a:lnTo>
                    <a:pt x="54093" y="6960"/>
                  </a:lnTo>
                  <a:lnTo>
                    <a:pt x="25940" y="25941"/>
                  </a:lnTo>
                  <a:lnTo>
                    <a:pt x="6960" y="54093"/>
                  </a:lnTo>
                  <a:lnTo>
                    <a:pt x="0" y="88569"/>
                  </a:lnTo>
                  <a:lnTo>
                    <a:pt x="0" y="2415094"/>
                  </a:lnTo>
                  <a:lnTo>
                    <a:pt x="6960" y="2449569"/>
                  </a:lnTo>
                  <a:lnTo>
                    <a:pt x="25940" y="2477722"/>
                  </a:lnTo>
                  <a:lnTo>
                    <a:pt x="54093" y="2496703"/>
                  </a:lnTo>
                  <a:lnTo>
                    <a:pt x="88568" y="2503663"/>
                  </a:lnTo>
                  <a:lnTo>
                    <a:pt x="2071463" y="2503663"/>
                  </a:lnTo>
                  <a:lnTo>
                    <a:pt x="2105939" y="2496703"/>
                  </a:lnTo>
                  <a:lnTo>
                    <a:pt x="2134091" y="2477722"/>
                  </a:lnTo>
                  <a:lnTo>
                    <a:pt x="2153072" y="2449569"/>
                  </a:lnTo>
                  <a:lnTo>
                    <a:pt x="2160032" y="2415094"/>
                  </a:lnTo>
                  <a:lnTo>
                    <a:pt x="2160032" y="88569"/>
                  </a:lnTo>
                  <a:lnTo>
                    <a:pt x="2153072" y="54093"/>
                  </a:lnTo>
                  <a:lnTo>
                    <a:pt x="2134091" y="25941"/>
                  </a:lnTo>
                  <a:lnTo>
                    <a:pt x="2105939" y="6960"/>
                  </a:lnTo>
                  <a:lnTo>
                    <a:pt x="2071463" y="0"/>
                  </a:lnTo>
                  <a:close/>
                </a:path>
              </a:pathLst>
            </a:custGeom>
            <a:solidFill>
              <a:srgbClr val="0C18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036129" y="499828"/>
              <a:ext cx="2160270" cy="2503805"/>
            </a:xfrm>
            <a:custGeom>
              <a:avLst/>
              <a:gdLst/>
              <a:ahLst/>
              <a:cxnLst/>
              <a:rect l="l" t="t" r="r" b="b"/>
              <a:pathLst>
                <a:path w="2160270" h="2503805">
                  <a:moveTo>
                    <a:pt x="2071463" y="0"/>
                  </a:moveTo>
                  <a:lnTo>
                    <a:pt x="88568" y="0"/>
                  </a:lnTo>
                  <a:lnTo>
                    <a:pt x="54093" y="6960"/>
                  </a:lnTo>
                  <a:lnTo>
                    <a:pt x="25940" y="25941"/>
                  </a:lnTo>
                  <a:lnTo>
                    <a:pt x="6960" y="54093"/>
                  </a:lnTo>
                  <a:lnTo>
                    <a:pt x="0" y="88569"/>
                  </a:lnTo>
                  <a:lnTo>
                    <a:pt x="0" y="2415094"/>
                  </a:lnTo>
                  <a:lnTo>
                    <a:pt x="6960" y="2449569"/>
                  </a:lnTo>
                  <a:lnTo>
                    <a:pt x="25940" y="2477722"/>
                  </a:lnTo>
                  <a:lnTo>
                    <a:pt x="54093" y="2496703"/>
                  </a:lnTo>
                  <a:lnTo>
                    <a:pt x="88568" y="2503663"/>
                  </a:lnTo>
                  <a:lnTo>
                    <a:pt x="2071463" y="2503663"/>
                  </a:lnTo>
                  <a:lnTo>
                    <a:pt x="2105939" y="2496703"/>
                  </a:lnTo>
                  <a:lnTo>
                    <a:pt x="2134091" y="2477722"/>
                  </a:lnTo>
                  <a:lnTo>
                    <a:pt x="2153072" y="2449569"/>
                  </a:lnTo>
                  <a:lnTo>
                    <a:pt x="2160032" y="2415094"/>
                  </a:lnTo>
                  <a:lnTo>
                    <a:pt x="2160032" y="88569"/>
                  </a:lnTo>
                  <a:lnTo>
                    <a:pt x="2153072" y="54093"/>
                  </a:lnTo>
                  <a:lnTo>
                    <a:pt x="2134091" y="25941"/>
                  </a:lnTo>
                  <a:lnTo>
                    <a:pt x="2105939" y="6960"/>
                  </a:lnTo>
                  <a:lnTo>
                    <a:pt x="2071463" y="0"/>
                  </a:lnTo>
                  <a:close/>
                </a:path>
              </a:pathLst>
            </a:custGeom>
            <a:ln w="5060">
              <a:solidFill>
                <a:srgbClr val="32CC8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3149434" y="497723"/>
            <a:ext cx="1847850" cy="2420620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0"/>
              </a:spcBef>
            </a:pPr>
            <a:r>
              <a:rPr sz="1100" b="1" spc="-60" dirty="0">
                <a:solidFill>
                  <a:srgbClr val="32CC81"/>
                </a:solidFill>
                <a:latin typeface="Arial"/>
                <a:cs typeface="Arial"/>
              </a:rPr>
              <a:t>Beyond</a:t>
            </a:r>
            <a:r>
              <a:rPr sz="1100" b="1" spc="25" dirty="0">
                <a:solidFill>
                  <a:srgbClr val="32CC81"/>
                </a:solidFill>
                <a:latin typeface="Arial"/>
                <a:cs typeface="Arial"/>
              </a:rPr>
              <a:t> </a:t>
            </a:r>
            <a:r>
              <a:rPr sz="1100" b="1" spc="-10" dirty="0">
                <a:solidFill>
                  <a:srgbClr val="32CC81"/>
                </a:solidFill>
                <a:latin typeface="Arial"/>
                <a:cs typeface="Arial"/>
              </a:rPr>
              <a:t>dashboards</a:t>
            </a:r>
            <a:endParaRPr sz="1100">
              <a:latin typeface="Arial"/>
              <a:cs typeface="Arial"/>
            </a:endParaRPr>
          </a:p>
          <a:p>
            <a:pPr marL="12700" marR="5080">
              <a:lnSpc>
                <a:spcPct val="102600"/>
              </a:lnSpc>
              <a:spcBef>
                <a:spcPts val="570"/>
              </a:spcBef>
            </a:pPr>
            <a:r>
              <a:rPr sz="1100" spc="-90" dirty="0">
                <a:solidFill>
                  <a:srgbClr val="A5B2C5"/>
                </a:solidFill>
                <a:latin typeface="Arial MT"/>
                <a:cs typeface="Arial MT"/>
              </a:rPr>
              <a:t>Users</a:t>
            </a:r>
            <a:r>
              <a:rPr sz="1100" spc="15" dirty="0">
                <a:solidFill>
                  <a:srgbClr val="A5B2C5"/>
                </a:solidFill>
                <a:latin typeface="Arial MT"/>
                <a:cs typeface="Arial MT"/>
              </a:rPr>
              <a:t> </a:t>
            </a:r>
            <a:r>
              <a:rPr sz="1100" spc="-65" dirty="0">
                <a:solidFill>
                  <a:srgbClr val="A5B2C5"/>
                </a:solidFill>
                <a:latin typeface="Arial MT"/>
                <a:cs typeface="Arial MT"/>
              </a:rPr>
              <a:t>can</a:t>
            </a:r>
            <a:r>
              <a:rPr sz="1100" spc="10" dirty="0">
                <a:solidFill>
                  <a:srgbClr val="A5B2C5"/>
                </a:solidFill>
                <a:latin typeface="Arial MT"/>
                <a:cs typeface="Arial MT"/>
              </a:rPr>
              <a:t> </a:t>
            </a:r>
            <a:r>
              <a:rPr sz="1100" spc="-20" dirty="0">
                <a:solidFill>
                  <a:srgbClr val="A5B2C5"/>
                </a:solidFill>
                <a:latin typeface="Arial MT"/>
                <a:cs typeface="Arial MT"/>
              </a:rPr>
              <a:t>interact</a:t>
            </a:r>
            <a:r>
              <a:rPr sz="1100" spc="15" dirty="0">
                <a:solidFill>
                  <a:srgbClr val="A5B2C5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A5B2C5"/>
                </a:solidFill>
                <a:latin typeface="Arial MT"/>
                <a:cs typeface="Arial MT"/>
              </a:rPr>
              <a:t>with</a:t>
            </a:r>
            <a:r>
              <a:rPr sz="1100" spc="10" dirty="0">
                <a:solidFill>
                  <a:srgbClr val="A5B2C5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A5B2C5"/>
                </a:solidFill>
                <a:latin typeface="Arial MT"/>
                <a:cs typeface="Arial MT"/>
              </a:rPr>
              <a:t>their </a:t>
            </a:r>
            <a:r>
              <a:rPr sz="1100" spc="-35" dirty="0">
                <a:solidFill>
                  <a:srgbClr val="A5B2C5"/>
                </a:solidFill>
                <a:latin typeface="Arial MT"/>
                <a:cs typeface="Arial MT"/>
              </a:rPr>
              <a:t>financial</a:t>
            </a:r>
            <a:r>
              <a:rPr sz="1100" spc="-40" dirty="0">
                <a:solidFill>
                  <a:srgbClr val="A5B2C5"/>
                </a:solidFill>
                <a:latin typeface="Arial MT"/>
                <a:cs typeface="Arial MT"/>
              </a:rPr>
              <a:t> </a:t>
            </a:r>
            <a:r>
              <a:rPr sz="1100" spc="-20" dirty="0">
                <a:solidFill>
                  <a:srgbClr val="A5B2C5"/>
                </a:solidFill>
                <a:latin typeface="Arial MT"/>
                <a:cs typeface="Arial MT"/>
              </a:rPr>
              <a:t>data</a:t>
            </a:r>
            <a:r>
              <a:rPr sz="1100" spc="-35" dirty="0">
                <a:solidFill>
                  <a:srgbClr val="A5B2C5"/>
                </a:solidFill>
                <a:latin typeface="Arial MT"/>
                <a:cs typeface="Arial MT"/>
              </a:rPr>
              <a:t> </a:t>
            </a:r>
            <a:r>
              <a:rPr sz="1100" spc="-60" dirty="0">
                <a:solidFill>
                  <a:srgbClr val="A5B2C5"/>
                </a:solidFill>
                <a:latin typeface="Arial MT"/>
                <a:cs typeface="Arial MT"/>
              </a:rPr>
              <a:t>using</a:t>
            </a:r>
            <a:r>
              <a:rPr sz="1100" spc="-15" dirty="0">
                <a:solidFill>
                  <a:srgbClr val="A5B2C5"/>
                </a:solidFill>
                <a:latin typeface="Arial MT"/>
                <a:cs typeface="Arial MT"/>
              </a:rPr>
              <a:t> </a:t>
            </a:r>
            <a:r>
              <a:rPr sz="1100" spc="-25" dirty="0">
                <a:solidFill>
                  <a:srgbClr val="A5B2C5"/>
                </a:solidFill>
                <a:latin typeface="Arial MT"/>
                <a:cs typeface="Arial MT"/>
              </a:rPr>
              <a:t>natural</a:t>
            </a:r>
            <a:r>
              <a:rPr sz="1100" spc="-30" dirty="0">
                <a:solidFill>
                  <a:srgbClr val="A5B2C5"/>
                </a:solidFill>
                <a:latin typeface="Arial MT"/>
                <a:cs typeface="Arial MT"/>
              </a:rPr>
              <a:t> </a:t>
            </a:r>
            <a:r>
              <a:rPr sz="1100" spc="-20" dirty="0">
                <a:solidFill>
                  <a:srgbClr val="A5B2C5"/>
                </a:solidFill>
                <a:latin typeface="Arial MT"/>
                <a:cs typeface="Arial MT"/>
              </a:rPr>
              <a:t>lan-</a:t>
            </a:r>
            <a:r>
              <a:rPr sz="1100" spc="-10" dirty="0">
                <a:solidFill>
                  <a:srgbClr val="A5B2C5"/>
                </a:solidFill>
                <a:latin typeface="Arial MT"/>
                <a:cs typeface="Arial MT"/>
              </a:rPr>
              <a:t>guage.</a:t>
            </a:r>
            <a:endParaRPr sz="11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1100" spc="-10" dirty="0">
                <a:solidFill>
                  <a:srgbClr val="A5B2C5"/>
                </a:solidFill>
                <a:latin typeface="Arial MT"/>
                <a:cs typeface="Arial MT"/>
              </a:rPr>
              <a:t>The</a:t>
            </a:r>
            <a:r>
              <a:rPr sz="1100" spc="-55" dirty="0">
                <a:solidFill>
                  <a:srgbClr val="A5B2C5"/>
                </a:solidFill>
                <a:latin typeface="Arial MT"/>
                <a:cs typeface="Arial MT"/>
              </a:rPr>
              <a:t> </a:t>
            </a:r>
            <a:r>
              <a:rPr sz="1100" spc="-40" dirty="0">
                <a:solidFill>
                  <a:srgbClr val="A5B2C5"/>
                </a:solidFill>
                <a:latin typeface="Arial MT"/>
                <a:cs typeface="Arial MT"/>
              </a:rPr>
              <a:t>goal</a:t>
            </a:r>
            <a:r>
              <a:rPr sz="1100" spc="-35" dirty="0">
                <a:solidFill>
                  <a:srgbClr val="A5B2C5"/>
                </a:solidFill>
                <a:latin typeface="Arial MT"/>
                <a:cs typeface="Arial MT"/>
              </a:rPr>
              <a:t> </a:t>
            </a:r>
            <a:r>
              <a:rPr sz="1100" spc="-25" dirty="0">
                <a:solidFill>
                  <a:srgbClr val="A5B2C5"/>
                </a:solidFill>
                <a:latin typeface="Arial MT"/>
                <a:cs typeface="Arial MT"/>
              </a:rPr>
              <a:t>is:</a:t>
            </a:r>
            <a:endParaRPr sz="1100">
              <a:latin typeface="Arial MT"/>
              <a:cs typeface="Arial MT"/>
            </a:endParaRPr>
          </a:p>
          <a:p>
            <a:pPr marL="85725" algn="ctr">
              <a:lnSpc>
                <a:spcPct val="100000"/>
              </a:lnSpc>
              <a:spcBef>
                <a:spcPts val="935"/>
              </a:spcBef>
            </a:pPr>
            <a:r>
              <a:rPr sz="1100" b="1" spc="-10" dirty="0">
                <a:solidFill>
                  <a:srgbClr val="F4F8FC"/>
                </a:solidFill>
                <a:latin typeface="Arial"/>
                <a:cs typeface="Arial"/>
              </a:rPr>
              <a:t>Understand</a:t>
            </a:r>
            <a:endParaRPr sz="1100">
              <a:latin typeface="Arial"/>
              <a:cs typeface="Arial"/>
            </a:endParaRPr>
          </a:p>
          <a:p>
            <a:pPr marL="85725" algn="ctr">
              <a:lnSpc>
                <a:spcPct val="100000"/>
              </a:lnSpc>
              <a:spcBef>
                <a:spcPts val="35"/>
              </a:spcBef>
            </a:pPr>
            <a:r>
              <a:rPr sz="1100" spc="-50" dirty="0">
                <a:solidFill>
                  <a:srgbClr val="F4F8FC"/>
                </a:solidFill>
                <a:latin typeface="Lucida Sans Unicode"/>
                <a:cs typeface="Lucida Sans Unicode"/>
              </a:rPr>
              <a:t>↓</a:t>
            </a:r>
            <a:endParaRPr sz="1100">
              <a:latin typeface="Lucida Sans Unicode"/>
              <a:cs typeface="Lucida Sans Unicode"/>
            </a:endParaRPr>
          </a:p>
          <a:p>
            <a:pPr marL="85090" algn="ctr">
              <a:lnSpc>
                <a:spcPct val="100000"/>
              </a:lnSpc>
              <a:spcBef>
                <a:spcPts val="35"/>
              </a:spcBef>
            </a:pPr>
            <a:r>
              <a:rPr sz="1100" b="1" spc="-10" dirty="0">
                <a:solidFill>
                  <a:srgbClr val="F4F8FC"/>
                </a:solidFill>
                <a:latin typeface="Arial"/>
                <a:cs typeface="Arial"/>
              </a:rPr>
              <a:t>Explore</a:t>
            </a:r>
            <a:endParaRPr sz="1100">
              <a:latin typeface="Arial"/>
              <a:cs typeface="Arial"/>
            </a:endParaRPr>
          </a:p>
          <a:p>
            <a:pPr marL="85725" algn="ctr">
              <a:lnSpc>
                <a:spcPct val="100000"/>
              </a:lnSpc>
              <a:spcBef>
                <a:spcPts val="35"/>
              </a:spcBef>
            </a:pPr>
            <a:r>
              <a:rPr sz="1100" spc="-50" dirty="0">
                <a:solidFill>
                  <a:srgbClr val="F4F8FC"/>
                </a:solidFill>
                <a:latin typeface="Lucida Sans Unicode"/>
                <a:cs typeface="Lucida Sans Unicode"/>
              </a:rPr>
              <a:t>↓</a:t>
            </a:r>
            <a:endParaRPr sz="1100">
              <a:latin typeface="Lucida Sans Unicode"/>
              <a:cs typeface="Lucida Sans Unicode"/>
            </a:endParaRPr>
          </a:p>
          <a:p>
            <a:pPr marL="85090" algn="ctr">
              <a:lnSpc>
                <a:spcPct val="100000"/>
              </a:lnSpc>
              <a:spcBef>
                <a:spcPts val="35"/>
              </a:spcBef>
            </a:pPr>
            <a:r>
              <a:rPr sz="1100" b="1" spc="-10" dirty="0">
                <a:solidFill>
                  <a:srgbClr val="F4F8FC"/>
                </a:solidFill>
                <a:latin typeface="Arial"/>
                <a:cs typeface="Arial"/>
              </a:rPr>
              <a:t>Simulate</a:t>
            </a:r>
            <a:endParaRPr sz="1100">
              <a:latin typeface="Arial"/>
              <a:cs typeface="Arial"/>
            </a:endParaRPr>
          </a:p>
          <a:p>
            <a:pPr marL="85725" algn="ctr">
              <a:lnSpc>
                <a:spcPct val="100000"/>
              </a:lnSpc>
              <a:spcBef>
                <a:spcPts val="35"/>
              </a:spcBef>
            </a:pPr>
            <a:r>
              <a:rPr sz="1100" spc="-50" dirty="0">
                <a:solidFill>
                  <a:srgbClr val="F4F8FC"/>
                </a:solidFill>
                <a:latin typeface="Lucida Sans Unicode"/>
                <a:cs typeface="Lucida Sans Unicode"/>
              </a:rPr>
              <a:t>↓</a:t>
            </a:r>
            <a:endParaRPr sz="1100">
              <a:latin typeface="Lucida Sans Unicode"/>
              <a:cs typeface="Lucida Sans Unicode"/>
            </a:endParaRPr>
          </a:p>
          <a:p>
            <a:pPr marL="85090" algn="ctr">
              <a:lnSpc>
                <a:spcPct val="100000"/>
              </a:lnSpc>
              <a:spcBef>
                <a:spcPts val="30"/>
              </a:spcBef>
            </a:pPr>
            <a:r>
              <a:rPr sz="1100" b="1" spc="-10" dirty="0">
                <a:solidFill>
                  <a:srgbClr val="F4F8FC"/>
                </a:solidFill>
                <a:latin typeface="Arial"/>
                <a:cs typeface="Arial"/>
              </a:rPr>
              <a:t>Decide</a:t>
            </a:r>
            <a:endParaRPr sz="1100">
              <a:latin typeface="Arial"/>
              <a:cs typeface="Arial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/>
              <a:t>FinPilot</a:t>
            </a:r>
            <a:r>
              <a:rPr spc="45" dirty="0"/>
              <a:t> </a:t>
            </a:r>
            <a:r>
              <a:rPr dirty="0"/>
              <a:t>—</a:t>
            </a:r>
            <a:r>
              <a:rPr spc="50" dirty="0"/>
              <a:t> </a:t>
            </a:r>
            <a:r>
              <a:rPr dirty="0"/>
              <a:t>AI</a:t>
            </a:r>
            <a:r>
              <a:rPr spc="55" dirty="0"/>
              <a:t> </a:t>
            </a:r>
            <a:r>
              <a:rPr spc="-20" dirty="0"/>
              <a:t>Personal</a:t>
            </a:r>
            <a:r>
              <a:rPr spc="50" dirty="0"/>
              <a:t> </a:t>
            </a:r>
            <a:r>
              <a:rPr spc="-20" dirty="0"/>
              <a:t>Finance</a:t>
            </a:r>
            <a:r>
              <a:rPr spc="55" dirty="0"/>
              <a:t> </a:t>
            </a:r>
            <a:r>
              <a:rPr spc="-10" dirty="0"/>
              <a:t>Decision</a:t>
            </a:r>
            <a:r>
              <a:rPr spc="50" dirty="0"/>
              <a:t> </a:t>
            </a:r>
            <a:r>
              <a:rPr dirty="0"/>
              <a:t>Support</a:t>
            </a:r>
            <a:r>
              <a:rPr spc="45" dirty="0"/>
              <a:t> </a:t>
            </a:r>
            <a:r>
              <a:rPr spc="-10" dirty="0"/>
              <a:t>Agent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pc="-25" dirty="0"/>
              <a:t>29</a:t>
            </a:r>
          </a:p>
        </p:txBody>
      </p:sp>
    </p:spTree>
  </p:cSld>
  <p:clrMapOvr>
    <a:masterClrMapping/>
  </p:clrMapOvr>
  <p:transition>
    <p:cut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Current</a:t>
            </a:r>
            <a:r>
              <a:rPr spc="280" dirty="0"/>
              <a:t> </a:t>
            </a:r>
            <a:r>
              <a:rPr spc="-10" dirty="0"/>
              <a:t>Limitations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/>
              <a:t>FinPilot</a:t>
            </a:r>
            <a:r>
              <a:rPr spc="45" dirty="0"/>
              <a:t> </a:t>
            </a:r>
            <a:r>
              <a:rPr dirty="0"/>
              <a:t>—</a:t>
            </a:r>
            <a:r>
              <a:rPr spc="50" dirty="0"/>
              <a:t> </a:t>
            </a:r>
            <a:r>
              <a:rPr dirty="0"/>
              <a:t>AI</a:t>
            </a:r>
            <a:r>
              <a:rPr spc="55" dirty="0"/>
              <a:t> </a:t>
            </a:r>
            <a:r>
              <a:rPr spc="-20" dirty="0"/>
              <a:t>Personal</a:t>
            </a:r>
            <a:r>
              <a:rPr spc="50" dirty="0"/>
              <a:t> </a:t>
            </a:r>
            <a:r>
              <a:rPr spc="-20" dirty="0"/>
              <a:t>Finance</a:t>
            </a:r>
            <a:r>
              <a:rPr spc="55" dirty="0"/>
              <a:t> </a:t>
            </a:r>
            <a:r>
              <a:rPr spc="-10" dirty="0"/>
              <a:t>Decision</a:t>
            </a:r>
            <a:r>
              <a:rPr spc="50" dirty="0"/>
              <a:t> </a:t>
            </a:r>
            <a:r>
              <a:rPr dirty="0"/>
              <a:t>Support</a:t>
            </a:r>
            <a:r>
              <a:rPr spc="45" dirty="0"/>
              <a:t> </a:t>
            </a:r>
            <a:r>
              <a:rPr spc="-10" dirty="0"/>
              <a:t>Agent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pc="-25" dirty="0"/>
              <a:t>30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94513" y="789391"/>
            <a:ext cx="1964055" cy="1630045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34"/>
              </a:spcBef>
            </a:pPr>
            <a:r>
              <a:rPr sz="1100" b="1" spc="-20" dirty="0">
                <a:solidFill>
                  <a:srgbClr val="F4BE3B"/>
                </a:solidFill>
                <a:latin typeface="Arial"/>
                <a:cs typeface="Arial"/>
              </a:rPr>
              <a:t>Current</a:t>
            </a:r>
            <a:r>
              <a:rPr sz="1100" b="1" dirty="0">
                <a:solidFill>
                  <a:srgbClr val="F4BE3B"/>
                </a:solidFill>
                <a:latin typeface="Arial"/>
                <a:cs typeface="Arial"/>
              </a:rPr>
              <a:t> </a:t>
            </a:r>
            <a:r>
              <a:rPr sz="1100" b="1" spc="-10" dirty="0">
                <a:solidFill>
                  <a:srgbClr val="F4BE3B"/>
                </a:solidFill>
                <a:latin typeface="Arial"/>
                <a:cs typeface="Arial"/>
              </a:rPr>
              <a:t>implementation</a:t>
            </a:r>
            <a:endParaRPr sz="1100">
              <a:latin typeface="Arial"/>
              <a:cs typeface="Arial"/>
            </a:endParaRPr>
          </a:p>
          <a:p>
            <a:pPr marL="287020" indent="-207645">
              <a:lnSpc>
                <a:spcPct val="100000"/>
              </a:lnSpc>
              <a:spcBef>
                <a:spcPts val="334"/>
              </a:spcBef>
              <a:buClr>
                <a:srgbClr val="27D2DC"/>
              </a:buClr>
              <a:buSzPct val="90909"/>
              <a:buFont typeface="Lucida Sans Unicode"/>
              <a:buChar char="►"/>
              <a:tabLst>
                <a:tab pos="287020" algn="l"/>
              </a:tabLst>
            </a:pPr>
            <a:r>
              <a:rPr sz="1100" spc="-50" dirty="0">
                <a:solidFill>
                  <a:srgbClr val="F4F8FC"/>
                </a:solidFill>
                <a:latin typeface="Arial MT"/>
                <a:cs typeface="Arial MT"/>
              </a:rPr>
              <a:t>In-memory</a:t>
            </a:r>
            <a:r>
              <a:rPr sz="1100" spc="-15" dirty="0">
                <a:solidFill>
                  <a:srgbClr val="F4F8FC"/>
                </a:solidFill>
                <a:latin typeface="Arial MT"/>
                <a:cs typeface="Arial MT"/>
              </a:rPr>
              <a:t> </a:t>
            </a:r>
            <a:r>
              <a:rPr sz="1100" spc="-25" dirty="0">
                <a:solidFill>
                  <a:srgbClr val="F4F8FC"/>
                </a:solidFill>
                <a:latin typeface="Arial MT"/>
                <a:cs typeface="Arial MT"/>
              </a:rPr>
              <a:t>DuckDB</a:t>
            </a:r>
            <a:r>
              <a:rPr sz="1100" spc="-10" dirty="0">
                <a:solidFill>
                  <a:srgbClr val="F4F8FC"/>
                </a:solidFill>
                <a:latin typeface="Arial MT"/>
                <a:cs typeface="Arial MT"/>
              </a:rPr>
              <a:t> session</a:t>
            </a:r>
            <a:endParaRPr sz="1100">
              <a:latin typeface="Arial MT"/>
              <a:cs typeface="Arial MT"/>
            </a:endParaRPr>
          </a:p>
          <a:p>
            <a:pPr marL="287020" marR="5080" indent="-207645">
              <a:lnSpc>
                <a:spcPct val="102699"/>
              </a:lnSpc>
              <a:spcBef>
                <a:spcPts val="295"/>
              </a:spcBef>
              <a:buClr>
                <a:srgbClr val="27D2DC"/>
              </a:buClr>
              <a:buSzPct val="90909"/>
              <a:buFont typeface="Lucida Sans Unicode"/>
              <a:buChar char="►"/>
              <a:tabLst>
                <a:tab pos="289560" algn="l"/>
              </a:tabLst>
            </a:pPr>
            <a:r>
              <a:rPr sz="1100" spc="-100" dirty="0">
                <a:solidFill>
                  <a:srgbClr val="F4F8FC"/>
                </a:solidFill>
                <a:latin typeface="Arial MT"/>
                <a:cs typeface="Arial MT"/>
              </a:rPr>
              <a:t>Session</a:t>
            </a:r>
            <a:r>
              <a:rPr sz="1100" spc="25" dirty="0">
                <a:solidFill>
                  <a:srgbClr val="F4F8FC"/>
                </a:solidFill>
                <a:latin typeface="Arial MT"/>
                <a:cs typeface="Arial MT"/>
              </a:rPr>
              <a:t> </a:t>
            </a:r>
            <a:r>
              <a:rPr sz="1100" spc="-20" dirty="0">
                <a:solidFill>
                  <a:srgbClr val="F4F8FC"/>
                </a:solidFill>
                <a:latin typeface="Arial MT"/>
                <a:cs typeface="Arial MT"/>
              </a:rPr>
              <a:t>data</a:t>
            </a:r>
            <a:r>
              <a:rPr sz="1100" spc="-5" dirty="0">
                <a:solidFill>
                  <a:srgbClr val="F4F8FC"/>
                </a:solidFill>
                <a:latin typeface="Arial MT"/>
                <a:cs typeface="Arial MT"/>
              </a:rPr>
              <a:t> </a:t>
            </a:r>
            <a:r>
              <a:rPr sz="1100" spc="-75" dirty="0">
                <a:solidFill>
                  <a:srgbClr val="F4F8FC"/>
                </a:solidFill>
                <a:latin typeface="Arial MT"/>
                <a:cs typeface="Arial MT"/>
              </a:rPr>
              <a:t>disappears</a:t>
            </a:r>
            <a:r>
              <a:rPr sz="1100" spc="10" dirty="0">
                <a:solidFill>
                  <a:srgbClr val="F4F8FC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F4F8FC"/>
                </a:solidFill>
                <a:latin typeface="Arial MT"/>
                <a:cs typeface="Arial MT"/>
              </a:rPr>
              <a:t>after 	reset/refresh</a:t>
            </a:r>
            <a:endParaRPr sz="1100">
              <a:latin typeface="Arial MT"/>
              <a:cs typeface="Arial MT"/>
            </a:endParaRPr>
          </a:p>
          <a:p>
            <a:pPr marL="287020" marR="51435" indent="-207645">
              <a:lnSpc>
                <a:spcPct val="102600"/>
              </a:lnSpc>
              <a:spcBef>
                <a:spcPts val="300"/>
              </a:spcBef>
              <a:buClr>
                <a:srgbClr val="27D2DC"/>
              </a:buClr>
              <a:buSzPct val="90909"/>
              <a:buFont typeface="Lucida Sans Unicode"/>
              <a:buChar char="►"/>
              <a:tabLst>
                <a:tab pos="289560" algn="l"/>
              </a:tabLst>
            </a:pPr>
            <a:r>
              <a:rPr sz="1100" spc="-10" dirty="0">
                <a:solidFill>
                  <a:srgbClr val="F4F8FC"/>
                </a:solidFill>
                <a:latin typeface="Arial MT"/>
                <a:cs typeface="Arial MT"/>
              </a:rPr>
              <a:t>PDF</a:t>
            </a:r>
            <a:r>
              <a:rPr sz="1100" spc="-30" dirty="0">
                <a:solidFill>
                  <a:srgbClr val="F4F8FC"/>
                </a:solidFill>
                <a:latin typeface="Arial MT"/>
                <a:cs typeface="Arial MT"/>
              </a:rPr>
              <a:t> </a:t>
            </a:r>
            <a:r>
              <a:rPr sz="1100" spc="-75" dirty="0">
                <a:solidFill>
                  <a:srgbClr val="F4F8FC"/>
                </a:solidFill>
                <a:latin typeface="Arial MT"/>
                <a:cs typeface="Arial MT"/>
              </a:rPr>
              <a:t>parser</a:t>
            </a:r>
            <a:r>
              <a:rPr sz="1100" dirty="0">
                <a:solidFill>
                  <a:srgbClr val="F4F8FC"/>
                </a:solidFill>
                <a:latin typeface="Arial MT"/>
                <a:cs typeface="Arial MT"/>
              </a:rPr>
              <a:t> </a:t>
            </a:r>
            <a:r>
              <a:rPr sz="1100" spc="-90" dirty="0">
                <a:solidFill>
                  <a:srgbClr val="F4F8FC"/>
                </a:solidFill>
                <a:latin typeface="Arial MT"/>
                <a:cs typeface="Arial MT"/>
              </a:rPr>
              <a:t>depends</a:t>
            </a:r>
            <a:r>
              <a:rPr sz="1100" spc="15" dirty="0">
                <a:solidFill>
                  <a:srgbClr val="F4F8FC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F4F8FC"/>
                </a:solidFill>
                <a:latin typeface="Arial MT"/>
                <a:cs typeface="Arial MT"/>
              </a:rPr>
              <a:t>on</a:t>
            </a:r>
            <a:r>
              <a:rPr sz="1100" spc="-5" dirty="0">
                <a:solidFill>
                  <a:srgbClr val="F4F8FC"/>
                </a:solidFill>
                <a:latin typeface="Arial MT"/>
                <a:cs typeface="Arial MT"/>
              </a:rPr>
              <a:t> </a:t>
            </a:r>
            <a:r>
              <a:rPr sz="1100" spc="-20" dirty="0">
                <a:solidFill>
                  <a:srgbClr val="F4F8FC"/>
                </a:solidFill>
                <a:latin typeface="Arial MT"/>
                <a:cs typeface="Arial MT"/>
              </a:rPr>
              <a:t>text 	</a:t>
            </a:r>
            <a:r>
              <a:rPr sz="1100" spc="-10" dirty="0">
                <a:solidFill>
                  <a:srgbClr val="F4F8FC"/>
                </a:solidFill>
                <a:latin typeface="Arial MT"/>
                <a:cs typeface="Arial MT"/>
              </a:rPr>
              <a:t>extraction</a:t>
            </a:r>
            <a:endParaRPr sz="1100">
              <a:latin typeface="Arial MT"/>
              <a:cs typeface="Arial MT"/>
            </a:endParaRPr>
          </a:p>
          <a:p>
            <a:pPr marL="287020" indent="-207645">
              <a:lnSpc>
                <a:spcPct val="100000"/>
              </a:lnSpc>
              <a:spcBef>
                <a:spcPts val="335"/>
              </a:spcBef>
              <a:buClr>
                <a:srgbClr val="27D2DC"/>
              </a:buClr>
              <a:buSzPct val="90909"/>
              <a:buFont typeface="Lucida Sans Unicode"/>
              <a:buChar char="►"/>
              <a:tabLst>
                <a:tab pos="287020" algn="l"/>
              </a:tabLst>
            </a:pPr>
            <a:r>
              <a:rPr sz="1100" spc="-90" dirty="0">
                <a:solidFill>
                  <a:srgbClr val="F4F8FC"/>
                </a:solidFill>
                <a:latin typeface="Arial MT"/>
                <a:cs typeface="Arial MT"/>
              </a:rPr>
              <a:t>Scanned</a:t>
            </a:r>
            <a:r>
              <a:rPr sz="1100" spc="15" dirty="0">
                <a:solidFill>
                  <a:srgbClr val="F4F8FC"/>
                </a:solidFill>
                <a:latin typeface="Arial MT"/>
                <a:cs typeface="Arial MT"/>
              </a:rPr>
              <a:t> </a:t>
            </a:r>
            <a:r>
              <a:rPr sz="1100" spc="-65" dirty="0">
                <a:solidFill>
                  <a:srgbClr val="F4F8FC"/>
                </a:solidFill>
                <a:latin typeface="Arial MT"/>
                <a:cs typeface="Arial MT"/>
              </a:rPr>
              <a:t>PDFs</a:t>
            </a:r>
            <a:r>
              <a:rPr sz="1100" spc="20" dirty="0">
                <a:solidFill>
                  <a:srgbClr val="F4F8FC"/>
                </a:solidFill>
                <a:latin typeface="Arial MT"/>
                <a:cs typeface="Arial MT"/>
              </a:rPr>
              <a:t> </a:t>
            </a:r>
            <a:r>
              <a:rPr sz="1100" spc="-50" dirty="0">
                <a:solidFill>
                  <a:srgbClr val="F4F8FC"/>
                </a:solidFill>
                <a:latin typeface="Arial MT"/>
                <a:cs typeface="Arial MT"/>
              </a:rPr>
              <a:t>require</a:t>
            </a:r>
            <a:r>
              <a:rPr sz="1100" spc="15" dirty="0">
                <a:solidFill>
                  <a:srgbClr val="F4F8FC"/>
                </a:solidFill>
                <a:latin typeface="Arial MT"/>
                <a:cs typeface="Arial MT"/>
              </a:rPr>
              <a:t> </a:t>
            </a:r>
            <a:r>
              <a:rPr sz="1100" spc="-25" dirty="0">
                <a:solidFill>
                  <a:srgbClr val="F4F8FC"/>
                </a:solidFill>
                <a:latin typeface="Arial MT"/>
                <a:cs typeface="Arial MT"/>
              </a:rPr>
              <a:t>OCR</a:t>
            </a:r>
            <a:endParaRPr sz="1100">
              <a:latin typeface="Arial MT"/>
              <a:cs typeface="Arial MT"/>
            </a:endParaRPr>
          </a:p>
          <a:p>
            <a:pPr marL="287020" indent="-207645">
              <a:lnSpc>
                <a:spcPct val="100000"/>
              </a:lnSpc>
              <a:spcBef>
                <a:spcPts val="334"/>
              </a:spcBef>
              <a:buClr>
                <a:srgbClr val="27D2DC"/>
              </a:buClr>
              <a:buSzPct val="90909"/>
              <a:buFont typeface="Lucida Sans Unicode"/>
              <a:buChar char="►"/>
              <a:tabLst>
                <a:tab pos="287020" algn="l"/>
              </a:tabLst>
            </a:pPr>
            <a:r>
              <a:rPr sz="1100" spc="-70" dirty="0">
                <a:solidFill>
                  <a:srgbClr val="F4F8FC"/>
                </a:solidFill>
                <a:latin typeface="Arial MT"/>
                <a:cs typeface="Arial MT"/>
              </a:rPr>
              <a:t>Demo-</a:t>
            </a:r>
            <a:r>
              <a:rPr sz="1100" spc="-40" dirty="0">
                <a:solidFill>
                  <a:srgbClr val="F4F8FC"/>
                </a:solidFill>
                <a:latin typeface="Arial MT"/>
                <a:cs typeface="Arial MT"/>
              </a:rPr>
              <a:t>oriented</a:t>
            </a:r>
            <a:r>
              <a:rPr sz="1100" spc="15" dirty="0">
                <a:solidFill>
                  <a:srgbClr val="F4F8FC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F4F8FC"/>
                </a:solidFill>
                <a:latin typeface="Arial MT"/>
                <a:cs typeface="Arial MT"/>
              </a:rPr>
              <a:t>deployment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020910" y="795221"/>
            <a:ext cx="164528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b="1" spc="-50" dirty="0">
                <a:solidFill>
                  <a:srgbClr val="308CFF"/>
                </a:solidFill>
                <a:latin typeface="Arial"/>
                <a:cs typeface="Arial"/>
              </a:rPr>
              <a:t>Engineering</a:t>
            </a:r>
            <a:r>
              <a:rPr sz="1100" b="1" spc="15" dirty="0">
                <a:solidFill>
                  <a:srgbClr val="308CFF"/>
                </a:solidFill>
                <a:latin typeface="Arial"/>
                <a:cs typeface="Arial"/>
              </a:rPr>
              <a:t> </a:t>
            </a:r>
            <a:r>
              <a:rPr sz="1100" b="1" spc="-35" dirty="0">
                <a:solidFill>
                  <a:srgbClr val="308CFF"/>
                </a:solidFill>
                <a:latin typeface="Arial"/>
                <a:cs typeface="Arial"/>
              </a:rPr>
              <a:t>opportunities</a:t>
            </a:r>
            <a:endParaRPr sz="11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088157" y="961476"/>
            <a:ext cx="1854200" cy="1496060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220345" indent="-207645">
              <a:lnSpc>
                <a:spcPct val="100000"/>
              </a:lnSpc>
              <a:spcBef>
                <a:spcPts val="434"/>
              </a:spcBef>
              <a:buClr>
                <a:srgbClr val="27D2DC"/>
              </a:buClr>
              <a:buSzPct val="90909"/>
              <a:buFont typeface="Lucida Sans Unicode"/>
              <a:buChar char="►"/>
              <a:tabLst>
                <a:tab pos="220345" algn="l"/>
              </a:tabLst>
            </a:pPr>
            <a:r>
              <a:rPr sz="1100" spc="-50" dirty="0">
                <a:solidFill>
                  <a:srgbClr val="F4F8FC"/>
                </a:solidFill>
                <a:latin typeface="Arial MT"/>
                <a:cs typeface="Arial MT"/>
              </a:rPr>
              <a:t>Persistent</a:t>
            </a:r>
            <a:r>
              <a:rPr sz="1100" dirty="0">
                <a:solidFill>
                  <a:srgbClr val="F4F8FC"/>
                </a:solidFill>
                <a:latin typeface="Arial MT"/>
                <a:cs typeface="Arial MT"/>
              </a:rPr>
              <a:t> </a:t>
            </a:r>
            <a:r>
              <a:rPr sz="1100" spc="-50" dirty="0">
                <a:solidFill>
                  <a:srgbClr val="F4F8FC"/>
                </a:solidFill>
                <a:latin typeface="Arial MT"/>
                <a:cs typeface="Arial MT"/>
              </a:rPr>
              <a:t>encrypted</a:t>
            </a:r>
            <a:r>
              <a:rPr sz="1100" dirty="0">
                <a:solidFill>
                  <a:srgbClr val="F4F8FC"/>
                </a:solidFill>
                <a:latin typeface="Arial MT"/>
                <a:cs typeface="Arial MT"/>
              </a:rPr>
              <a:t> </a:t>
            </a:r>
            <a:r>
              <a:rPr sz="1100" spc="-40" dirty="0">
                <a:solidFill>
                  <a:srgbClr val="F4F8FC"/>
                </a:solidFill>
                <a:latin typeface="Arial MT"/>
                <a:cs typeface="Arial MT"/>
              </a:rPr>
              <a:t>storage</a:t>
            </a:r>
            <a:endParaRPr sz="1100">
              <a:latin typeface="Arial MT"/>
              <a:cs typeface="Arial MT"/>
            </a:endParaRPr>
          </a:p>
          <a:p>
            <a:pPr marL="220345" indent="-207645">
              <a:lnSpc>
                <a:spcPct val="100000"/>
              </a:lnSpc>
              <a:spcBef>
                <a:spcPts val="334"/>
              </a:spcBef>
              <a:buClr>
                <a:srgbClr val="27D2DC"/>
              </a:buClr>
              <a:buSzPct val="90909"/>
              <a:buFont typeface="Lucida Sans Unicode"/>
              <a:buChar char="►"/>
              <a:tabLst>
                <a:tab pos="220345" algn="l"/>
              </a:tabLst>
            </a:pPr>
            <a:r>
              <a:rPr sz="1100" spc="-70" dirty="0">
                <a:solidFill>
                  <a:srgbClr val="F4F8FC"/>
                </a:solidFill>
                <a:latin typeface="Arial MT"/>
                <a:cs typeface="Arial MT"/>
              </a:rPr>
              <a:t>OCR</a:t>
            </a:r>
            <a:r>
              <a:rPr sz="1100" spc="-5" dirty="0">
                <a:solidFill>
                  <a:srgbClr val="F4F8FC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F4F8FC"/>
                </a:solidFill>
                <a:latin typeface="Arial MT"/>
                <a:cs typeface="Arial MT"/>
              </a:rPr>
              <a:t>pipeline</a:t>
            </a:r>
            <a:endParaRPr sz="1100">
              <a:latin typeface="Arial MT"/>
              <a:cs typeface="Arial MT"/>
            </a:endParaRPr>
          </a:p>
          <a:p>
            <a:pPr marL="220345" indent="-207645">
              <a:lnSpc>
                <a:spcPct val="100000"/>
              </a:lnSpc>
              <a:spcBef>
                <a:spcPts val="330"/>
              </a:spcBef>
              <a:buClr>
                <a:srgbClr val="27D2DC"/>
              </a:buClr>
              <a:buSzPct val="90909"/>
              <a:buFont typeface="Lucida Sans Unicode"/>
              <a:buChar char="►"/>
              <a:tabLst>
                <a:tab pos="220345" algn="l"/>
              </a:tabLst>
            </a:pPr>
            <a:r>
              <a:rPr sz="1100" dirty="0">
                <a:solidFill>
                  <a:srgbClr val="F4F8FC"/>
                </a:solidFill>
                <a:latin typeface="Arial MT"/>
                <a:cs typeface="Arial MT"/>
              </a:rPr>
              <a:t>Bank/API</a:t>
            </a:r>
            <a:r>
              <a:rPr sz="1100" spc="5" dirty="0">
                <a:solidFill>
                  <a:srgbClr val="F4F8FC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F4F8FC"/>
                </a:solidFill>
                <a:latin typeface="Arial MT"/>
                <a:cs typeface="Arial MT"/>
              </a:rPr>
              <a:t>integrations</a:t>
            </a:r>
            <a:endParaRPr sz="1100">
              <a:latin typeface="Arial MT"/>
              <a:cs typeface="Arial MT"/>
            </a:endParaRPr>
          </a:p>
          <a:p>
            <a:pPr marL="220345" indent="-207645">
              <a:lnSpc>
                <a:spcPct val="100000"/>
              </a:lnSpc>
              <a:spcBef>
                <a:spcPts val="335"/>
              </a:spcBef>
              <a:buClr>
                <a:srgbClr val="27D2DC"/>
              </a:buClr>
              <a:buSzPct val="90909"/>
              <a:buFont typeface="Lucida Sans Unicode"/>
              <a:buChar char="►"/>
              <a:tabLst>
                <a:tab pos="220345" algn="l"/>
              </a:tabLst>
            </a:pPr>
            <a:r>
              <a:rPr sz="1100" spc="-10" dirty="0">
                <a:solidFill>
                  <a:srgbClr val="F4F8FC"/>
                </a:solidFill>
                <a:latin typeface="Arial MT"/>
                <a:cs typeface="Arial MT"/>
              </a:rPr>
              <a:t>Authentication</a:t>
            </a:r>
            <a:endParaRPr sz="1100">
              <a:latin typeface="Arial MT"/>
              <a:cs typeface="Arial MT"/>
            </a:endParaRPr>
          </a:p>
          <a:p>
            <a:pPr marL="220345" indent="-207645">
              <a:lnSpc>
                <a:spcPct val="100000"/>
              </a:lnSpc>
              <a:spcBef>
                <a:spcPts val="335"/>
              </a:spcBef>
              <a:buClr>
                <a:srgbClr val="27D2DC"/>
              </a:buClr>
              <a:buSzPct val="90909"/>
              <a:buFont typeface="Lucida Sans Unicode"/>
              <a:buChar char="►"/>
              <a:tabLst>
                <a:tab pos="220345" algn="l"/>
              </a:tabLst>
            </a:pPr>
            <a:r>
              <a:rPr sz="1100" spc="-30" dirty="0">
                <a:solidFill>
                  <a:srgbClr val="F4F8FC"/>
                </a:solidFill>
                <a:latin typeface="Arial MT"/>
                <a:cs typeface="Arial MT"/>
              </a:rPr>
              <a:t>Multi-</a:t>
            </a:r>
            <a:r>
              <a:rPr sz="1100" dirty="0">
                <a:solidFill>
                  <a:srgbClr val="F4F8FC"/>
                </a:solidFill>
                <a:latin typeface="Arial MT"/>
                <a:cs typeface="Arial MT"/>
              </a:rPr>
              <a:t>user</a:t>
            </a:r>
            <a:r>
              <a:rPr sz="1100" spc="-10" dirty="0">
                <a:solidFill>
                  <a:srgbClr val="F4F8FC"/>
                </a:solidFill>
                <a:latin typeface="Arial MT"/>
                <a:cs typeface="Arial MT"/>
              </a:rPr>
              <a:t> architecture</a:t>
            </a:r>
            <a:endParaRPr sz="1100">
              <a:latin typeface="Arial MT"/>
              <a:cs typeface="Arial MT"/>
            </a:endParaRPr>
          </a:p>
          <a:p>
            <a:pPr marL="220345" indent="-207645">
              <a:lnSpc>
                <a:spcPct val="100000"/>
              </a:lnSpc>
              <a:spcBef>
                <a:spcPts val="334"/>
              </a:spcBef>
              <a:buClr>
                <a:srgbClr val="27D2DC"/>
              </a:buClr>
              <a:buSzPct val="90909"/>
              <a:buFont typeface="Lucida Sans Unicode"/>
              <a:buChar char="►"/>
              <a:tabLst>
                <a:tab pos="220345" algn="l"/>
              </a:tabLst>
            </a:pPr>
            <a:r>
              <a:rPr sz="1100" spc="-35" dirty="0">
                <a:solidFill>
                  <a:srgbClr val="F4F8FC"/>
                </a:solidFill>
                <a:latin typeface="Arial MT"/>
                <a:cs typeface="Arial MT"/>
              </a:rPr>
              <a:t>Automated</a:t>
            </a:r>
            <a:r>
              <a:rPr sz="1100" spc="10" dirty="0">
                <a:solidFill>
                  <a:srgbClr val="F4F8FC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F4F8FC"/>
                </a:solidFill>
                <a:latin typeface="Arial MT"/>
                <a:cs typeface="Arial MT"/>
              </a:rPr>
              <a:t>notifications</a:t>
            </a:r>
            <a:endParaRPr sz="1100">
              <a:latin typeface="Arial MT"/>
              <a:cs typeface="Arial MT"/>
            </a:endParaRPr>
          </a:p>
          <a:p>
            <a:pPr marL="220345" indent="-207645">
              <a:lnSpc>
                <a:spcPct val="100000"/>
              </a:lnSpc>
              <a:spcBef>
                <a:spcPts val="330"/>
              </a:spcBef>
              <a:buClr>
                <a:srgbClr val="27D2DC"/>
              </a:buClr>
              <a:buSzPct val="90909"/>
              <a:buFont typeface="Lucida Sans Unicode"/>
              <a:buChar char="►"/>
              <a:tabLst>
                <a:tab pos="220345" algn="l"/>
              </a:tabLst>
            </a:pPr>
            <a:r>
              <a:rPr sz="1100" spc="-30" dirty="0">
                <a:solidFill>
                  <a:srgbClr val="F4F8FC"/>
                </a:solidFill>
                <a:latin typeface="Arial MT"/>
                <a:cs typeface="Arial MT"/>
              </a:rPr>
              <a:t>More</a:t>
            </a:r>
            <a:r>
              <a:rPr sz="1100" spc="20" dirty="0">
                <a:solidFill>
                  <a:srgbClr val="F4F8FC"/>
                </a:solidFill>
                <a:latin typeface="Arial MT"/>
                <a:cs typeface="Arial MT"/>
              </a:rPr>
              <a:t> </a:t>
            </a:r>
            <a:r>
              <a:rPr sz="1100" spc="-85" dirty="0">
                <a:solidFill>
                  <a:srgbClr val="F4F8FC"/>
                </a:solidFill>
                <a:latin typeface="Arial MT"/>
                <a:cs typeface="Arial MT"/>
              </a:rPr>
              <a:t>advanced</a:t>
            </a:r>
            <a:r>
              <a:rPr sz="1100" spc="20" dirty="0">
                <a:solidFill>
                  <a:srgbClr val="F4F8FC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F4F8FC"/>
                </a:solidFill>
                <a:latin typeface="Arial MT"/>
                <a:cs typeface="Arial MT"/>
              </a:rPr>
              <a:t>forecasting</a:t>
            </a:r>
            <a:endParaRPr sz="1100">
              <a:latin typeface="Arial MT"/>
              <a:cs typeface="Arial MT"/>
            </a:endParaRPr>
          </a:p>
        </p:txBody>
      </p:sp>
    </p:spTree>
  </p:cSld>
  <p:clrMapOvr>
    <a:masterClrMapping/>
  </p:clrMapOvr>
  <p:transition>
    <p:cut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Future</a:t>
            </a:r>
            <a:r>
              <a:rPr spc="270" dirty="0"/>
              <a:t> </a:t>
            </a:r>
            <a:r>
              <a:rPr spc="-20" dirty="0"/>
              <a:t>Scope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787582" y="962121"/>
            <a:ext cx="851535" cy="365125"/>
            <a:chOff x="787582" y="962121"/>
            <a:chExt cx="851535" cy="365125"/>
          </a:xfrm>
        </p:grpSpPr>
        <p:sp>
          <p:nvSpPr>
            <p:cNvPr id="4" name="object 4"/>
            <p:cNvSpPr/>
            <p:nvPr/>
          </p:nvSpPr>
          <p:spPr>
            <a:xfrm>
              <a:off x="790122" y="964661"/>
              <a:ext cx="846455" cy="360045"/>
            </a:xfrm>
            <a:custGeom>
              <a:avLst/>
              <a:gdLst/>
              <a:ahLst/>
              <a:cxnLst/>
              <a:rect l="l" t="t" r="r" b="b"/>
              <a:pathLst>
                <a:path w="846455" h="360044">
                  <a:moveTo>
                    <a:pt x="782749" y="0"/>
                  </a:moveTo>
                  <a:lnTo>
                    <a:pt x="63263" y="0"/>
                  </a:lnTo>
                  <a:lnTo>
                    <a:pt x="38638" y="4971"/>
                  </a:lnTo>
                  <a:lnTo>
                    <a:pt x="18529" y="18529"/>
                  </a:lnTo>
                  <a:lnTo>
                    <a:pt x="4971" y="38638"/>
                  </a:lnTo>
                  <a:lnTo>
                    <a:pt x="0" y="63263"/>
                  </a:lnTo>
                  <a:lnTo>
                    <a:pt x="0" y="296740"/>
                  </a:lnTo>
                  <a:lnTo>
                    <a:pt x="4971" y="321365"/>
                  </a:lnTo>
                  <a:lnTo>
                    <a:pt x="18529" y="341474"/>
                  </a:lnTo>
                  <a:lnTo>
                    <a:pt x="38638" y="355032"/>
                  </a:lnTo>
                  <a:lnTo>
                    <a:pt x="63263" y="360004"/>
                  </a:lnTo>
                  <a:lnTo>
                    <a:pt x="782749" y="360004"/>
                  </a:lnTo>
                  <a:lnTo>
                    <a:pt x="807374" y="355032"/>
                  </a:lnTo>
                  <a:lnTo>
                    <a:pt x="827483" y="341474"/>
                  </a:lnTo>
                  <a:lnTo>
                    <a:pt x="841041" y="321365"/>
                  </a:lnTo>
                  <a:lnTo>
                    <a:pt x="846012" y="296740"/>
                  </a:lnTo>
                  <a:lnTo>
                    <a:pt x="846012" y="63263"/>
                  </a:lnTo>
                  <a:lnTo>
                    <a:pt x="841041" y="38638"/>
                  </a:lnTo>
                  <a:lnTo>
                    <a:pt x="827483" y="18529"/>
                  </a:lnTo>
                  <a:lnTo>
                    <a:pt x="807374" y="4971"/>
                  </a:lnTo>
                  <a:lnTo>
                    <a:pt x="782749" y="0"/>
                  </a:lnTo>
                  <a:close/>
                </a:path>
              </a:pathLst>
            </a:custGeom>
            <a:solidFill>
              <a:srgbClr val="0C18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790122" y="964661"/>
              <a:ext cx="846455" cy="360045"/>
            </a:xfrm>
            <a:custGeom>
              <a:avLst/>
              <a:gdLst/>
              <a:ahLst/>
              <a:cxnLst/>
              <a:rect l="l" t="t" r="r" b="b"/>
              <a:pathLst>
                <a:path w="846455" h="360044">
                  <a:moveTo>
                    <a:pt x="782749" y="0"/>
                  </a:moveTo>
                  <a:lnTo>
                    <a:pt x="63263" y="0"/>
                  </a:lnTo>
                  <a:lnTo>
                    <a:pt x="38638" y="4971"/>
                  </a:lnTo>
                  <a:lnTo>
                    <a:pt x="18529" y="18529"/>
                  </a:lnTo>
                  <a:lnTo>
                    <a:pt x="4971" y="38638"/>
                  </a:lnTo>
                  <a:lnTo>
                    <a:pt x="0" y="63263"/>
                  </a:lnTo>
                  <a:lnTo>
                    <a:pt x="0" y="296740"/>
                  </a:lnTo>
                  <a:lnTo>
                    <a:pt x="4971" y="321365"/>
                  </a:lnTo>
                  <a:lnTo>
                    <a:pt x="18529" y="341474"/>
                  </a:lnTo>
                  <a:lnTo>
                    <a:pt x="38638" y="355032"/>
                  </a:lnTo>
                  <a:lnTo>
                    <a:pt x="63263" y="360004"/>
                  </a:lnTo>
                  <a:lnTo>
                    <a:pt x="782749" y="360004"/>
                  </a:lnTo>
                  <a:lnTo>
                    <a:pt x="807374" y="355032"/>
                  </a:lnTo>
                  <a:lnTo>
                    <a:pt x="827483" y="341474"/>
                  </a:lnTo>
                  <a:lnTo>
                    <a:pt x="841041" y="321365"/>
                  </a:lnTo>
                  <a:lnTo>
                    <a:pt x="846012" y="296740"/>
                  </a:lnTo>
                  <a:lnTo>
                    <a:pt x="846012" y="63263"/>
                  </a:lnTo>
                  <a:lnTo>
                    <a:pt x="841041" y="38638"/>
                  </a:lnTo>
                  <a:lnTo>
                    <a:pt x="827483" y="18529"/>
                  </a:lnTo>
                  <a:lnTo>
                    <a:pt x="807374" y="4971"/>
                  </a:lnTo>
                  <a:lnTo>
                    <a:pt x="782749" y="0"/>
                  </a:lnTo>
                  <a:close/>
                </a:path>
              </a:pathLst>
            </a:custGeom>
            <a:ln w="5060">
              <a:solidFill>
                <a:srgbClr val="308C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980020" y="973447"/>
            <a:ext cx="466725" cy="3295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1200"/>
              </a:lnSpc>
              <a:spcBef>
                <a:spcPts val="95"/>
              </a:spcBef>
            </a:pPr>
            <a:r>
              <a:rPr sz="1000" b="1" spc="-20" dirty="0">
                <a:solidFill>
                  <a:srgbClr val="F4F8FC"/>
                </a:solidFill>
                <a:latin typeface="Arial"/>
                <a:cs typeface="Arial"/>
              </a:rPr>
              <a:t>Current</a:t>
            </a:r>
            <a:endParaRPr sz="1000">
              <a:latin typeface="Arial"/>
              <a:cs typeface="Arial"/>
            </a:endParaRPr>
          </a:p>
          <a:p>
            <a:pPr marL="24130">
              <a:lnSpc>
                <a:spcPts val="1200"/>
              </a:lnSpc>
            </a:pPr>
            <a:r>
              <a:rPr sz="1000" spc="-10" dirty="0">
                <a:solidFill>
                  <a:srgbClr val="F4F8FC"/>
                </a:solidFill>
                <a:latin typeface="Arial MT"/>
                <a:cs typeface="Arial MT"/>
              </a:rPr>
              <a:t>FinPilot</a:t>
            </a:r>
            <a:endParaRPr sz="1000">
              <a:latin typeface="Arial MT"/>
              <a:cs typeface="Arial MT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1890658" y="962121"/>
            <a:ext cx="851535" cy="365125"/>
            <a:chOff x="1890658" y="962121"/>
            <a:chExt cx="851535" cy="365125"/>
          </a:xfrm>
        </p:grpSpPr>
        <p:sp>
          <p:nvSpPr>
            <p:cNvPr id="8" name="object 8"/>
            <p:cNvSpPr/>
            <p:nvPr/>
          </p:nvSpPr>
          <p:spPr>
            <a:xfrm>
              <a:off x="1893198" y="964661"/>
              <a:ext cx="846455" cy="360045"/>
            </a:xfrm>
            <a:custGeom>
              <a:avLst/>
              <a:gdLst/>
              <a:ahLst/>
              <a:cxnLst/>
              <a:rect l="l" t="t" r="r" b="b"/>
              <a:pathLst>
                <a:path w="846455" h="360044">
                  <a:moveTo>
                    <a:pt x="782749" y="0"/>
                  </a:moveTo>
                  <a:lnTo>
                    <a:pt x="63263" y="0"/>
                  </a:lnTo>
                  <a:lnTo>
                    <a:pt x="38638" y="4971"/>
                  </a:lnTo>
                  <a:lnTo>
                    <a:pt x="18529" y="18529"/>
                  </a:lnTo>
                  <a:lnTo>
                    <a:pt x="4971" y="38638"/>
                  </a:lnTo>
                  <a:lnTo>
                    <a:pt x="0" y="63263"/>
                  </a:lnTo>
                  <a:lnTo>
                    <a:pt x="0" y="296740"/>
                  </a:lnTo>
                  <a:lnTo>
                    <a:pt x="4971" y="321365"/>
                  </a:lnTo>
                  <a:lnTo>
                    <a:pt x="18529" y="341474"/>
                  </a:lnTo>
                  <a:lnTo>
                    <a:pt x="38638" y="355032"/>
                  </a:lnTo>
                  <a:lnTo>
                    <a:pt x="63263" y="360004"/>
                  </a:lnTo>
                  <a:lnTo>
                    <a:pt x="782749" y="360004"/>
                  </a:lnTo>
                  <a:lnTo>
                    <a:pt x="807374" y="355032"/>
                  </a:lnTo>
                  <a:lnTo>
                    <a:pt x="827483" y="341474"/>
                  </a:lnTo>
                  <a:lnTo>
                    <a:pt x="841041" y="321365"/>
                  </a:lnTo>
                  <a:lnTo>
                    <a:pt x="846012" y="296740"/>
                  </a:lnTo>
                  <a:lnTo>
                    <a:pt x="846012" y="63263"/>
                  </a:lnTo>
                  <a:lnTo>
                    <a:pt x="841041" y="38638"/>
                  </a:lnTo>
                  <a:lnTo>
                    <a:pt x="827483" y="18529"/>
                  </a:lnTo>
                  <a:lnTo>
                    <a:pt x="807374" y="4971"/>
                  </a:lnTo>
                  <a:lnTo>
                    <a:pt x="782749" y="0"/>
                  </a:lnTo>
                  <a:close/>
                </a:path>
              </a:pathLst>
            </a:custGeom>
            <a:solidFill>
              <a:srgbClr val="0C18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893198" y="964661"/>
              <a:ext cx="846455" cy="360045"/>
            </a:xfrm>
            <a:custGeom>
              <a:avLst/>
              <a:gdLst/>
              <a:ahLst/>
              <a:cxnLst/>
              <a:rect l="l" t="t" r="r" b="b"/>
              <a:pathLst>
                <a:path w="846455" h="360044">
                  <a:moveTo>
                    <a:pt x="782749" y="0"/>
                  </a:moveTo>
                  <a:lnTo>
                    <a:pt x="63263" y="0"/>
                  </a:lnTo>
                  <a:lnTo>
                    <a:pt x="38638" y="4971"/>
                  </a:lnTo>
                  <a:lnTo>
                    <a:pt x="18529" y="18529"/>
                  </a:lnTo>
                  <a:lnTo>
                    <a:pt x="4971" y="38638"/>
                  </a:lnTo>
                  <a:lnTo>
                    <a:pt x="0" y="63263"/>
                  </a:lnTo>
                  <a:lnTo>
                    <a:pt x="0" y="296740"/>
                  </a:lnTo>
                  <a:lnTo>
                    <a:pt x="4971" y="321365"/>
                  </a:lnTo>
                  <a:lnTo>
                    <a:pt x="18529" y="341474"/>
                  </a:lnTo>
                  <a:lnTo>
                    <a:pt x="38638" y="355032"/>
                  </a:lnTo>
                  <a:lnTo>
                    <a:pt x="63263" y="360004"/>
                  </a:lnTo>
                  <a:lnTo>
                    <a:pt x="782749" y="360004"/>
                  </a:lnTo>
                  <a:lnTo>
                    <a:pt x="807374" y="355032"/>
                  </a:lnTo>
                  <a:lnTo>
                    <a:pt x="827483" y="341474"/>
                  </a:lnTo>
                  <a:lnTo>
                    <a:pt x="841041" y="321365"/>
                  </a:lnTo>
                  <a:lnTo>
                    <a:pt x="846012" y="296740"/>
                  </a:lnTo>
                  <a:lnTo>
                    <a:pt x="846012" y="63263"/>
                  </a:lnTo>
                  <a:lnTo>
                    <a:pt x="841041" y="38638"/>
                  </a:lnTo>
                  <a:lnTo>
                    <a:pt x="827483" y="18529"/>
                  </a:lnTo>
                  <a:lnTo>
                    <a:pt x="807374" y="4971"/>
                  </a:lnTo>
                  <a:lnTo>
                    <a:pt x="782749" y="0"/>
                  </a:lnTo>
                  <a:close/>
                </a:path>
              </a:pathLst>
            </a:custGeom>
            <a:ln w="5060">
              <a:solidFill>
                <a:srgbClr val="308C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1992172" y="962906"/>
            <a:ext cx="648970" cy="3295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75565">
              <a:lnSpc>
                <a:spcPct val="100000"/>
              </a:lnSpc>
              <a:spcBef>
                <a:spcPts val="95"/>
              </a:spcBef>
            </a:pPr>
            <a:r>
              <a:rPr sz="1000" spc="-10" dirty="0">
                <a:solidFill>
                  <a:srgbClr val="F4F8FC"/>
                </a:solidFill>
                <a:latin typeface="Arial MT"/>
                <a:cs typeface="Arial MT"/>
              </a:rPr>
              <a:t>Financial </a:t>
            </a:r>
            <a:r>
              <a:rPr sz="1000" spc="-35" dirty="0">
                <a:solidFill>
                  <a:srgbClr val="F4F8FC"/>
                </a:solidFill>
                <a:latin typeface="Arial MT"/>
                <a:cs typeface="Arial MT"/>
              </a:rPr>
              <a:t>Integrations</a:t>
            </a:r>
            <a:endParaRPr sz="1000">
              <a:latin typeface="Arial MT"/>
              <a:cs typeface="Arial MT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2993735" y="962121"/>
            <a:ext cx="866775" cy="365125"/>
            <a:chOff x="2993735" y="962121"/>
            <a:chExt cx="866775" cy="365125"/>
          </a:xfrm>
        </p:grpSpPr>
        <p:sp>
          <p:nvSpPr>
            <p:cNvPr id="12" name="object 12"/>
            <p:cNvSpPr/>
            <p:nvPr/>
          </p:nvSpPr>
          <p:spPr>
            <a:xfrm>
              <a:off x="2996275" y="964661"/>
              <a:ext cx="861694" cy="360045"/>
            </a:xfrm>
            <a:custGeom>
              <a:avLst/>
              <a:gdLst/>
              <a:ahLst/>
              <a:cxnLst/>
              <a:rect l="l" t="t" r="r" b="b"/>
              <a:pathLst>
                <a:path w="861695" h="360044">
                  <a:moveTo>
                    <a:pt x="798371" y="0"/>
                  </a:moveTo>
                  <a:lnTo>
                    <a:pt x="63263" y="0"/>
                  </a:lnTo>
                  <a:lnTo>
                    <a:pt x="38638" y="4971"/>
                  </a:lnTo>
                  <a:lnTo>
                    <a:pt x="18529" y="18529"/>
                  </a:lnTo>
                  <a:lnTo>
                    <a:pt x="4971" y="38638"/>
                  </a:lnTo>
                  <a:lnTo>
                    <a:pt x="0" y="63263"/>
                  </a:lnTo>
                  <a:lnTo>
                    <a:pt x="0" y="296740"/>
                  </a:lnTo>
                  <a:lnTo>
                    <a:pt x="4971" y="321365"/>
                  </a:lnTo>
                  <a:lnTo>
                    <a:pt x="18529" y="341474"/>
                  </a:lnTo>
                  <a:lnTo>
                    <a:pt x="38638" y="355032"/>
                  </a:lnTo>
                  <a:lnTo>
                    <a:pt x="63263" y="360004"/>
                  </a:lnTo>
                  <a:lnTo>
                    <a:pt x="798371" y="360004"/>
                  </a:lnTo>
                  <a:lnTo>
                    <a:pt x="822996" y="355032"/>
                  </a:lnTo>
                  <a:lnTo>
                    <a:pt x="843105" y="341474"/>
                  </a:lnTo>
                  <a:lnTo>
                    <a:pt x="856663" y="321365"/>
                  </a:lnTo>
                  <a:lnTo>
                    <a:pt x="861634" y="296740"/>
                  </a:lnTo>
                  <a:lnTo>
                    <a:pt x="861634" y="63263"/>
                  </a:lnTo>
                  <a:lnTo>
                    <a:pt x="856663" y="38638"/>
                  </a:lnTo>
                  <a:lnTo>
                    <a:pt x="843105" y="18529"/>
                  </a:lnTo>
                  <a:lnTo>
                    <a:pt x="822996" y="4971"/>
                  </a:lnTo>
                  <a:lnTo>
                    <a:pt x="798371" y="0"/>
                  </a:lnTo>
                  <a:close/>
                </a:path>
              </a:pathLst>
            </a:custGeom>
            <a:solidFill>
              <a:srgbClr val="0C18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2996275" y="964661"/>
              <a:ext cx="861694" cy="360045"/>
            </a:xfrm>
            <a:custGeom>
              <a:avLst/>
              <a:gdLst/>
              <a:ahLst/>
              <a:cxnLst/>
              <a:rect l="l" t="t" r="r" b="b"/>
              <a:pathLst>
                <a:path w="861695" h="360044">
                  <a:moveTo>
                    <a:pt x="798371" y="0"/>
                  </a:moveTo>
                  <a:lnTo>
                    <a:pt x="63263" y="0"/>
                  </a:lnTo>
                  <a:lnTo>
                    <a:pt x="38638" y="4971"/>
                  </a:lnTo>
                  <a:lnTo>
                    <a:pt x="18529" y="18529"/>
                  </a:lnTo>
                  <a:lnTo>
                    <a:pt x="4971" y="38638"/>
                  </a:lnTo>
                  <a:lnTo>
                    <a:pt x="0" y="63263"/>
                  </a:lnTo>
                  <a:lnTo>
                    <a:pt x="0" y="296740"/>
                  </a:lnTo>
                  <a:lnTo>
                    <a:pt x="4971" y="321365"/>
                  </a:lnTo>
                  <a:lnTo>
                    <a:pt x="18529" y="341474"/>
                  </a:lnTo>
                  <a:lnTo>
                    <a:pt x="38638" y="355032"/>
                  </a:lnTo>
                  <a:lnTo>
                    <a:pt x="63263" y="360004"/>
                  </a:lnTo>
                  <a:lnTo>
                    <a:pt x="798371" y="360004"/>
                  </a:lnTo>
                  <a:lnTo>
                    <a:pt x="822996" y="355032"/>
                  </a:lnTo>
                  <a:lnTo>
                    <a:pt x="843105" y="341474"/>
                  </a:lnTo>
                  <a:lnTo>
                    <a:pt x="856663" y="321365"/>
                  </a:lnTo>
                  <a:lnTo>
                    <a:pt x="861634" y="296740"/>
                  </a:lnTo>
                  <a:lnTo>
                    <a:pt x="861634" y="63263"/>
                  </a:lnTo>
                  <a:lnTo>
                    <a:pt x="856663" y="38638"/>
                  </a:lnTo>
                  <a:lnTo>
                    <a:pt x="843105" y="18529"/>
                  </a:lnTo>
                  <a:lnTo>
                    <a:pt x="822996" y="4971"/>
                  </a:lnTo>
                  <a:lnTo>
                    <a:pt x="798371" y="0"/>
                  </a:lnTo>
                  <a:close/>
                </a:path>
              </a:pathLst>
            </a:custGeom>
            <a:ln w="5060">
              <a:solidFill>
                <a:srgbClr val="308C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3029432" y="973447"/>
            <a:ext cx="795655" cy="3295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210820">
              <a:lnSpc>
                <a:spcPct val="100000"/>
              </a:lnSpc>
              <a:spcBef>
                <a:spcPts val="95"/>
              </a:spcBef>
            </a:pPr>
            <a:r>
              <a:rPr sz="1000" spc="-10" dirty="0">
                <a:solidFill>
                  <a:srgbClr val="F4F8FC"/>
                </a:solidFill>
                <a:latin typeface="Arial MT"/>
                <a:cs typeface="Arial MT"/>
              </a:rPr>
              <a:t>Secure </a:t>
            </a:r>
            <a:r>
              <a:rPr sz="1000" spc="-55" dirty="0">
                <a:solidFill>
                  <a:srgbClr val="F4F8FC"/>
                </a:solidFill>
                <a:latin typeface="Arial MT"/>
                <a:cs typeface="Arial MT"/>
              </a:rPr>
              <a:t>Personal</a:t>
            </a:r>
            <a:r>
              <a:rPr sz="1000" spc="10" dirty="0">
                <a:solidFill>
                  <a:srgbClr val="F4F8FC"/>
                </a:solidFill>
                <a:latin typeface="Arial MT"/>
                <a:cs typeface="Arial MT"/>
              </a:rPr>
              <a:t> </a:t>
            </a:r>
            <a:r>
              <a:rPr sz="1000" spc="-10" dirty="0">
                <a:solidFill>
                  <a:srgbClr val="F4F8FC"/>
                </a:solidFill>
                <a:latin typeface="Arial MT"/>
                <a:cs typeface="Arial MT"/>
              </a:rPr>
              <a:t>Vault</a:t>
            </a:r>
            <a:endParaRPr sz="1000">
              <a:latin typeface="Arial MT"/>
              <a:cs typeface="Arial MT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4112433" y="962121"/>
            <a:ext cx="860425" cy="365125"/>
            <a:chOff x="4112433" y="962121"/>
            <a:chExt cx="860425" cy="365125"/>
          </a:xfrm>
        </p:grpSpPr>
        <p:sp>
          <p:nvSpPr>
            <p:cNvPr id="16" name="object 16"/>
            <p:cNvSpPr/>
            <p:nvPr/>
          </p:nvSpPr>
          <p:spPr>
            <a:xfrm>
              <a:off x="4114973" y="964661"/>
              <a:ext cx="855344" cy="360045"/>
            </a:xfrm>
            <a:custGeom>
              <a:avLst/>
              <a:gdLst/>
              <a:ahLst/>
              <a:cxnLst/>
              <a:rect l="l" t="t" r="r" b="b"/>
              <a:pathLst>
                <a:path w="855345" h="360044">
                  <a:moveTo>
                    <a:pt x="791695" y="0"/>
                  </a:moveTo>
                  <a:lnTo>
                    <a:pt x="63263" y="0"/>
                  </a:lnTo>
                  <a:lnTo>
                    <a:pt x="38638" y="4971"/>
                  </a:lnTo>
                  <a:lnTo>
                    <a:pt x="18529" y="18529"/>
                  </a:lnTo>
                  <a:lnTo>
                    <a:pt x="4971" y="38638"/>
                  </a:lnTo>
                  <a:lnTo>
                    <a:pt x="0" y="63263"/>
                  </a:lnTo>
                  <a:lnTo>
                    <a:pt x="0" y="296740"/>
                  </a:lnTo>
                  <a:lnTo>
                    <a:pt x="4971" y="321365"/>
                  </a:lnTo>
                  <a:lnTo>
                    <a:pt x="18529" y="341474"/>
                  </a:lnTo>
                  <a:lnTo>
                    <a:pt x="38638" y="355032"/>
                  </a:lnTo>
                  <a:lnTo>
                    <a:pt x="63263" y="360004"/>
                  </a:lnTo>
                  <a:lnTo>
                    <a:pt x="791695" y="360004"/>
                  </a:lnTo>
                  <a:lnTo>
                    <a:pt x="816320" y="355032"/>
                  </a:lnTo>
                  <a:lnTo>
                    <a:pt x="836429" y="341474"/>
                  </a:lnTo>
                  <a:lnTo>
                    <a:pt x="849987" y="321365"/>
                  </a:lnTo>
                  <a:lnTo>
                    <a:pt x="854958" y="296740"/>
                  </a:lnTo>
                  <a:lnTo>
                    <a:pt x="854958" y="63263"/>
                  </a:lnTo>
                  <a:lnTo>
                    <a:pt x="849987" y="38638"/>
                  </a:lnTo>
                  <a:lnTo>
                    <a:pt x="836429" y="18529"/>
                  </a:lnTo>
                  <a:lnTo>
                    <a:pt x="816320" y="4971"/>
                  </a:lnTo>
                  <a:lnTo>
                    <a:pt x="791695" y="0"/>
                  </a:lnTo>
                  <a:close/>
                </a:path>
              </a:pathLst>
            </a:custGeom>
            <a:solidFill>
              <a:srgbClr val="0C18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4114973" y="964661"/>
              <a:ext cx="855344" cy="360045"/>
            </a:xfrm>
            <a:custGeom>
              <a:avLst/>
              <a:gdLst/>
              <a:ahLst/>
              <a:cxnLst/>
              <a:rect l="l" t="t" r="r" b="b"/>
              <a:pathLst>
                <a:path w="855345" h="360044">
                  <a:moveTo>
                    <a:pt x="791695" y="0"/>
                  </a:moveTo>
                  <a:lnTo>
                    <a:pt x="63263" y="0"/>
                  </a:lnTo>
                  <a:lnTo>
                    <a:pt x="38638" y="4971"/>
                  </a:lnTo>
                  <a:lnTo>
                    <a:pt x="18529" y="18529"/>
                  </a:lnTo>
                  <a:lnTo>
                    <a:pt x="4971" y="38638"/>
                  </a:lnTo>
                  <a:lnTo>
                    <a:pt x="0" y="63263"/>
                  </a:lnTo>
                  <a:lnTo>
                    <a:pt x="0" y="296740"/>
                  </a:lnTo>
                  <a:lnTo>
                    <a:pt x="4971" y="321365"/>
                  </a:lnTo>
                  <a:lnTo>
                    <a:pt x="18529" y="341474"/>
                  </a:lnTo>
                  <a:lnTo>
                    <a:pt x="38638" y="355032"/>
                  </a:lnTo>
                  <a:lnTo>
                    <a:pt x="63263" y="360004"/>
                  </a:lnTo>
                  <a:lnTo>
                    <a:pt x="791695" y="360004"/>
                  </a:lnTo>
                  <a:lnTo>
                    <a:pt x="816320" y="355032"/>
                  </a:lnTo>
                  <a:lnTo>
                    <a:pt x="836429" y="341474"/>
                  </a:lnTo>
                  <a:lnTo>
                    <a:pt x="849987" y="321365"/>
                  </a:lnTo>
                  <a:lnTo>
                    <a:pt x="854958" y="296740"/>
                  </a:lnTo>
                  <a:lnTo>
                    <a:pt x="854958" y="63263"/>
                  </a:lnTo>
                  <a:lnTo>
                    <a:pt x="849987" y="38638"/>
                  </a:lnTo>
                  <a:lnTo>
                    <a:pt x="836429" y="18529"/>
                  </a:lnTo>
                  <a:lnTo>
                    <a:pt x="816320" y="4971"/>
                  </a:lnTo>
                  <a:lnTo>
                    <a:pt x="791695" y="0"/>
                  </a:lnTo>
                  <a:close/>
                </a:path>
              </a:pathLst>
            </a:custGeom>
            <a:ln w="5060">
              <a:solidFill>
                <a:srgbClr val="308C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4148111" y="961153"/>
            <a:ext cx="789305" cy="3295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133985">
              <a:lnSpc>
                <a:spcPct val="100000"/>
              </a:lnSpc>
              <a:spcBef>
                <a:spcPts val="95"/>
              </a:spcBef>
            </a:pPr>
            <a:r>
              <a:rPr sz="1000" spc="-10" dirty="0">
                <a:solidFill>
                  <a:srgbClr val="F4F8FC"/>
                </a:solidFill>
                <a:latin typeface="Arial MT"/>
                <a:cs typeface="Arial MT"/>
              </a:rPr>
              <a:t>Proactive </a:t>
            </a:r>
            <a:r>
              <a:rPr sz="1000" spc="-40" dirty="0">
                <a:solidFill>
                  <a:srgbClr val="F4F8FC"/>
                </a:solidFill>
                <a:latin typeface="Arial MT"/>
                <a:cs typeface="Arial MT"/>
              </a:rPr>
              <a:t>Finance</a:t>
            </a:r>
            <a:r>
              <a:rPr sz="1000" spc="-25" dirty="0">
                <a:solidFill>
                  <a:srgbClr val="F4F8FC"/>
                </a:solidFill>
                <a:latin typeface="Arial MT"/>
                <a:cs typeface="Arial MT"/>
              </a:rPr>
              <a:t> </a:t>
            </a:r>
            <a:r>
              <a:rPr sz="1000" spc="-30" dirty="0">
                <a:solidFill>
                  <a:srgbClr val="F4F8FC"/>
                </a:solidFill>
                <a:latin typeface="Arial MT"/>
                <a:cs typeface="Arial MT"/>
              </a:rPr>
              <a:t>Agent</a:t>
            </a:r>
            <a:endParaRPr sz="1000">
              <a:latin typeface="Arial MT"/>
              <a:cs typeface="Arial MT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1638666" y="1110433"/>
            <a:ext cx="2450465" cy="68580"/>
            <a:chOff x="1638666" y="1110433"/>
            <a:chExt cx="2450465" cy="68580"/>
          </a:xfrm>
        </p:grpSpPr>
        <p:pic>
          <p:nvPicPr>
            <p:cNvPr id="20" name="object 2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38666" y="1110433"/>
              <a:ext cx="228292" cy="68460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741742" y="1110433"/>
              <a:ext cx="228292" cy="68460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860440" y="1110433"/>
              <a:ext cx="228292" cy="68460"/>
            </a:xfrm>
            <a:prstGeom prst="rect">
              <a:avLst/>
            </a:prstGeom>
          </p:spPr>
        </p:pic>
      </p:grpSp>
      <p:sp>
        <p:nvSpPr>
          <p:cNvPr id="23" name="object 23"/>
          <p:cNvSpPr txBox="1"/>
          <p:nvPr/>
        </p:nvSpPr>
        <p:spPr>
          <a:xfrm>
            <a:off x="713879" y="1577541"/>
            <a:ext cx="696595" cy="70802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5080" algn="ctr">
              <a:lnSpc>
                <a:spcPct val="102600"/>
              </a:lnSpc>
              <a:spcBef>
                <a:spcPts val="55"/>
              </a:spcBef>
            </a:pPr>
            <a:r>
              <a:rPr sz="1100" b="1" spc="-60" dirty="0">
                <a:solidFill>
                  <a:srgbClr val="27D2DC"/>
                </a:solidFill>
                <a:latin typeface="Arial"/>
                <a:cs typeface="Arial"/>
              </a:rPr>
              <a:t>Connected </a:t>
            </a:r>
            <a:r>
              <a:rPr sz="1100" spc="-10" dirty="0">
                <a:solidFill>
                  <a:srgbClr val="27D2DC"/>
                </a:solidFill>
                <a:latin typeface="Arial MT"/>
                <a:cs typeface="Arial MT"/>
              </a:rPr>
              <a:t>Accounts Bills Payments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26" name="object 2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/>
              <a:t>FinPilot</a:t>
            </a:r>
            <a:r>
              <a:rPr spc="45" dirty="0"/>
              <a:t> </a:t>
            </a:r>
            <a:r>
              <a:rPr dirty="0"/>
              <a:t>—</a:t>
            </a:r>
            <a:r>
              <a:rPr spc="50" dirty="0"/>
              <a:t> </a:t>
            </a:r>
            <a:r>
              <a:rPr dirty="0"/>
              <a:t>AI</a:t>
            </a:r>
            <a:r>
              <a:rPr spc="55" dirty="0"/>
              <a:t> </a:t>
            </a:r>
            <a:r>
              <a:rPr spc="-20" dirty="0"/>
              <a:t>Personal</a:t>
            </a:r>
            <a:r>
              <a:rPr spc="50" dirty="0"/>
              <a:t> </a:t>
            </a:r>
            <a:r>
              <a:rPr spc="-20" dirty="0"/>
              <a:t>Finance</a:t>
            </a:r>
            <a:r>
              <a:rPr spc="55" dirty="0"/>
              <a:t> </a:t>
            </a:r>
            <a:r>
              <a:rPr spc="-10" dirty="0"/>
              <a:t>Decision</a:t>
            </a:r>
            <a:r>
              <a:rPr spc="50" dirty="0"/>
              <a:t> </a:t>
            </a:r>
            <a:r>
              <a:rPr dirty="0"/>
              <a:t>Support</a:t>
            </a:r>
            <a:r>
              <a:rPr spc="45" dirty="0"/>
              <a:t> </a:t>
            </a:r>
            <a:r>
              <a:rPr spc="-10" dirty="0"/>
              <a:t>Agent</a:t>
            </a:r>
          </a:p>
        </p:txBody>
      </p:sp>
      <p:sp>
        <p:nvSpPr>
          <p:cNvPr id="27" name="object 2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pc="-25" dirty="0"/>
              <a:t>31</a:t>
            </a:r>
          </a:p>
        </p:txBody>
      </p:sp>
      <p:sp>
        <p:nvSpPr>
          <p:cNvPr id="24" name="object 24"/>
          <p:cNvSpPr txBox="1"/>
          <p:nvPr/>
        </p:nvSpPr>
        <p:spPr>
          <a:xfrm>
            <a:off x="2435910" y="1588641"/>
            <a:ext cx="888365" cy="70802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5080" indent="-635" algn="ctr">
              <a:lnSpc>
                <a:spcPct val="102600"/>
              </a:lnSpc>
              <a:spcBef>
                <a:spcPts val="55"/>
              </a:spcBef>
            </a:pPr>
            <a:r>
              <a:rPr sz="1100" b="1" spc="-10" dirty="0">
                <a:solidFill>
                  <a:srgbClr val="32CC81"/>
                </a:solidFill>
                <a:latin typeface="Arial"/>
                <a:cs typeface="Arial"/>
              </a:rPr>
              <a:t>Secure </a:t>
            </a:r>
            <a:r>
              <a:rPr sz="1100" spc="-10" dirty="0">
                <a:solidFill>
                  <a:srgbClr val="32CC81"/>
                </a:solidFill>
                <a:latin typeface="Arial MT"/>
                <a:cs typeface="Arial MT"/>
              </a:rPr>
              <a:t>Encrypted Personal </a:t>
            </a:r>
            <a:r>
              <a:rPr sz="1100" spc="-45" dirty="0">
                <a:solidFill>
                  <a:srgbClr val="32CC81"/>
                </a:solidFill>
                <a:latin typeface="Arial MT"/>
                <a:cs typeface="Arial MT"/>
              </a:rPr>
              <a:t>Financial</a:t>
            </a:r>
            <a:r>
              <a:rPr sz="1100" spc="-25" dirty="0">
                <a:solidFill>
                  <a:srgbClr val="32CC81"/>
                </a:solidFill>
                <a:latin typeface="Arial MT"/>
                <a:cs typeface="Arial MT"/>
              </a:rPr>
              <a:t> </a:t>
            </a:r>
            <a:r>
              <a:rPr sz="1100" spc="-20" dirty="0">
                <a:solidFill>
                  <a:srgbClr val="32CC81"/>
                </a:solidFill>
                <a:latin typeface="Arial MT"/>
                <a:cs typeface="Arial MT"/>
              </a:rPr>
              <a:t>Vault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4164736" y="1590102"/>
            <a:ext cx="1067435" cy="70802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234315" marR="227965" algn="ctr">
              <a:lnSpc>
                <a:spcPct val="102600"/>
              </a:lnSpc>
              <a:spcBef>
                <a:spcPts val="55"/>
              </a:spcBef>
            </a:pPr>
            <a:r>
              <a:rPr sz="1100" b="1" spc="-40" dirty="0">
                <a:solidFill>
                  <a:srgbClr val="9664F0"/>
                </a:solidFill>
                <a:latin typeface="Arial"/>
                <a:cs typeface="Arial"/>
              </a:rPr>
              <a:t>Proactive </a:t>
            </a:r>
            <a:r>
              <a:rPr sz="1100" spc="-10" dirty="0">
                <a:solidFill>
                  <a:srgbClr val="9664F0"/>
                </a:solidFill>
                <a:latin typeface="Arial MT"/>
                <a:cs typeface="Arial MT"/>
              </a:rPr>
              <a:t>Alerts </a:t>
            </a:r>
            <a:r>
              <a:rPr sz="1100" spc="-25" dirty="0">
                <a:solidFill>
                  <a:srgbClr val="9664F0"/>
                </a:solidFill>
                <a:latin typeface="Arial MT"/>
                <a:cs typeface="Arial MT"/>
              </a:rPr>
              <a:t>Forecasts</a:t>
            </a:r>
            <a:endParaRPr sz="1100">
              <a:latin typeface="Arial MT"/>
              <a:cs typeface="Arial MT"/>
            </a:endParaRPr>
          </a:p>
          <a:p>
            <a:pPr algn="ctr">
              <a:lnSpc>
                <a:spcPct val="100000"/>
              </a:lnSpc>
              <a:spcBef>
                <a:spcPts val="35"/>
              </a:spcBef>
            </a:pPr>
            <a:r>
              <a:rPr sz="1100" spc="-60" dirty="0">
                <a:solidFill>
                  <a:srgbClr val="9664F0"/>
                </a:solidFill>
                <a:latin typeface="Arial MT"/>
                <a:cs typeface="Arial MT"/>
              </a:rPr>
              <a:t>Recommendations</a:t>
            </a:r>
            <a:endParaRPr sz="1100">
              <a:latin typeface="Arial MT"/>
              <a:cs typeface="Arial MT"/>
            </a:endParaRPr>
          </a:p>
        </p:txBody>
      </p:sp>
    </p:spTree>
  </p:cSld>
  <p:clrMapOvr>
    <a:masterClrMapping/>
  </p:clrMapOvr>
  <p:transition>
    <p:cut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70" dirty="0"/>
              <a:t>The</a:t>
            </a:r>
            <a:r>
              <a:rPr spc="160" dirty="0"/>
              <a:t> </a:t>
            </a:r>
            <a:r>
              <a:rPr dirty="0"/>
              <a:t>Bigger</a:t>
            </a:r>
            <a:r>
              <a:rPr spc="160" dirty="0"/>
              <a:t> </a:t>
            </a:r>
            <a:r>
              <a:rPr spc="-10" dirty="0"/>
              <a:t>Picture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64894" y="556055"/>
            <a:ext cx="3131820" cy="728980"/>
          </a:xfrm>
          <a:prstGeom prst="rect">
            <a:avLst/>
          </a:prstGeom>
        </p:spPr>
        <p:txBody>
          <a:bodyPr vert="horz" wrap="square" lIns="0" tIns="66040" rIns="0" bIns="0" rtlCol="0">
            <a:spAutoFit/>
          </a:bodyPr>
          <a:lstStyle/>
          <a:p>
            <a:pPr marL="12700" marR="5080" indent="227329">
              <a:lnSpc>
                <a:spcPts val="2570"/>
              </a:lnSpc>
              <a:spcBef>
                <a:spcPts val="520"/>
              </a:spcBef>
            </a:pPr>
            <a:r>
              <a:rPr sz="2450" spc="-204" dirty="0">
                <a:solidFill>
                  <a:srgbClr val="27D2DC"/>
                </a:solidFill>
                <a:latin typeface="Arial MT"/>
                <a:cs typeface="Arial MT"/>
              </a:rPr>
              <a:t>From</a:t>
            </a:r>
            <a:r>
              <a:rPr sz="2450" spc="25" dirty="0">
                <a:solidFill>
                  <a:srgbClr val="27D2DC"/>
                </a:solidFill>
                <a:latin typeface="Arial MT"/>
                <a:cs typeface="Arial MT"/>
              </a:rPr>
              <a:t> </a:t>
            </a:r>
            <a:r>
              <a:rPr sz="2450" spc="-140" dirty="0">
                <a:solidFill>
                  <a:srgbClr val="27D2DC"/>
                </a:solidFill>
                <a:latin typeface="Arial MT"/>
                <a:cs typeface="Arial MT"/>
              </a:rPr>
              <a:t>financial</a:t>
            </a:r>
            <a:r>
              <a:rPr sz="2450" spc="40" dirty="0">
                <a:solidFill>
                  <a:srgbClr val="27D2DC"/>
                </a:solidFill>
                <a:latin typeface="Arial MT"/>
                <a:cs typeface="Arial MT"/>
              </a:rPr>
              <a:t> </a:t>
            </a:r>
            <a:r>
              <a:rPr sz="2450" spc="-70" dirty="0">
                <a:solidFill>
                  <a:srgbClr val="27D2DC"/>
                </a:solidFill>
                <a:latin typeface="Arial MT"/>
                <a:cs typeface="Arial MT"/>
              </a:rPr>
              <a:t>records </a:t>
            </a:r>
            <a:r>
              <a:rPr sz="2450" dirty="0">
                <a:solidFill>
                  <a:srgbClr val="F4F8FC"/>
                </a:solidFill>
                <a:latin typeface="Arial MT"/>
                <a:cs typeface="Arial MT"/>
              </a:rPr>
              <a:t>to</a:t>
            </a:r>
            <a:r>
              <a:rPr sz="2450" spc="-15" dirty="0">
                <a:solidFill>
                  <a:srgbClr val="F4F8FC"/>
                </a:solidFill>
                <a:latin typeface="Arial MT"/>
                <a:cs typeface="Arial MT"/>
              </a:rPr>
              <a:t> </a:t>
            </a:r>
            <a:r>
              <a:rPr sz="2450" spc="-140" dirty="0">
                <a:solidFill>
                  <a:srgbClr val="F4F8FC"/>
                </a:solidFill>
                <a:latin typeface="Arial MT"/>
                <a:cs typeface="Arial MT"/>
              </a:rPr>
              <a:t>financial</a:t>
            </a:r>
            <a:r>
              <a:rPr sz="2450" dirty="0">
                <a:solidFill>
                  <a:srgbClr val="F4F8FC"/>
                </a:solidFill>
                <a:latin typeface="Arial MT"/>
                <a:cs typeface="Arial MT"/>
              </a:rPr>
              <a:t> </a:t>
            </a:r>
            <a:r>
              <a:rPr sz="2450" spc="-180" dirty="0">
                <a:solidFill>
                  <a:srgbClr val="F4F8FC"/>
                </a:solidFill>
                <a:latin typeface="Arial MT"/>
                <a:cs typeface="Arial MT"/>
              </a:rPr>
              <a:t>understanding</a:t>
            </a:r>
            <a:endParaRPr sz="2450">
              <a:latin typeface="Arial MT"/>
              <a:cs typeface="Arial MT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897448" y="1571242"/>
            <a:ext cx="3965575" cy="1153795"/>
            <a:chOff x="897448" y="1571242"/>
            <a:chExt cx="3965575" cy="1153795"/>
          </a:xfrm>
        </p:grpSpPr>
        <p:sp>
          <p:nvSpPr>
            <p:cNvPr id="5" name="object 5"/>
            <p:cNvSpPr/>
            <p:nvPr/>
          </p:nvSpPr>
          <p:spPr>
            <a:xfrm>
              <a:off x="899979" y="1573773"/>
              <a:ext cx="3960495" cy="1148715"/>
            </a:xfrm>
            <a:custGeom>
              <a:avLst/>
              <a:gdLst/>
              <a:ahLst/>
              <a:cxnLst/>
              <a:rect l="l" t="t" r="r" b="b"/>
              <a:pathLst>
                <a:path w="3960495" h="1148714">
                  <a:moveTo>
                    <a:pt x="3858828" y="0"/>
                  </a:moveTo>
                  <a:lnTo>
                    <a:pt x="101221" y="0"/>
                  </a:lnTo>
                  <a:lnTo>
                    <a:pt x="61821" y="7954"/>
                  </a:lnTo>
                  <a:lnTo>
                    <a:pt x="29646" y="29646"/>
                  </a:lnTo>
                  <a:lnTo>
                    <a:pt x="7954" y="61821"/>
                  </a:lnTo>
                  <a:lnTo>
                    <a:pt x="0" y="101221"/>
                  </a:lnTo>
                  <a:lnTo>
                    <a:pt x="0" y="1047057"/>
                  </a:lnTo>
                  <a:lnTo>
                    <a:pt x="7954" y="1086457"/>
                  </a:lnTo>
                  <a:lnTo>
                    <a:pt x="29646" y="1118632"/>
                  </a:lnTo>
                  <a:lnTo>
                    <a:pt x="61821" y="1140324"/>
                  </a:lnTo>
                  <a:lnTo>
                    <a:pt x="101221" y="1148279"/>
                  </a:lnTo>
                  <a:lnTo>
                    <a:pt x="3858828" y="1148279"/>
                  </a:lnTo>
                  <a:lnTo>
                    <a:pt x="3898229" y="1140324"/>
                  </a:lnTo>
                  <a:lnTo>
                    <a:pt x="3930403" y="1118632"/>
                  </a:lnTo>
                  <a:lnTo>
                    <a:pt x="3952096" y="1086457"/>
                  </a:lnTo>
                  <a:lnTo>
                    <a:pt x="3960050" y="1047057"/>
                  </a:lnTo>
                  <a:lnTo>
                    <a:pt x="3960050" y="101221"/>
                  </a:lnTo>
                  <a:lnTo>
                    <a:pt x="3952096" y="61821"/>
                  </a:lnTo>
                  <a:lnTo>
                    <a:pt x="3930403" y="29646"/>
                  </a:lnTo>
                  <a:lnTo>
                    <a:pt x="3898229" y="7954"/>
                  </a:lnTo>
                  <a:lnTo>
                    <a:pt x="3858828" y="0"/>
                  </a:lnTo>
                  <a:close/>
                </a:path>
              </a:pathLst>
            </a:custGeom>
            <a:solidFill>
              <a:srgbClr val="0C18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899979" y="1573773"/>
              <a:ext cx="3960495" cy="1148715"/>
            </a:xfrm>
            <a:custGeom>
              <a:avLst/>
              <a:gdLst/>
              <a:ahLst/>
              <a:cxnLst/>
              <a:rect l="l" t="t" r="r" b="b"/>
              <a:pathLst>
                <a:path w="3960495" h="1148714">
                  <a:moveTo>
                    <a:pt x="3858828" y="0"/>
                  </a:moveTo>
                  <a:lnTo>
                    <a:pt x="101221" y="0"/>
                  </a:lnTo>
                  <a:lnTo>
                    <a:pt x="61821" y="7954"/>
                  </a:lnTo>
                  <a:lnTo>
                    <a:pt x="29646" y="29646"/>
                  </a:lnTo>
                  <a:lnTo>
                    <a:pt x="7954" y="61821"/>
                  </a:lnTo>
                  <a:lnTo>
                    <a:pt x="0" y="101221"/>
                  </a:lnTo>
                  <a:lnTo>
                    <a:pt x="0" y="1047057"/>
                  </a:lnTo>
                  <a:lnTo>
                    <a:pt x="7954" y="1086457"/>
                  </a:lnTo>
                  <a:lnTo>
                    <a:pt x="29646" y="1118632"/>
                  </a:lnTo>
                  <a:lnTo>
                    <a:pt x="61821" y="1140324"/>
                  </a:lnTo>
                  <a:lnTo>
                    <a:pt x="101221" y="1148279"/>
                  </a:lnTo>
                  <a:lnTo>
                    <a:pt x="3858828" y="1148279"/>
                  </a:lnTo>
                  <a:lnTo>
                    <a:pt x="3898229" y="1140324"/>
                  </a:lnTo>
                  <a:lnTo>
                    <a:pt x="3930403" y="1118632"/>
                  </a:lnTo>
                  <a:lnTo>
                    <a:pt x="3952096" y="1086457"/>
                  </a:lnTo>
                  <a:lnTo>
                    <a:pt x="3960050" y="1047057"/>
                  </a:lnTo>
                  <a:lnTo>
                    <a:pt x="3960050" y="101221"/>
                  </a:lnTo>
                  <a:lnTo>
                    <a:pt x="3952096" y="61821"/>
                  </a:lnTo>
                  <a:lnTo>
                    <a:pt x="3930403" y="29646"/>
                  </a:lnTo>
                  <a:lnTo>
                    <a:pt x="3898229" y="7954"/>
                  </a:lnTo>
                  <a:lnTo>
                    <a:pt x="3858828" y="0"/>
                  </a:lnTo>
                  <a:close/>
                </a:path>
              </a:pathLst>
            </a:custGeom>
            <a:ln w="5060">
              <a:solidFill>
                <a:srgbClr val="308C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1178318" y="1643822"/>
            <a:ext cx="3402965" cy="911860"/>
          </a:xfrm>
          <a:prstGeom prst="rect">
            <a:avLst/>
          </a:prstGeom>
        </p:spPr>
        <p:txBody>
          <a:bodyPr vert="horz" wrap="square" lIns="0" tIns="71120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560"/>
              </a:spcBef>
            </a:pPr>
            <a:r>
              <a:rPr sz="1100" spc="-10" dirty="0">
                <a:solidFill>
                  <a:srgbClr val="A5B2C5"/>
                </a:solidFill>
                <a:latin typeface="Arial MT"/>
                <a:cs typeface="Arial MT"/>
              </a:rPr>
              <a:t>FinPilot</a:t>
            </a:r>
            <a:r>
              <a:rPr sz="1100" spc="-40" dirty="0">
                <a:solidFill>
                  <a:srgbClr val="A5B2C5"/>
                </a:solidFill>
                <a:latin typeface="Arial MT"/>
                <a:cs typeface="Arial MT"/>
              </a:rPr>
              <a:t> </a:t>
            </a:r>
            <a:r>
              <a:rPr sz="1100" spc="-50" dirty="0">
                <a:solidFill>
                  <a:srgbClr val="A5B2C5"/>
                </a:solidFill>
                <a:latin typeface="Arial MT"/>
                <a:cs typeface="Arial MT"/>
              </a:rPr>
              <a:t>brings</a:t>
            </a:r>
            <a:r>
              <a:rPr sz="1100" spc="-25" dirty="0">
                <a:solidFill>
                  <a:srgbClr val="A5B2C5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A5B2C5"/>
                </a:solidFill>
                <a:latin typeface="Arial MT"/>
                <a:cs typeface="Arial MT"/>
              </a:rPr>
              <a:t>together</a:t>
            </a:r>
            <a:endParaRPr sz="1100">
              <a:latin typeface="Arial MT"/>
              <a:cs typeface="Arial MT"/>
            </a:endParaRPr>
          </a:p>
          <a:p>
            <a:pPr marL="662305" marR="653415" algn="ctr">
              <a:lnSpc>
                <a:spcPct val="102699"/>
              </a:lnSpc>
              <a:spcBef>
                <a:spcPts val="425"/>
              </a:spcBef>
              <a:tabLst>
                <a:tab pos="1116330" algn="l"/>
                <a:tab pos="1156970" algn="l"/>
                <a:tab pos="1361440" algn="l"/>
                <a:tab pos="1401445" algn="l"/>
                <a:tab pos="2160905" algn="l"/>
                <a:tab pos="2406015" algn="l"/>
              </a:tabLst>
            </a:pPr>
            <a:r>
              <a:rPr sz="1100" b="1" spc="-20" dirty="0">
                <a:solidFill>
                  <a:srgbClr val="27D2DC"/>
                </a:solidFill>
                <a:latin typeface="Arial"/>
                <a:cs typeface="Arial"/>
              </a:rPr>
              <a:t>Data</a:t>
            </a:r>
            <a:r>
              <a:rPr sz="1100" b="1" dirty="0">
                <a:solidFill>
                  <a:srgbClr val="27D2DC"/>
                </a:solidFill>
                <a:latin typeface="Arial"/>
                <a:cs typeface="Arial"/>
              </a:rPr>
              <a:t>		</a:t>
            </a:r>
            <a:r>
              <a:rPr sz="1100" spc="150" dirty="0">
                <a:solidFill>
                  <a:srgbClr val="27D2DC"/>
                </a:solidFill>
                <a:latin typeface="Arial MT"/>
                <a:cs typeface="Arial MT"/>
              </a:rPr>
              <a:t>+</a:t>
            </a:r>
            <a:r>
              <a:rPr sz="1100" dirty="0">
                <a:solidFill>
                  <a:srgbClr val="27D2DC"/>
                </a:solidFill>
                <a:latin typeface="Arial MT"/>
                <a:cs typeface="Arial MT"/>
              </a:rPr>
              <a:t>		</a:t>
            </a:r>
            <a:r>
              <a:rPr sz="1100" b="1" spc="-10" dirty="0">
                <a:solidFill>
                  <a:srgbClr val="27D2DC"/>
                </a:solidFill>
                <a:latin typeface="Arial"/>
                <a:cs typeface="Arial"/>
              </a:rPr>
              <a:t>Analytics</a:t>
            </a:r>
            <a:r>
              <a:rPr sz="1100" b="1" dirty="0">
                <a:solidFill>
                  <a:srgbClr val="27D2DC"/>
                </a:solidFill>
                <a:latin typeface="Arial"/>
                <a:cs typeface="Arial"/>
              </a:rPr>
              <a:t>	</a:t>
            </a:r>
            <a:r>
              <a:rPr sz="1100" spc="150" dirty="0">
                <a:solidFill>
                  <a:srgbClr val="27D2DC"/>
                </a:solidFill>
                <a:latin typeface="Arial MT"/>
                <a:cs typeface="Arial MT"/>
              </a:rPr>
              <a:t>+</a:t>
            </a:r>
            <a:r>
              <a:rPr sz="1100" dirty="0">
                <a:solidFill>
                  <a:srgbClr val="27D2DC"/>
                </a:solidFill>
                <a:latin typeface="Arial MT"/>
                <a:cs typeface="Arial MT"/>
              </a:rPr>
              <a:t>	</a:t>
            </a:r>
            <a:r>
              <a:rPr sz="1100" b="1" spc="-10" dirty="0">
                <a:solidFill>
                  <a:srgbClr val="27D2DC"/>
                </a:solidFill>
                <a:latin typeface="Arial"/>
                <a:cs typeface="Arial"/>
              </a:rPr>
              <a:t>Plan-</a:t>
            </a:r>
            <a:r>
              <a:rPr sz="1100" b="1" spc="-20" dirty="0">
                <a:solidFill>
                  <a:srgbClr val="27D2DC"/>
                </a:solidFill>
                <a:latin typeface="Arial"/>
                <a:cs typeface="Arial"/>
              </a:rPr>
              <a:t>ning</a:t>
            </a:r>
            <a:r>
              <a:rPr sz="1100" b="1" dirty="0">
                <a:solidFill>
                  <a:srgbClr val="27D2DC"/>
                </a:solidFill>
                <a:latin typeface="Arial"/>
                <a:cs typeface="Arial"/>
              </a:rPr>
              <a:t>	</a:t>
            </a:r>
            <a:r>
              <a:rPr sz="1100" spc="150" dirty="0">
                <a:solidFill>
                  <a:srgbClr val="27D2DC"/>
                </a:solidFill>
                <a:latin typeface="Arial MT"/>
                <a:cs typeface="Arial MT"/>
              </a:rPr>
              <a:t>+</a:t>
            </a:r>
            <a:r>
              <a:rPr sz="1100" dirty="0">
                <a:solidFill>
                  <a:srgbClr val="27D2DC"/>
                </a:solidFill>
                <a:latin typeface="Arial MT"/>
                <a:cs typeface="Arial MT"/>
              </a:rPr>
              <a:t>	</a:t>
            </a:r>
            <a:r>
              <a:rPr sz="1100" b="1" dirty="0">
                <a:solidFill>
                  <a:srgbClr val="27D2DC"/>
                </a:solidFill>
                <a:latin typeface="Arial"/>
                <a:cs typeface="Arial"/>
              </a:rPr>
              <a:t>Natural</a:t>
            </a:r>
            <a:r>
              <a:rPr sz="1100" b="1" spc="-25" dirty="0">
                <a:solidFill>
                  <a:srgbClr val="27D2DC"/>
                </a:solidFill>
                <a:latin typeface="Arial"/>
                <a:cs typeface="Arial"/>
              </a:rPr>
              <a:t> </a:t>
            </a:r>
            <a:r>
              <a:rPr sz="1100" b="1" spc="-10" dirty="0">
                <a:solidFill>
                  <a:srgbClr val="27D2DC"/>
                </a:solidFill>
                <a:latin typeface="Arial"/>
                <a:cs typeface="Arial"/>
              </a:rPr>
              <a:t>Language</a:t>
            </a:r>
            <a:endParaRPr sz="11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745"/>
              </a:spcBef>
            </a:pPr>
            <a:r>
              <a:rPr sz="1100" dirty="0">
                <a:solidFill>
                  <a:srgbClr val="F4F8FC"/>
                </a:solidFill>
                <a:latin typeface="Arial MT"/>
                <a:cs typeface="Arial MT"/>
              </a:rPr>
              <a:t>into a </a:t>
            </a:r>
            <a:r>
              <a:rPr sz="1100" spc="-30" dirty="0">
                <a:solidFill>
                  <a:srgbClr val="F4F8FC"/>
                </a:solidFill>
                <a:latin typeface="Arial MT"/>
                <a:cs typeface="Arial MT"/>
              </a:rPr>
              <a:t>unified</a:t>
            </a:r>
            <a:r>
              <a:rPr sz="1100" dirty="0">
                <a:solidFill>
                  <a:srgbClr val="F4F8FC"/>
                </a:solidFill>
                <a:latin typeface="Arial MT"/>
                <a:cs typeface="Arial MT"/>
              </a:rPr>
              <a:t> </a:t>
            </a:r>
            <a:r>
              <a:rPr sz="1100" spc="-70" dirty="0">
                <a:solidFill>
                  <a:srgbClr val="F4F8FC"/>
                </a:solidFill>
                <a:latin typeface="Arial MT"/>
                <a:cs typeface="Arial MT"/>
              </a:rPr>
              <a:t>personal</a:t>
            </a:r>
            <a:r>
              <a:rPr sz="1100" dirty="0">
                <a:solidFill>
                  <a:srgbClr val="F4F8FC"/>
                </a:solidFill>
                <a:latin typeface="Arial MT"/>
                <a:cs typeface="Arial MT"/>
              </a:rPr>
              <a:t> </a:t>
            </a:r>
            <a:r>
              <a:rPr sz="1100" spc="-50" dirty="0">
                <a:solidFill>
                  <a:srgbClr val="F4F8FC"/>
                </a:solidFill>
                <a:latin typeface="Arial MT"/>
                <a:cs typeface="Arial MT"/>
              </a:rPr>
              <a:t>finance</a:t>
            </a:r>
            <a:r>
              <a:rPr sz="1100" dirty="0">
                <a:solidFill>
                  <a:srgbClr val="F4F8FC"/>
                </a:solidFill>
                <a:latin typeface="Arial MT"/>
                <a:cs typeface="Arial MT"/>
              </a:rPr>
              <a:t> </a:t>
            </a:r>
            <a:r>
              <a:rPr sz="1100" spc="-70" dirty="0">
                <a:solidFill>
                  <a:srgbClr val="F4F8FC"/>
                </a:solidFill>
                <a:latin typeface="Arial MT"/>
                <a:cs typeface="Arial MT"/>
              </a:rPr>
              <a:t>decision-</a:t>
            </a:r>
            <a:r>
              <a:rPr sz="1100" spc="-30" dirty="0">
                <a:solidFill>
                  <a:srgbClr val="F4F8FC"/>
                </a:solidFill>
                <a:latin typeface="Arial MT"/>
                <a:cs typeface="Arial MT"/>
              </a:rPr>
              <a:t>support</a:t>
            </a:r>
            <a:r>
              <a:rPr sz="1100" dirty="0">
                <a:solidFill>
                  <a:srgbClr val="F4F8FC"/>
                </a:solidFill>
                <a:latin typeface="Arial MT"/>
                <a:cs typeface="Arial MT"/>
              </a:rPr>
              <a:t> </a:t>
            </a:r>
            <a:r>
              <a:rPr sz="1100" spc="-30" dirty="0">
                <a:solidFill>
                  <a:srgbClr val="F4F8FC"/>
                </a:solidFill>
                <a:latin typeface="Arial MT"/>
                <a:cs typeface="Arial MT"/>
              </a:rPr>
              <a:t>experience.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/>
              <a:t>FinPilot</a:t>
            </a:r>
            <a:r>
              <a:rPr spc="45" dirty="0"/>
              <a:t> </a:t>
            </a:r>
            <a:r>
              <a:rPr dirty="0"/>
              <a:t>—</a:t>
            </a:r>
            <a:r>
              <a:rPr spc="50" dirty="0"/>
              <a:t> </a:t>
            </a:r>
            <a:r>
              <a:rPr dirty="0"/>
              <a:t>AI</a:t>
            </a:r>
            <a:r>
              <a:rPr spc="55" dirty="0"/>
              <a:t> </a:t>
            </a:r>
            <a:r>
              <a:rPr spc="-20" dirty="0"/>
              <a:t>Personal</a:t>
            </a:r>
            <a:r>
              <a:rPr spc="50" dirty="0"/>
              <a:t> </a:t>
            </a:r>
            <a:r>
              <a:rPr spc="-20" dirty="0"/>
              <a:t>Finance</a:t>
            </a:r>
            <a:r>
              <a:rPr spc="55" dirty="0"/>
              <a:t> </a:t>
            </a:r>
            <a:r>
              <a:rPr spc="-10" dirty="0"/>
              <a:t>Decision</a:t>
            </a:r>
            <a:r>
              <a:rPr spc="50" dirty="0"/>
              <a:t> </a:t>
            </a:r>
            <a:r>
              <a:rPr dirty="0"/>
              <a:t>Support</a:t>
            </a:r>
            <a:r>
              <a:rPr spc="45" dirty="0"/>
              <a:t> </a:t>
            </a:r>
            <a:r>
              <a:rPr spc="-10" dirty="0"/>
              <a:t>Agent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pc="-25" dirty="0"/>
              <a:t>32</a:t>
            </a:r>
          </a:p>
        </p:txBody>
      </p:sp>
    </p:spTree>
  </p:cSld>
  <p:clrMapOvr>
    <a:masterClrMapping/>
  </p:clrMapOvr>
  <p:transition>
    <p:cut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20" dirty="0"/>
              <a:t>Team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407996" y="917471"/>
            <a:ext cx="1805305" cy="1265555"/>
            <a:chOff x="407996" y="917471"/>
            <a:chExt cx="1805305" cy="1265555"/>
          </a:xfrm>
        </p:grpSpPr>
        <p:sp>
          <p:nvSpPr>
            <p:cNvPr id="4" name="object 4"/>
            <p:cNvSpPr/>
            <p:nvPr/>
          </p:nvSpPr>
          <p:spPr>
            <a:xfrm>
              <a:off x="410527" y="920001"/>
              <a:ext cx="1800225" cy="1260475"/>
            </a:xfrm>
            <a:custGeom>
              <a:avLst/>
              <a:gdLst/>
              <a:ahLst/>
              <a:cxnLst/>
              <a:rect l="l" t="t" r="r" b="b"/>
              <a:pathLst>
                <a:path w="1800225" h="1260475">
                  <a:moveTo>
                    <a:pt x="1673495" y="0"/>
                  </a:moveTo>
                  <a:lnTo>
                    <a:pt x="126527" y="0"/>
                  </a:lnTo>
                  <a:lnTo>
                    <a:pt x="77276" y="9943"/>
                  </a:lnTo>
                  <a:lnTo>
                    <a:pt x="37058" y="37058"/>
                  </a:lnTo>
                  <a:lnTo>
                    <a:pt x="9942" y="77276"/>
                  </a:lnTo>
                  <a:lnTo>
                    <a:pt x="0" y="126527"/>
                  </a:lnTo>
                  <a:lnTo>
                    <a:pt x="0" y="1133488"/>
                  </a:lnTo>
                  <a:lnTo>
                    <a:pt x="9942" y="1182739"/>
                  </a:lnTo>
                  <a:lnTo>
                    <a:pt x="37058" y="1222957"/>
                  </a:lnTo>
                  <a:lnTo>
                    <a:pt x="77276" y="1250072"/>
                  </a:lnTo>
                  <a:lnTo>
                    <a:pt x="126527" y="1260015"/>
                  </a:lnTo>
                  <a:lnTo>
                    <a:pt x="1673495" y="1260015"/>
                  </a:lnTo>
                  <a:lnTo>
                    <a:pt x="1722745" y="1250072"/>
                  </a:lnTo>
                  <a:lnTo>
                    <a:pt x="1762964" y="1222957"/>
                  </a:lnTo>
                  <a:lnTo>
                    <a:pt x="1790079" y="1182739"/>
                  </a:lnTo>
                  <a:lnTo>
                    <a:pt x="1800022" y="1133488"/>
                  </a:lnTo>
                  <a:lnTo>
                    <a:pt x="1800022" y="126527"/>
                  </a:lnTo>
                  <a:lnTo>
                    <a:pt x="1790079" y="77276"/>
                  </a:lnTo>
                  <a:lnTo>
                    <a:pt x="1762964" y="37058"/>
                  </a:lnTo>
                  <a:lnTo>
                    <a:pt x="1722745" y="9943"/>
                  </a:lnTo>
                  <a:lnTo>
                    <a:pt x="1673495" y="0"/>
                  </a:lnTo>
                  <a:close/>
                </a:path>
              </a:pathLst>
            </a:custGeom>
            <a:solidFill>
              <a:srgbClr val="0C18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10527" y="920001"/>
              <a:ext cx="1800225" cy="1260475"/>
            </a:xfrm>
            <a:custGeom>
              <a:avLst/>
              <a:gdLst/>
              <a:ahLst/>
              <a:cxnLst/>
              <a:rect l="l" t="t" r="r" b="b"/>
              <a:pathLst>
                <a:path w="1800225" h="1260475">
                  <a:moveTo>
                    <a:pt x="1673495" y="0"/>
                  </a:moveTo>
                  <a:lnTo>
                    <a:pt x="126527" y="0"/>
                  </a:lnTo>
                  <a:lnTo>
                    <a:pt x="77276" y="9943"/>
                  </a:lnTo>
                  <a:lnTo>
                    <a:pt x="37058" y="37058"/>
                  </a:lnTo>
                  <a:lnTo>
                    <a:pt x="9942" y="77276"/>
                  </a:lnTo>
                  <a:lnTo>
                    <a:pt x="0" y="126527"/>
                  </a:lnTo>
                  <a:lnTo>
                    <a:pt x="0" y="1133488"/>
                  </a:lnTo>
                  <a:lnTo>
                    <a:pt x="9942" y="1182739"/>
                  </a:lnTo>
                  <a:lnTo>
                    <a:pt x="37058" y="1222957"/>
                  </a:lnTo>
                  <a:lnTo>
                    <a:pt x="77276" y="1250072"/>
                  </a:lnTo>
                  <a:lnTo>
                    <a:pt x="126527" y="1260015"/>
                  </a:lnTo>
                  <a:lnTo>
                    <a:pt x="1673495" y="1260015"/>
                  </a:lnTo>
                  <a:lnTo>
                    <a:pt x="1722745" y="1250072"/>
                  </a:lnTo>
                  <a:lnTo>
                    <a:pt x="1762964" y="1222957"/>
                  </a:lnTo>
                  <a:lnTo>
                    <a:pt x="1790079" y="1182739"/>
                  </a:lnTo>
                  <a:lnTo>
                    <a:pt x="1800022" y="1133488"/>
                  </a:lnTo>
                  <a:lnTo>
                    <a:pt x="1800022" y="126527"/>
                  </a:lnTo>
                  <a:lnTo>
                    <a:pt x="1790079" y="77276"/>
                  </a:lnTo>
                  <a:lnTo>
                    <a:pt x="1762964" y="37058"/>
                  </a:lnTo>
                  <a:lnTo>
                    <a:pt x="1722745" y="9943"/>
                  </a:lnTo>
                  <a:lnTo>
                    <a:pt x="1673495" y="0"/>
                  </a:lnTo>
                  <a:close/>
                </a:path>
              </a:pathLst>
            </a:custGeom>
            <a:ln w="5060">
              <a:solidFill>
                <a:srgbClr val="27D2D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72819" y="1139837"/>
              <a:ext cx="276225" cy="317500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714425" y="1469149"/>
            <a:ext cx="1192530" cy="457834"/>
          </a:xfrm>
          <a:prstGeom prst="rect">
            <a:avLst/>
          </a:prstGeom>
        </p:spPr>
        <p:txBody>
          <a:bodyPr vert="horz" wrap="square" lIns="0" tIns="55879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439"/>
              </a:spcBef>
            </a:pPr>
            <a:r>
              <a:rPr sz="1200" b="1" spc="-20" dirty="0">
                <a:solidFill>
                  <a:srgbClr val="F4F8FC"/>
                </a:solidFill>
                <a:latin typeface="Arial"/>
                <a:cs typeface="Arial"/>
              </a:rPr>
              <a:t>Sreekanth</a:t>
            </a:r>
            <a:r>
              <a:rPr sz="1200" b="1" spc="10" dirty="0">
                <a:solidFill>
                  <a:srgbClr val="F4F8FC"/>
                </a:solidFill>
                <a:latin typeface="Arial"/>
                <a:cs typeface="Arial"/>
              </a:rPr>
              <a:t> </a:t>
            </a:r>
            <a:r>
              <a:rPr sz="1200" b="1" spc="-10" dirty="0">
                <a:solidFill>
                  <a:srgbClr val="F4F8FC"/>
                </a:solidFill>
                <a:latin typeface="Arial"/>
                <a:cs typeface="Arial"/>
              </a:rPr>
              <a:t>Beere</a:t>
            </a:r>
            <a:endParaRPr sz="12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300"/>
              </a:spcBef>
            </a:pPr>
            <a:r>
              <a:rPr sz="1100" spc="-114" dirty="0">
                <a:solidFill>
                  <a:srgbClr val="A5B2C5"/>
                </a:solidFill>
                <a:latin typeface="Arial MT"/>
                <a:cs typeface="Arial MT"/>
              </a:rPr>
              <a:t>CSE</a:t>
            </a:r>
            <a:r>
              <a:rPr sz="1100" spc="40" dirty="0">
                <a:solidFill>
                  <a:srgbClr val="A5B2C5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A5B2C5"/>
                </a:solidFill>
                <a:latin typeface="Arial MT"/>
                <a:cs typeface="Arial MT"/>
              </a:rPr>
              <a:t>–</a:t>
            </a:r>
            <a:r>
              <a:rPr sz="1100" spc="-10" dirty="0">
                <a:solidFill>
                  <a:srgbClr val="A5B2C5"/>
                </a:solidFill>
                <a:latin typeface="Arial MT"/>
                <a:cs typeface="Arial MT"/>
              </a:rPr>
              <a:t> SASTRA</a:t>
            </a:r>
            <a:endParaRPr sz="1100">
              <a:latin typeface="Arial MT"/>
              <a:cs typeface="Arial MT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3083988" y="917471"/>
            <a:ext cx="1805305" cy="1265555"/>
            <a:chOff x="3083988" y="917471"/>
            <a:chExt cx="1805305" cy="1265555"/>
          </a:xfrm>
        </p:grpSpPr>
        <p:sp>
          <p:nvSpPr>
            <p:cNvPr id="9" name="object 9"/>
            <p:cNvSpPr/>
            <p:nvPr/>
          </p:nvSpPr>
          <p:spPr>
            <a:xfrm>
              <a:off x="3086518" y="920001"/>
              <a:ext cx="1800225" cy="1260475"/>
            </a:xfrm>
            <a:custGeom>
              <a:avLst/>
              <a:gdLst/>
              <a:ahLst/>
              <a:cxnLst/>
              <a:rect l="l" t="t" r="r" b="b"/>
              <a:pathLst>
                <a:path w="1800225" h="1260475">
                  <a:moveTo>
                    <a:pt x="1673495" y="0"/>
                  </a:moveTo>
                  <a:lnTo>
                    <a:pt x="126527" y="0"/>
                  </a:lnTo>
                  <a:lnTo>
                    <a:pt x="77276" y="9943"/>
                  </a:lnTo>
                  <a:lnTo>
                    <a:pt x="37058" y="37058"/>
                  </a:lnTo>
                  <a:lnTo>
                    <a:pt x="9942" y="77276"/>
                  </a:lnTo>
                  <a:lnTo>
                    <a:pt x="0" y="126527"/>
                  </a:lnTo>
                  <a:lnTo>
                    <a:pt x="0" y="1133488"/>
                  </a:lnTo>
                  <a:lnTo>
                    <a:pt x="9942" y="1182739"/>
                  </a:lnTo>
                  <a:lnTo>
                    <a:pt x="37058" y="1222957"/>
                  </a:lnTo>
                  <a:lnTo>
                    <a:pt x="77276" y="1250072"/>
                  </a:lnTo>
                  <a:lnTo>
                    <a:pt x="126527" y="1260015"/>
                  </a:lnTo>
                  <a:lnTo>
                    <a:pt x="1673495" y="1260015"/>
                  </a:lnTo>
                  <a:lnTo>
                    <a:pt x="1722745" y="1250072"/>
                  </a:lnTo>
                  <a:lnTo>
                    <a:pt x="1762964" y="1222957"/>
                  </a:lnTo>
                  <a:lnTo>
                    <a:pt x="1790079" y="1182739"/>
                  </a:lnTo>
                  <a:lnTo>
                    <a:pt x="1800022" y="1133488"/>
                  </a:lnTo>
                  <a:lnTo>
                    <a:pt x="1800022" y="126527"/>
                  </a:lnTo>
                  <a:lnTo>
                    <a:pt x="1790079" y="77276"/>
                  </a:lnTo>
                  <a:lnTo>
                    <a:pt x="1762964" y="37058"/>
                  </a:lnTo>
                  <a:lnTo>
                    <a:pt x="1722745" y="9943"/>
                  </a:lnTo>
                  <a:lnTo>
                    <a:pt x="1673495" y="0"/>
                  </a:lnTo>
                  <a:close/>
                </a:path>
              </a:pathLst>
            </a:custGeom>
            <a:solidFill>
              <a:srgbClr val="0C18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086518" y="920001"/>
              <a:ext cx="1800225" cy="1260475"/>
            </a:xfrm>
            <a:custGeom>
              <a:avLst/>
              <a:gdLst/>
              <a:ahLst/>
              <a:cxnLst/>
              <a:rect l="l" t="t" r="r" b="b"/>
              <a:pathLst>
                <a:path w="1800225" h="1260475">
                  <a:moveTo>
                    <a:pt x="1673495" y="0"/>
                  </a:moveTo>
                  <a:lnTo>
                    <a:pt x="126527" y="0"/>
                  </a:lnTo>
                  <a:lnTo>
                    <a:pt x="77276" y="9943"/>
                  </a:lnTo>
                  <a:lnTo>
                    <a:pt x="37058" y="37058"/>
                  </a:lnTo>
                  <a:lnTo>
                    <a:pt x="9942" y="77276"/>
                  </a:lnTo>
                  <a:lnTo>
                    <a:pt x="0" y="126527"/>
                  </a:lnTo>
                  <a:lnTo>
                    <a:pt x="0" y="1133488"/>
                  </a:lnTo>
                  <a:lnTo>
                    <a:pt x="9942" y="1182739"/>
                  </a:lnTo>
                  <a:lnTo>
                    <a:pt x="37058" y="1222957"/>
                  </a:lnTo>
                  <a:lnTo>
                    <a:pt x="77276" y="1250072"/>
                  </a:lnTo>
                  <a:lnTo>
                    <a:pt x="126527" y="1260015"/>
                  </a:lnTo>
                  <a:lnTo>
                    <a:pt x="1673495" y="1260015"/>
                  </a:lnTo>
                  <a:lnTo>
                    <a:pt x="1722745" y="1250072"/>
                  </a:lnTo>
                  <a:lnTo>
                    <a:pt x="1762964" y="1222957"/>
                  </a:lnTo>
                  <a:lnTo>
                    <a:pt x="1790079" y="1182739"/>
                  </a:lnTo>
                  <a:lnTo>
                    <a:pt x="1800022" y="1133488"/>
                  </a:lnTo>
                  <a:lnTo>
                    <a:pt x="1800022" y="126527"/>
                  </a:lnTo>
                  <a:lnTo>
                    <a:pt x="1790079" y="77276"/>
                  </a:lnTo>
                  <a:lnTo>
                    <a:pt x="1762964" y="37058"/>
                  </a:lnTo>
                  <a:lnTo>
                    <a:pt x="1722745" y="9943"/>
                  </a:lnTo>
                  <a:lnTo>
                    <a:pt x="1673495" y="0"/>
                  </a:lnTo>
                  <a:close/>
                </a:path>
              </a:pathLst>
            </a:custGeom>
            <a:ln w="5060">
              <a:solidFill>
                <a:srgbClr val="32CC8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848811" y="1139837"/>
              <a:ext cx="276225" cy="317500"/>
            </a:xfrm>
            <a:prstGeom prst="rect">
              <a:avLst/>
            </a:prstGeom>
          </p:spPr>
        </p:pic>
      </p:grpSp>
      <p:sp>
        <p:nvSpPr>
          <p:cNvPr id="12" name="object 12"/>
          <p:cNvSpPr txBox="1"/>
          <p:nvPr/>
        </p:nvSpPr>
        <p:spPr>
          <a:xfrm>
            <a:off x="3376828" y="1512821"/>
            <a:ext cx="1219835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b="1" spc="-10" dirty="0">
                <a:solidFill>
                  <a:srgbClr val="F4F8FC"/>
                </a:solidFill>
                <a:latin typeface="Arial"/>
                <a:cs typeface="Arial"/>
              </a:rPr>
              <a:t>Krishna</a:t>
            </a:r>
            <a:r>
              <a:rPr sz="1200" b="1" spc="-40" dirty="0">
                <a:solidFill>
                  <a:srgbClr val="F4F8FC"/>
                </a:solidFill>
                <a:latin typeface="Arial"/>
                <a:cs typeface="Arial"/>
              </a:rPr>
              <a:t> </a:t>
            </a:r>
            <a:r>
              <a:rPr sz="1200" b="1" spc="-20" dirty="0">
                <a:solidFill>
                  <a:srgbClr val="F4F8FC"/>
                </a:solidFill>
                <a:latin typeface="Arial"/>
                <a:cs typeface="Arial"/>
              </a:rPr>
              <a:t>Harshith</a:t>
            </a:r>
            <a:endParaRPr sz="1200">
              <a:latin typeface="Arial"/>
              <a:cs typeface="Arial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/>
              <a:t>FinPilot</a:t>
            </a:r>
            <a:r>
              <a:rPr spc="45" dirty="0"/>
              <a:t> </a:t>
            </a:r>
            <a:r>
              <a:rPr dirty="0"/>
              <a:t>—</a:t>
            </a:r>
            <a:r>
              <a:rPr spc="50" dirty="0"/>
              <a:t> </a:t>
            </a:r>
            <a:r>
              <a:rPr dirty="0"/>
              <a:t>AI</a:t>
            </a:r>
            <a:r>
              <a:rPr spc="55" dirty="0"/>
              <a:t> </a:t>
            </a:r>
            <a:r>
              <a:rPr spc="-20" dirty="0"/>
              <a:t>Personal</a:t>
            </a:r>
            <a:r>
              <a:rPr spc="50" dirty="0"/>
              <a:t> </a:t>
            </a:r>
            <a:r>
              <a:rPr spc="-20" dirty="0"/>
              <a:t>Finance</a:t>
            </a:r>
            <a:r>
              <a:rPr spc="55" dirty="0"/>
              <a:t> </a:t>
            </a:r>
            <a:r>
              <a:rPr spc="-10" dirty="0"/>
              <a:t>Decision</a:t>
            </a:r>
            <a:r>
              <a:rPr spc="50" dirty="0"/>
              <a:t> </a:t>
            </a:r>
            <a:r>
              <a:rPr dirty="0"/>
              <a:t>Support</a:t>
            </a:r>
            <a:r>
              <a:rPr spc="45" dirty="0"/>
              <a:t> </a:t>
            </a:r>
            <a:r>
              <a:rPr spc="-10" dirty="0"/>
              <a:t>Agent</a:t>
            </a:r>
          </a:p>
        </p:txBody>
      </p:sp>
      <p:sp>
        <p:nvSpPr>
          <p:cNvPr id="16" name="object 1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pc="-25" dirty="0"/>
              <a:t>33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3493249" y="1583937"/>
            <a:ext cx="987425" cy="450850"/>
          </a:xfrm>
          <a:prstGeom prst="rect">
            <a:avLst/>
          </a:prstGeom>
        </p:spPr>
        <p:txBody>
          <a:bodyPr vert="horz" wrap="square" lIns="0" tIns="5206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9"/>
              </a:spcBef>
            </a:pPr>
            <a:r>
              <a:rPr sz="1200" b="1" spc="-20" dirty="0">
                <a:solidFill>
                  <a:srgbClr val="F4F8FC"/>
                </a:solidFill>
                <a:latin typeface="Arial"/>
                <a:cs typeface="Arial"/>
              </a:rPr>
              <a:t>Chinthagunta</a:t>
            </a:r>
            <a:endParaRPr sz="1200">
              <a:latin typeface="Arial"/>
              <a:cs typeface="Arial"/>
            </a:endParaRPr>
          </a:p>
          <a:p>
            <a:pPr marL="29845">
              <a:lnSpc>
                <a:spcPct val="100000"/>
              </a:lnSpc>
              <a:spcBef>
                <a:spcPts val="280"/>
              </a:spcBef>
            </a:pPr>
            <a:r>
              <a:rPr sz="1100" spc="-114" dirty="0">
                <a:solidFill>
                  <a:srgbClr val="A5B2C5"/>
                </a:solidFill>
                <a:latin typeface="Arial MT"/>
                <a:cs typeface="Arial MT"/>
              </a:rPr>
              <a:t>CSE</a:t>
            </a:r>
            <a:r>
              <a:rPr sz="1100" spc="40" dirty="0">
                <a:solidFill>
                  <a:srgbClr val="A5B2C5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A5B2C5"/>
                </a:solidFill>
                <a:latin typeface="Arial MT"/>
                <a:cs typeface="Arial MT"/>
              </a:rPr>
              <a:t>–</a:t>
            </a:r>
            <a:r>
              <a:rPr sz="1100" spc="-10" dirty="0">
                <a:solidFill>
                  <a:srgbClr val="A5B2C5"/>
                </a:solidFill>
                <a:latin typeface="Arial MT"/>
                <a:cs typeface="Arial MT"/>
              </a:rPr>
              <a:t> </a:t>
            </a:r>
            <a:r>
              <a:rPr sz="1100" spc="-25" dirty="0">
                <a:solidFill>
                  <a:srgbClr val="A5B2C5"/>
                </a:solidFill>
                <a:latin typeface="Arial MT"/>
                <a:cs typeface="Arial MT"/>
              </a:rPr>
              <a:t>SASTRA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332659" y="2396882"/>
            <a:ext cx="109537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b="1" dirty="0">
                <a:solidFill>
                  <a:srgbClr val="A5B2C5"/>
                </a:solidFill>
                <a:latin typeface="Arial"/>
                <a:cs typeface="Arial"/>
              </a:rPr>
              <a:t>Project:</a:t>
            </a:r>
            <a:r>
              <a:rPr sz="1100" b="1" spc="55" dirty="0">
                <a:solidFill>
                  <a:srgbClr val="A5B2C5"/>
                </a:solidFill>
                <a:latin typeface="Arial"/>
                <a:cs typeface="Arial"/>
              </a:rPr>
              <a:t> </a:t>
            </a:r>
            <a:r>
              <a:rPr sz="1100" b="1" spc="-10" dirty="0">
                <a:solidFill>
                  <a:srgbClr val="A5B2C5"/>
                </a:solidFill>
                <a:latin typeface="Arial"/>
                <a:cs typeface="Arial"/>
              </a:rPr>
              <a:t>FinPilot</a:t>
            </a:r>
            <a:endParaRPr sz="1100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-10" y="-4"/>
            <a:ext cx="5760085" cy="3240405"/>
          </a:xfrm>
          <a:custGeom>
            <a:avLst/>
            <a:gdLst/>
            <a:ahLst/>
            <a:cxnLst/>
            <a:rect l="l" t="t" r="r" b="b"/>
            <a:pathLst>
              <a:path w="5760085" h="3240405">
                <a:moveTo>
                  <a:pt x="0" y="3240041"/>
                </a:moveTo>
                <a:lnTo>
                  <a:pt x="0" y="0"/>
                </a:lnTo>
                <a:lnTo>
                  <a:pt x="5760073" y="0"/>
                </a:lnTo>
                <a:lnTo>
                  <a:pt x="5760073" y="3240041"/>
                </a:lnTo>
                <a:lnTo>
                  <a:pt x="0" y="3240041"/>
                </a:lnTo>
                <a:close/>
              </a:path>
            </a:pathLst>
          </a:custGeom>
          <a:solidFill>
            <a:srgbClr val="0C18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3960040" y="0"/>
            <a:ext cx="1800225" cy="1800225"/>
          </a:xfrm>
          <a:custGeom>
            <a:avLst/>
            <a:gdLst/>
            <a:ahLst/>
            <a:cxnLst/>
            <a:rect l="l" t="t" r="r" b="b"/>
            <a:pathLst>
              <a:path w="1800225" h="1800225">
                <a:moveTo>
                  <a:pt x="1799955" y="0"/>
                </a:moveTo>
                <a:lnTo>
                  <a:pt x="0" y="0"/>
                </a:lnTo>
                <a:lnTo>
                  <a:pt x="626" y="47949"/>
                </a:lnTo>
                <a:lnTo>
                  <a:pt x="2495" y="95593"/>
                </a:lnTo>
                <a:lnTo>
                  <a:pt x="5590" y="142913"/>
                </a:lnTo>
                <a:lnTo>
                  <a:pt x="9897" y="189892"/>
                </a:lnTo>
                <a:lnTo>
                  <a:pt x="15399" y="236515"/>
                </a:lnTo>
                <a:lnTo>
                  <a:pt x="22082" y="282767"/>
                </a:lnTo>
                <a:lnTo>
                  <a:pt x="29929" y="328631"/>
                </a:lnTo>
                <a:lnTo>
                  <a:pt x="38925" y="374093"/>
                </a:lnTo>
                <a:lnTo>
                  <a:pt x="49055" y="419136"/>
                </a:lnTo>
                <a:lnTo>
                  <a:pt x="60302" y="463746"/>
                </a:lnTo>
                <a:lnTo>
                  <a:pt x="72652" y="507906"/>
                </a:lnTo>
                <a:lnTo>
                  <a:pt x="86089" y="551602"/>
                </a:lnTo>
                <a:lnTo>
                  <a:pt x="100597" y="594817"/>
                </a:lnTo>
                <a:lnTo>
                  <a:pt x="116161" y="637536"/>
                </a:lnTo>
                <a:lnTo>
                  <a:pt x="132765" y="679743"/>
                </a:lnTo>
                <a:lnTo>
                  <a:pt x="150394" y="721424"/>
                </a:lnTo>
                <a:lnTo>
                  <a:pt x="169032" y="762562"/>
                </a:lnTo>
                <a:lnTo>
                  <a:pt x="188663" y="803141"/>
                </a:lnTo>
                <a:lnTo>
                  <a:pt x="209273" y="843147"/>
                </a:lnTo>
                <a:lnTo>
                  <a:pt x="230844" y="882564"/>
                </a:lnTo>
                <a:lnTo>
                  <a:pt x="253363" y="921376"/>
                </a:lnTo>
                <a:lnTo>
                  <a:pt x="276813" y="959567"/>
                </a:lnTo>
                <a:lnTo>
                  <a:pt x="301179" y="997123"/>
                </a:lnTo>
                <a:lnTo>
                  <a:pt x="326445" y="1034027"/>
                </a:lnTo>
                <a:lnTo>
                  <a:pt x="352596" y="1070264"/>
                </a:lnTo>
                <a:lnTo>
                  <a:pt x="379616" y="1105818"/>
                </a:lnTo>
                <a:lnTo>
                  <a:pt x="407490" y="1140675"/>
                </a:lnTo>
                <a:lnTo>
                  <a:pt x="436201" y="1174817"/>
                </a:lnTo>
                <a:lnTo>
                  <a:pt x="465736" y="1208231"/>
                </a:lnTo>
                <a:lnTo>
                  <a:pt x="496077" y="1240900"/>
                </a:lnTo>
                <a:lnTo>
                  <a:pt x="527209" y="1272808"/>
                </a:lnTo>
                <a:lnTo>
                  <a:pt x="559118" y="1303941"/>
                </a:lnTo>
                <a:lnTo>
                  <a:pt x="591786" y="1334282"/>
                </a:lnTo>
                <a:lnTo>
                  <a:pt x="625200" y="1363816"/>
                </a:lnTo>
                <a:lnTo>
                  <a:pt x="659343" y="1392528"/>
                </a:lnTo>
                <a:lnTo>
                  <a:pt x="694199" y="1420401"/>
                </a:lnTo>
                <a:lnTo>
                  <a:pt x="729754" y="1447421"/>
                </a:lnTo>
                <a:lnTo>
                  <a:pt x="765991" y="1473572"/>
                </a:lnTo>
                <a:lnTo>
                  <a:pt x="802895" y="1498838"/>
                </a:lnTo>
                <a:lnTo>
                  <a:pt x="840450" y="1523204"/>
                </a:lnTo>
                <a:lnTo>
                  <a:pt x="878642" y="1546654"/>
                </a:lnTo>
                <a:lnTo>
                  <a:pt x="917454" y="1569173"/>
                </a:lnTo>
                <a:lnTo>
                  <a:pt x="956870" y="1590745"/>
                </a:lnTo>
                <a:lnTo>
                  <a:pt x="996876" y="1611354"/>
                </a:lnTo>
                <a:lnTo>
                  <a:pt x="1037456" y="1630986"/>
                </a:lnTo>
                <a:lnTo>
                  <a:pt x="1078594" y="1649624"/>
                </a:lnTo>
                <a:lnTo>
                  <a:pt x="1120274" y="1667252"/>
                </a:lnTo>
                <a:lnTo>
                  <a:pt x="1162482" y="1683856"/>
                </a:lnTo>
                <a:lnTo>
                  <a:pt x="1205201" y="1699420"/>
                </a:lnTo>
                <a:lnTo>
                  <a:pt x="1248416" y="1713928"/>
                </a:lnTo>
                <a:lnTo>
                  <a:pt x="1292111" y="1727365"/>
                </a:lnTo>
                <a:lnTo>
                  <a:pt x="1336272" y="1739715"/>
                </a:lnTo>
                <a:lnTo>
                  <a:pt x="1380881" y="1750963"/>
                </a:lnTo>
                <a:lnTo>
                  <a:pt x="1425925" y="1761092"/>
                </a:lnTo>
                <a:lnTo>
                  <a:pt x="1471386" y="1770089"/>
                </a:lnTo>
                <a:lnTo>
                  <a:pt x="1517251" y="1777936"/>
                </a:lnTo>
                <a:lnTo>
                  <a:pt x="1563502" y="1784618"/>
                </a:lnTo>
                <a:lnTo>
                  <a:pt x="1610125" y="1790121"/>
                </a:lnTo>
                <a:lnTo>
                  <a:pt x="1657104" y="1794427"/>
                </a:lnTo>
                <a:lnTo>
                  <a:pt x="1704424" y="1797523"/>
                </a:lnTo>
                <a:lnTo>
                  <a:pt x="1752069" y="1799392"/>
                </a:lnTo>
                <a:lnTo>
                  <a:pt x="1799955" y="1800018"/>
                </a:lnTo>
                <a:lnTo>
                  <a:pt x="1799955" y="0"/>
                </a:lnTo>
                <a:close/>
              </a:path>
            </a:pathLst>
          </a:custGeom>
          <a:solidFill>
            <a:srgbClr val="308CFF">
              <a:alpha val="7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0" y="1800018"/>
            <a:ext cx="1440180" cy="1440180"/>
          </a:xfrm>
          <a:custGeom>
            <a:avLst/>
            <a:gdLst/>
            <a:ahLst/>
            <a:cxnLst/>
            <a:rect l="l" t="t" r="r" b="b"/>
            <a:pathLst>
              <a:path w="1440180" h="1440180">
                <a:moveTo>
                  <a:pt x="0" y="0"/>
                </a:moveTo>
                <a:lnTo>
                  <a:pt x="0" y="1439980"/>
                </a:lnTo>
                <a:lnTo>
                  <a:pt x="1440008" y="1439980"/>
                </a:lnTo>
                <a:lnTo>
                  <a:pt x="1439206" y="1391518"/>
                </a:lnTo>
                <a:lnTo>
                  <a:pt x="1436819" y="1343419"/>
                </a:lnTo>
                <a:lnTo>
                  <a:pt x="1432871" y="1295748"/>
                </a:lnTo>
                <a:lnTo>
                  <a:pt x="1427388" y="1248528"/>
                </a:lnTo>
                <a:lnTo>
                  <a:pt x="1420394" y="1201785"/>
                </a:lnTo>
                <a:lnTo>
                  <a:pt x="1411915" y="1155545"/>
                </a:lnTo>
                <a:lnTo>
                  <a:pt x="1401976" y="1109832"/>
                </a:lnTo>
                <a:lnTo>
                  <a:pt x="1390603" y="1064672"/>
                </a:lnTo>
                <a:lnTo>
                  <a:pt x="1377820" y="1020090"/>
                </a:lnTo>
                <a:lnTo>
                  <a:pt x="1363653" y="976111"/>
                </a:lnTo>
                <a:lnTo>
                  <a:pt x="1348126" y="932760"/>
                </a:lnTo>
                <a:lnTo>
                  <a:pt x="1331266" y="890063"/>
                </a:lnTo>
                <a:lnTo>
                  <a:pt x="1313097" y="848044"/>
                </a:lnTo>
                <a:lnTo>
                  <a:pt x="1293644" y="806730"/>
                </a:lnTo>
                <a:lnTo>
                  <a:pt x="1272933" y="766145"/>
                </a:lnTo>
                <a:lnTo>
                  <a:pt x="1250990" y="726314"/>
                </a:lnTo>
                <a:lnTo>
                  <a:pt x="1227838" y="687262"/>
                </a:lnTo>
                <a:lnTo>
                  <a:pt x="1203503" y="649015"/>
                </a:lnTo>
                <a:lnTo>
                  <a:pt x="1178011" y="611599"/>
                </a:lnTo>
                <a:lnTo>
                  <a:pt x="1151387" y="575037"/>
                </a:lnTo>
                <a:lnTo>
                  <a:pt x="1123655" y="539356"/>
                </a:lnTo>
                <a:lnTo>
                  <a:pt x="1094842" y="504580"/>
                </a:lnTo>
                <a:lnTo>
                  <a:pt x="1064971" y="470735"/>
                </a:lnTo>
                <a:lnTo>
                  <a:pt x="1034070" y="437846"/>
                </a:lnTo>
                <a:lnTo>
                  <a:pt x="1002162" y="405938"/>
                </a:lnTo>
                <a:lnTo>
                  <a:pt x="969272" y="375036"/>
                </a:lnTo>
                <a:lnTo>
                  <a:pt x="935427" y="345166"/>
                </a:lnTo>
                <a:lnTo>
                  <a:pt x="900652" y="316352"/>
                </a:lnTo>
                <a:lnTo>
                  <a:pt x="864970" y="288621"/>
                </a:lnTo>
                <a:lnTo>
                  <a:pt x="828409" y="261996"/>
                </a:lnTo>
                <a:lnTo>
                  <a:pt x="790992" y="236504"/>
                </a:lnTo>
                <a:lnTo>
                  <a:pt x="752745" y="212170"/>
                </a:lnTo>
                <a:lnTo>
                  <a:pt x="713694" y="189018"/>
                </a:lnTo>
                <a:lnTo>
                  <a:pt x="673863" y="167074"/>
                </a:lnTo>
                <a:lnTo>
                  <a:pt x="633277" y="146363"/>
                </a:lnTo>
                <a:lnTo>
                  <a:pt x="591963" y="126910"/>
                </a:lnTo>
                <a:lnTo>
                  <a:pt x="549944" y="108741"/>
                </a:lnTo>
                <a:lnTo>
                  <a:pt x="507247" y="91881"/>
                </a:lnTo>
                <a:lnTo>
                  <a:pt x="463897" y="76355"/>
                </a:lnTo>
                <a:lnTo>
                  <a:pt x="419918" y="62187"/>
                </a:lnTo>
                <a:lnTo>
                  <a:pt x="375336" y="49404"/>
                </a:lnTo>
                <a:lnTo>
                  <a:pt x="330175" y="38031"/>
                </a:lnTo>
                <a:lnTo>
                  <a:pt x="284463" y="28092"/>
                </a:lnTo>
                <a:lnTo>
                  <a:pt x="238222" y="19613"/>
                </a:lnTo>
                <a:lnTo>
                  <a:pt x="191480" y="12620"/>
                </a:lnTo>
                <a:lnTo>
                  <a:pt x="144260" y="7136"/>
                </a:lnTo>
                <a:lnTo>
                  <a:pt x="96588" y="3188"/>
                </a:lnTo>
                <a:lnTo>
                  <a:pt x="48489" y="801"/>
                </a:lnTo>
                <a:lnTo>
                  <a:pt x="0" y="0"/>
                </a:lnTo>
                <a:close/>
              </a:path>
            </a:pathLst>
          </a:custGeom>
          <a:solidFill>
            <a:srgbClr val="27D2DC">
              <a:alpha val="4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1944014" y="671003"/>
            <a:ext cx="1748789" cy="4032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450" spc="130" dirty="0"/>
              <a:t>Thank</a:t>
            </a:r>
            <a:r>
              <a:rPr sz="2450" spc="290" dirty="0"/>
              <a:t> </a:t>
            </a:r>
            <a:r>
              <a:rPr sz="2450" spc="-25" dirty="0"/>
              <a:t>You</a:t>
            </a:r>
            <a:endParaRPr sz="2450"/>
          </a:p>
        </p:txBody>
      </p:sp>
      <p:sp>
        <p:nvSpPr>
          <p:cNvPr id="6" name="object 6"/>
          <p:cNvSpPr/>
          <p:nvPr/>
        </p:nvSpPr>
        <p:spPr>
          <a:xfrm>
            <a:off x="2610002" y="1265923"/>
            <a:ext cx="540385" cy="0"/>
          </a:xfrm>
          <a:custGeom>
            <a:avLst/>
            <a:gdLst/>
            <a:ahLst/>
            <a:cxnLst/>
            <a:rect l="l" t="t" r="r" b="b"/>
            <a:pathLst>
              <a:path w="540385">
                <a:moveTo>
                  <a:pt x="0" y="0"/>
                </a:moveTo>
                <a:lnTo>
                  <a:pt x="540006" y="0"/>
                </a:lnTo>
              </a:path>
            </a:pathLst>
          </a:custGeom>
          <a:ln w="25305">
            <a:solidFill>
              <a:srgbClr val="27D2D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181138" y="1347189"/>
            <a:ext cx="3348354" cy="588645"/>
          </a:xfrm>
          <a:prstGeom prst="rect">
            <a:avLst/>
          </a:prstGeom>
        </p:spPr>
        <p:txBody>
          <a:bodyPr vert="horz" wrap="square" lIns="0" tIns="10541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830"/>
              </a:spcBef>
            </a:pPr>
            <a:r>
              <a:rPr sz="1400" spc="-10" dirty="0">
                <a:solidFill>
                  <a:srgbClr val="27D2DC"/>
                </a:solidFill>
                <a:latin typeface="Arial MT"/>
                <a:cs typeface="Arial MT"/>
              </a:rPr>
              <a:t>FinPilot</a:t>
            </a:r>
            <a:endParaRPr sz="1400">
              <a:latin typeface="Arial MT"/>
              <a:cs typeface="Arial MT"/>
            </a:endParaRPr>
          </a:p>
          <a:p>
            <a:pPr algn="ctr">
              <a:lnSpc>
                <a:spcPct val="100000"/>
              </a:lnSpc>
              <a:spcBef>
                <a:spcPts val="585"/>
              </a:spcBef>
            </a:pPr>
            <a:r>
              <a:rPr sz="1200" spc="-40" dirty="0">
                <a:solidFill>
                  <a:srgbClr val="A5B2C5"/>
                </a:solidFill>
                <a:latin typeface="Arial MT"/>
                <a:cs typeface="Arial MT"/>
              </a:rPr>
              <a:t>AI-</a:t>
            </a:r>
            <a:r>
              <a:rPr sz="1200" spc="-95" dirty="0">
                <a:solidFill>
                  <a:srgbClr val="A5B2C5"/>
                </a:solidFill>
                <a:latin typeface="Arial MT"/>
                <a:cs typeface="Arial MT"/>
              </a:rPr>
              <a:t>Powered</a:t>
            </a:r>
            <a:r>
              <a:rPr sz="1200" spc="20" dirty="0">
                <a:solidFill>
                  <a:srgbClr val="A5B2C5"/>
                </a:solidFill>
                <a:latin typeface="Arial MT"/>
                <a:cs typeface="Arial MT"/>
              </a:rPr>
              <a:t> </a:t>
            </a:r>
            <a:r>
              <a:rPr sz="1200" spc="-80" dirty="0">
                <a:solidFill>
                  <a:srgbClr val="A5B2C5"/>
                </a:solidFill>
                <a:latin typeface="Arial MT"/>
                <a:cs typeface="Arial MT"/>
              </a:rPr>
              <a:t>Personal</a:t>
            </a:r>
            <a:r>
              <a:rPr sz="1200" spc="25" dirty="0">
                <a:solidFill>
                  <a:srgbClr val="A5B2C5"/>
                </a:solidFill>
                <a:latin typeface="Arial MT"/>
                <a:cs typeface="Arial MT"/>
              </a:rPr>
              <a:t> </a:t>
            </a:r>
            <a:r>
              <a:rPr sz="1200" spc="-70" dirty="0">
                <a:solidFill>
                  <a:srgbClr val="A5B2C5"/>
                </a:solidFill>
                <a:latin typeface="Arial MT"/>
                <a:cs typeface="Arial MT"/>
              </a:rPr>
              <a:t>Finance</a:t>
            </a:r>
            <a:r>
              <a:rPr sz="1200" spc="20" dirty="0">
                <a:solidFill>
                  <a:srgbClr val="A5B2C5"/>
                </a:solidFill>
                <a:latin typeface="Arial MT"/>
                <a:cs typeface="Arial MT"/>
              </a:rPr>
              <a:t> </a:t>
            </a:r>
            <a:r>
              <a:rPr sz="1200" spc="-60" dirty="0">
                <a:solidFill>
                  <a:srgbClr val="A5B2C5"/>
                </a:solidFill>
                <a:latin typeface="Arial MT"/>
                <a:cs typeface="Arial MT"/>
              </a:rPr>
              <a:t>Decision</a:t>
            </a:r>
            <a:r>
              <a:rPr sz="1200" spc="25" dirty="0">
                <a:solidFill>
                  <a:srgbClr val="A5B2C5"/>
                </a:solidFill>
                <a:latin typeface="Arial MT"/>
                <a:cs typeface="Arial MT"/>
              </a:rPr>
              <a:t> </a:t>
            </a:r>
            <a:r>
              <a:rPr sz="1200" spc="-40" dirty="0">
                <a:solidFill>
                  <a:srgbClr val="A5B2C5"/>
                </a:solidFill>
                <a:latin typeface="Arial MT"/>
                <a:cs typeface="Arial MT"/>
              </a:rPr>
              <a:t>Support</a:t>
            </a:r>
            <a:r>
              <a:rPr sz="1200" spc="20" dirty="0">
                <a:solidFill>
                  <a:srgbClr val="A5B2C5"/>
                </a:solidFill>
                <a:latin typeface="Arial MT"/>
                <a:cs typeface="Arial MT"/>
              </a:rPr>
              <a:t> </a:t>
            </a:r>
            <a:r>
              <a:rPr sz="1200" spc="-10" dirty="0">
                <a:solidFill>
                  <a:srgbClr val="A5B2C5"/>
                </a:solidFill>
                <a:latin typeface="Arial MT"/>
                <a:cs typeface="Arial MT"/>
              </a:rPr>
              <a:t>Agent</a:t>
            </a:r>
            <a:endParaRPr sz="1200">
              <a:latin typeface="Arial MT"/>
              <a:cs typeface="Arial MT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1293455" y="2294890"/>
            <a:ext cx="3173095" cy="738505"/>
            <a:chOff x="1293455" y="2294890"/>
            <a:chExt cx="3173095" cy="738505"/>
          </a:xfrm>
        </p:grpSpPr>
        <p:sp>
          <p:nvSpPr>
            <p:cNvPr id="9" name="object 9"/>
            <p:cNvSpPr/>
            <p:nvPr/>
          </p:nvSpPr>
          <p:spPr>
            <a:xfrm>
              <a:off x="1295986" y="2297420"/>
              <a:ext cx="3168650" cy="733425"/>
            </a:xfrm>
            <a:custGeom>
              <a:avLst/>
              <a:gdLst/>
              <a:ahLst/>
              <a:cxnLst/>
              <a:rect l="l" t="t" r="r" b="b"/>
              <a:pathLst>
                <a:path w="3168650" h="733425">
                  <a:moveTo>
                    <a:pt x="3066814" y="0"/>
                  </a:moveTo>
                  <a:lnTo>
                    <a:pt x="101221" y="0"/>
                  </a:lnTo>
                  <a:lnTo>
                    <a:pt x="61821" y="7954"/>
                  </a:lnTo>
                  <a:lnTo>
                    <a:pt x="29646" y="29646"/>
                  </a:lnTo>
                  <a:lnTo>
                    <a:pt x="7954" y="61821"/>
                  </a:lnTo>
                  <a:lnTo>
                    <a:pt x="0" y="101221"/>
                  </a:lnTo>
                  <a:lnTo>
                    <a:pt x="0" y="631866"/>
                  </a:lnTo>
                  <a:lnTo>
                    <a:pt x="7954" y="671266"/>
                  </a:lnTo>
                  <a:lnTo>
                    <a:pt x="29646" y="703440"/>
                  </a:lnTo>
                  <a:lnTo>
                    <a:pt x="61821" y="725133"/>
                  </a:lnTo>
                  <a:lnTo>
                    <a:pt x="101221" y="733087"/>
                  </a:lnTo>
                  <a:lnTo>
                    <a:pt x="3066814" y="733087"/>
                  </a:lnTo>
                  <a:lnTo>
                    <a:pt x="3106214" y="725133"/>
                  </a:lnTo>
                  <a:lnTo>
                    <a:pt x="3138389" y="703440"/>
                  </a:lnTo>
                  <a:lnTo>
                    <a:pt x="3160081" y="671266"/>
                  </a:lnTo>
                  <a:lnTo>
                    <a:pt x="3168036" y="631866"/>
                  </a:lnTo>
                  <a:lnTo>
                    <a:pt x="3168036" y="101221"/>
                  </a:lnTo>
                  <a:lnTo>
                    <a:pt x="3160081" y="61821"/>
                  </a:lnTo>
                  <a:lnTo>
                    <a:pt x="3138389" y="29646"/>
                  </a:lnTo>
                  <a:lnTo>
                    <a:pt x="3106214" y="7954"/>
                  </a:lnTo>
                  <a:lnTo>
                    <a:pt x="3066814" y="0"/>
                  </a:lnTo>
                  <a:close/>
                </a:path>
              </a:pathLst>
            </a:custGeom>
            <a:solidFill>
              <a:srgbClr val="070E1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295986" y="2297420"/>
              <a:ext cx="3168650" cy="733425"/>
            </a:xfrm>
            <a:custGeom>
              <a:avLst/>
              <a:gdLst/>
              <a:ahLst/>
              <a:cxnLst/>
              <a:rect l="l" t="t" r="r" b="b"/>
              <a:pathLst>
                <a:path w="3168650" h="733425">
                  <a:moveTo>
                    <a:pt x="3066814" y="0"/>
                  </a:moveTo>
                  <a:lnTo>
                    <a:pt x="101221" y="0"/>
                  </a:lnTo>
                  <a:lnTo>
                    <a:pt x="61821" y="7954"/>
                  </a:lnTo>
                  <a:lnTo>
                    <a:pt x="29646" y="29646"/>
                  </a:lnTo>
                  <a:lnTo>
                    <a:pt x="7954" y="61821"/>
                  </a:lnTo>
                  <a:lnTo>
                    <a:pt x="0" y="101221"/>
                  </a:lnTo>
                  <a:lnTo>
                    <a:pt x="0" y="631866"/>
                  </a:lnTo>
                  <a:lnTo>
                    <a:pt x="7954" y="671266"/>
                  </a:lnTo>
                  <a:lnTo>
                    <a:pt x="29646" y="703440"/>
                  </a:lnTo>
                  <a:lnTo>
                    <a:pt x="61821" y="725133"/>
                  </a:lnTo>
                  <a:lnTo>
                    <a:pt x="101221" y="733087"/>
                  </a:lnTo>
                  <a:lnTo>
                    <a:pt x="3066814" y="733087"/>
                  </a:lnTo>
                  <a:lnTo>
                    <a:pt x="3106214" y="725133"/>
                  </a:lnTo>
                  <a:lnTo>
                    <a:pt x="3138389" y="703440"/>
                  </a:lnTo>
                  <a:lnTo>
                    <a:pt x="3160081" y="671266"/>
                  </a:lnTo>
                  <a:lnTo>
                    <a:pt x="3168036" y="631866"/>
                  </a:lnTo>
                  <a:lnTo>
                    <a:pt x="3168036" y="101221"/>
                  </a:lnTo>
                  <a:lnTo>
                    <a:pt x="3160081" y="61821"/>
                  </a:lnTo>
                  <a:lnTo>
                    <a:pt x="3138389" y="29646"/>
                  </a:lnTo>
                  <a:lnTo>
                    <a:pt x="3106214" y="7954"/>
                  </a:lnTo>
                  <a:lnTo>
                    <a:pt x="3066814" y="0"/>
                  </a:lnTo>
                  <a:close/>
                </a:path>
              </a:pathLst>
            </a:custGeom>
            <a:ln w="5060">
              <a:solidFill>
                <a:srgbClr val="308C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2100376" y="2391116"/>
            <a:ext cx="1559560" cy="53594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065" marR="5080" algn="ctr">
              <a:lnSpc>
                <a:spcPct val="102600"/>
              </a:lnSpc>
              <a:spcBef>
                <a:spcPts val="55"/>
              </a:spcBef>
            </a:pPr>
            <a:r>
              <a:rPr sz="1100" b="1" spc="-40" dirty="0">
                <a:solidFill>
                  <a:srgbClr val="F4F8FC"/>
                </a:solidFill>
                <a:latin typeface="Arial"/>
                <a:cs typeface="Arial"/>
              </a:rPr>
              <a:t>Understand</a:t>
            </a:r>
            <a:r>
              <a:rPr sz="1100" b="1" spc="5" dirty="0">
                <a:solidFill>
                  <a:srgbClr val="F4F8FC"/>
                </a:solidFill>
                <a:latin typeface="Arial"/>
                <a:cs typeface="Arial"/>
              </a:rPr>
              <a:t> </a:t>
            </a:r>
            <a:r>
              <a:rPr sz="1100" b="1" spc="-50" dirty="0">
                <a:solidFill>
                  <a:srgbClr val="F4F8FC"/>
                </a:solidFill>
                <a:latin typeface="Arial"/>
                <a:cs typeface="Arial"/>
              </a:rPr>
              <a:t>your</a:t>
            </a:r>
            <a:r>
              <a:rPr sz="1100" b="1" spc="10" dirty="0">
                <a:solidFill>
                  <a:srgbClr val="F4F8FC"/>
                </a:solidFill>
                <a:latin typeface="Arial"/>
                <a:cs typeface="Arial"/>
              </a:rPr>
              <a:t> </a:t>
            </a:r>
            <a:r>
              <a:rPr sz="1100" b="1" spc="-65" dirty="0">
                <a:solidFill>
                  <a:srgbClr val="F4F8FC"/>
                </a:solidFill>
                <a:latin typeface="Arial"/>
                <a:cs typeface="Arial"/>
              </a:rPr>
              <a:t>money. </a:t>
            </a:r>
            <a:r>
              <a:rPr sz="1100" b="1" spc="-45" dirty="0">
                <a:solidFill>
                  <a:srgbClr val="27D2DC"/>
                </a:solidFill>
                <a:latin typeface="Arial"/>
                <a:cs typeface="Arial"/>
              </a:rPr>
              <a:t>Explore</a:t>
            </a:r>
            <a:r>
              <a:rPr sz="1100" b="1" spc="-15" dirty="0">
                <a:solidFill>
                  <a:srgbClr val="27D2DC"/>
                </a:solidFill>
                <a:latin typeface="Arial"/>
                <a:cs typeface="Arial"/>
              </a:rPr>
              <a:t> </a:t>
            </a:r>
            <a:r>
              <a:rPr sz="1100" b="1" spc="-50" dirty="0">
                <a:solidFill>
                  <a:srgbClr val="27D2DC"/>
                </a:solidFill>
                <a:latin typeface="Arial"/>
                <a:cs typeface="Arial"/>
              </a:rPr>
              <a:t>your</a:t>
            </a:r>
            <a:r>
              <a:rPr sz="1100" b="1" spc="-10" dirty="0">
                <a:solidFill>
                  <a:srgbClr val="27D2DC"/>
                </a:solidFill>
                <a:latin typeface="Arial"/>
                <a:cs typeface="Arial"/>
              </a:rPr>
              <a:t> options. </a:t>
            </a:r>
            <a:r>
              <a:rPr sz="1100" b="1" dirty="0">
                <a:solidFill>
                  <a:srgbClr val="32CC81"/>
                </a:solidFill>
                <a:latin typeface="Arial"/>
                <a:cs typeface="Arial"/>
              </a:rPr>
              <a:t>Plan</a:t>
            </a:r>
            <a:r>
              <a:rPr sz="1100" b="1" spc="-15" dirty="0">
                <a:solidFill>
                  <a:srgbClr val="32CC81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32CC81"/>
                </a:solidFill>
                <a:latin typeface="Arial"/>
                <a:cs typeface="Arial"/>
              </a:rPr>
              <a:t>with</a:t>
            </a:r>
            <a:r>
              <a:rPr sz="1100" b="1" spc="-15" dirty="0">
                <a:solidFill>
                  <a:srgbClr val="32CC81"/>
                </a:solidFill>
                <a:latin typeface="Arial"/>
                <a:cs typeface="Arial"/>
              </a:rPr>
              <a:t> </a:t>
            </a:r>
            <a:r>
              <a:rPr sz="1100" b="1" spc="-10" dirty="0">
                <a:solidFill>
                  <a:srgbClr val="32CC81"/>
                </a:solidFill>
                <a:latin typeface="Arial"/>
                <a:cs typeface="Arial"/>
              </a:rPr>
              <a:t>confidence.</a:t>
            </a:r>
            <a:endParaRPr sz="1100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1578</Words>
  <Application>Microsoft Office PowerPoint</Application>
  <PresentationFormat>Custom</PresentationFormat>
  <Paragraphs>435</Paragraphs>
  <Slides>34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40" baseType="lpstr">
      <vt:lpstr>Arial</vt:lpstr>
      <vt:lpstr>Arial MT</vt:lpstr>
      <vt:lpstr>Calibri</vt:lpstr>
      <vt:lpstr>Cambria</vt:lpstr>
      <vt:lpstr>Lucida Sans Unicode</vt:lpstr>
      <vt:lpstr>Office Theme</vt:lpstr>
      <vt:lpstr>FinPilot</vt:lpstr>
      <vt:lpstr>The Problem</vt:lpstr>
      <vt:lpstr>From Transactions to Decisions</vt:lpstr>
      <vt:lpstr>Our Solution FinPilot</vt:lpstr>
      <vt:lpstr>Project Objectives</vt:lpstr>
      <vt:lpstr>System Architecture</vt:lpstr>
      <vt:lpstr>Data Ingestion</vt:lpstr>
      <vt:lpstr>Data Normalization</vt:lpstr>
      <vt:lpstr>Intelligent Transaction Categorization</vt:lpstr>
      <vt:lpstr>Financial Command Center</vt:lpstr>
      <vt:lpstr>Financial Analytics</vt:lpstr>
      <vt:lpstr>Transaction Intelligence</vt:lpstr>
      <vt:lpstr>Recurring Payments &amp; Subscriptions Subscription Tracker</vt:lpstr>
      <vt:lpstr>Anomaly &amp; Spending Spike Detection</vt:lpstr>
      <vt:lpstr>Budget Tracking</vt:lpstr>
      <vt:lpstr>Financial Goal Planning</vt:lpstr>
      <vt:lpstr>What-If Goal Simulator</vt:lpstr>
      <vt:lpstr>PowerPoint Presentation</vt:lpstr>
      <vt:lpstr>Interactive Financial Simulation</vt:lpstr>
      <vt:lpstr>FinPilot AI CFO</vt:lpstr>
      <vt:lpstr>Natural-Language Query Pipeline</vt:lpstr>
      <vt:lpstr>Monthly Financial Brief</vt:lpstr>
      <vt:lpstr>Committed Spending &amp; Safe-to-Spend</vt:lpstr>
      <vt:lpstr>Privacy &amp; Decision-Support Boundary</vt:lpstr>
      <vt:lpstr>Technology Stack</vt:lpstr>
      <vt:lpstr>What We Actually Built</vt:lpstr>
      <vt:lpstr>End-to-End Workflow</vt:lpstr>
      <vt:lpstr>Live Demonstration Flow</vt:lpstr>
      <vt:lpstr>What Makes FinPilot Different?</vt:lpstr>
      <vt:lpstr>Current Limitations</vt:lpstr>
      <vt:lpstr>Future Scope</vt:lpstr>
      <vt:lpstr>The Bigger Picture</vt:lpstr>
      <vt:lpstr>Team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Kotapalli Narendra</cp:lastModifiedBy>
  <cp:revision>1</cp:revision>
  <dcterms:created xsi:type="dcterms:W3CDTF">2026-09-20T12:25:27Z</dcterms:created>
  <dcterms:modified xsi:type="dcterms:W3CDTF">2026-09-20T12:26:25Z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2026-09-20T00:00:00Z</vt:filetime>
  </property>
  <property fmtid="{D5CDD505-2E9C-101B-9397-08002B2CF9AE}" pid="4" name="Creator">
    <vt:lpwstr>LaTeX with Beamer class</vt:lpwstr>
  </property>
  <property fmtid="{D5CDD505-2E9C-101B-9397-08002B2CF9AE}" pid="5" name="LastSaved">
    <vt:filetime>2026-09-20T00:00:00Z</vt:filetime>
  </property>
  <property fmtid="{D5CDD505-2E9C-101B-9397-08002B2CF9AE}" pid="6" name="PTEX.Fullbanner">
    <vt:lpwstr>This is pdfTeX, Version 3.141592653-2.6-1.40.29 (TeX Live 2026) kpathsea version 6.4.2</vt:lpwstr>
  </property>
  <property fmtid="{D5CDD505-2E9C-101B-9397-08002B2CF9AE}" pid="7" name="Producer">
    <vt:lpwstr>pdfTeX-1.40.29</vt:lpwstr>
  </property>
</Properties>
</file>